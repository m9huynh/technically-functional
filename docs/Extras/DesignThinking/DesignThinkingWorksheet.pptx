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8" r:id="rId3"/>
    <p:sldId id="338" r:id="rId4"/>
    <p:sldId id="337" r:id="rId5"/>
    <p:sldId id="335" r:id="rId6"/>
    <p:sldId id="355" r:id="rId7"/>
    <p:sldId id="264" r:id="rId8"/>
    <p:sldId id="352" r:id="rId9"/>
    <p:sldId id="265" r:id="rId10"/>
    <p:sldId id="266" r:id="rId11"/>
    <p:sldId id="267" r:id="rId12"/>
    <p:sldId id="330" r:id="rId13"/>
    <p:sldId id="268" r:id="rId14"/>
    <p:sldId id="269" r:id="rId15"/>
    <p:sldId id="356" r:id="rId16"/>
    <p:sldId id="275" r:id="rId17"/>
    <p:sldId id="276" r:id="rId18"/>
    <p:sldId id="278" r:id="rId19"/>
    <p:sldId id="279" r:id="rId20"/>
    <p:sldId id="282" r:id="rId21"/>
    <p:sldId id="283" r:id="rId22"/>
    <p:sldId id="284" r:id="rId23"/>
    <p:sldId id="285" r:id="rId24"/>
    <p:sldId id="287" r:id="rId25"/>
    <p:sldId id="288" r:id="rId26"/>
    <p:sldId id="359" r:id="rId27"/>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8"/>
    <p:restoredTop sz="92446" autoAdjust="0"/>
  </p:normalViewPr>
  <p:slideViewPr>
    <p:cSldViewPr snapToGrid="0">
      <p:cViewPr varScale="1">
        <p:scale>
          <a:sx n="136" d="100"/>
          <a:sy n="136" d="100"/>
        </p:scale>
        <p:origin x="88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6" name="Shape 136"/>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7" name="Shape 13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298450" indent="-298450" latinLnBrk="0">
      <a:defRPr sz="1400">
        <a:latin typeface="+mn-lt"/>
        <a:ea typeface="+mn-ea"/>
        <a:cs typeface="+mn-cs"/>
        <a:sym typeface="Arial"/>
      </a:defRPr>
    </a:lvl1pPr>
    <a:lvl2pPr marL="298450" indent="-69850" latinLnBrk="0">
      <a:defRPr sz="1400">
        <a:latin typeface="+mn-lt"/>
        <a:ea typeface="+mn-ea"/>
        <a:cs typeface="+mn-cs"/>
        <a:sym typeface="Arial"/>
      </a:defRPr>
    </a:lvl2pPr>
    <a:lvl3pPr marL="298450" indent="158750" latinLnBrk="0">
      <a:defRPr sz="1400">
        <a:latin typeface="+mn-lt"/>
        <a:ea typeface="+mn-ea"/>
        <a:cs typeface="+mn-cs"/>
        <a:sym typeface="Arial"/>
      </a:defRPr>
    </a:lvl3pPr>
    <a:lvl4pPr marL="298450" indent="387350" latinLnBrk="0">
      <a:defRPr sz="1400">
        <a:latin typeface="+mn-lt"/>
        <a:ea typeface="+mn-ea"/>
        <a:cs typeface="+mn-cs"/>
        <a:sym typeface="Arial"/>
      </a:defRPr>
    </a:lvl4pPr>
    <a:lvl5pPr marL="298450" indent="615950" latinLnBrk="0">
      <a:defRPr sz="1400">
        <a:latin typeface="+mn-lt"/>
        <a:ea typeface="+mn-ea"/>
        <a:cs typeface="+mn-cs"/>
        <a:sym typeface="Arial"/>
      </a:defRPr>
    </a:lvl5pPr>
    <a:lvl6pPr marL="298450" indent="844550" latinLnBrk="0">
      <a:defRPr sz="1400">
        <a:latin typeface="+mn-lt"/>
        <a:ea typeface="+mn-ea"/>
        <a:cs typeface="+mn-cs"/>
        <a:sym typeface="Arial"/>
      </a:defRPr>
    </a:lvl6pPr>
    <a:lvl7pPr marL="298450" indent="1073150" latinLnBrk="0">
      <a:defRPr sz="1400">
        <a:latin typeface="+mn-lt"/>
        <a:ea typeface="+mn-ea"/>
        <a:cs typeface="+mn-cs"/>
        <a:sym typeface="Arial"/>
      </a:defRPr>
    </a:lvl7pPr>
    <a:lvl8pPr marL="298450" indent="1301750" latinLnBrk="0">
      <a:defRPr sz="1400">
        <a:latin typeface="+mn-lt"/>
        <a:ea typeface="+mn-ea"/>
        <a:cs typeface="+mn-cs"/>
        <a:sym typeface="Arial"/>
      </a:defRPr>
    </a:lvl8pPr>
    <a:lvl9pPr marL="298450" indent="153035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acoutreach.rocks/DT.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hape 146"/>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47" name="Shape 147"/>
          <p:cNvSpPr>
            <a:spLocks noGrp="1"/>
          </p:cNvSpPr>
          <p:nvPr>
            <p:ph type="body" sz="quarter" idx="1"/>
          </p:nvPr>
        </p:nvSpPr>
        <p:spPr>
          <a:prstGeom prst="rect">
            <a:avLst/>
          </a:prstGeom>
        </p:spPr>
        <p:txBody>
          <a:bodyPr/>
          <a:lstStyle>
            <a:lvl1pPr marL="0" indent="0">
              <a:defRPr sz="1200" b="1" u="sng">
                <a:solidFill>
                  <a:srgbClr val="0097A7"/>
                </a:solidFill>
                <a:uFill>
                  <a:solidFill>
                    <a:srgbClr val="0097A7"/>
                  </a:solidFill>
                </a:uFill>
                <a:latin typeface="+mj-lt"/>
                <a:ea typeface="+mj-ea"/>
                <a:cs typeface="+mj-cs"/>
                <a:sym typeface="Helvetica"/>
                <a:hlinkClick r:id="rId3"/>
              </a:defRPr>
            </a:lvl1pPr>
          </a:lstStyle>
          <a:p>
            <a:pPr>
              <a:defRPr>
                <a:solidFill>
                  <a:srgbClr val="2200CC"/>
                </a:solidFill>
                <a:uFillTx/>
              </a:defRPr>
            </a:pPr>
            <a:r>
              <a:rPr dirty="0">
                <a:solidFill>
                  <a:srgbClr val="0097A7"/>
                </a:solidFill>
                <a:uFill>
                  <a:solidFill>
                    <a:srgbClr val="0097A7"/>
                  </a:solidFill>
                </a:uFill>
                <a:hlinkClick r:id="rId3"/>
              </a:rPr>
              <a:t>https://macoutreach.rocks/DT.html</a:t>
            </a:r>
            <a:endParaRPr sz="11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77" name="Shape 177"/>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extLst>
      <p:ext uri="{BB962C8B-B14F-4D97-AF65-F5344CB8AC3E}">
        <p14:creationId xmlns:p14="http://schemas.microsoft.com/office/powerpoint/2010/main" val="3677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77" name="Shape 177"/>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extLst>
      <p:ext uri="{BB962C8B-B14F-4D97-AF65-F5344CB8AC3E}">
        <p14:creationId xmlns:p14="http://schemas.microsoft.com/office/powerpoint/2010/main" val="3137051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77" name="Shape 177"/>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extLst>
      <p:ext uri="{BB962C8B-B14F-4D97-AF65-F5344CB8AC3E}">
        <p14:creationId xmlns:p14="http://schemas.microsoft.com/office/powerpoint/2010/main" val="106833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77" name="Shape 177"/>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extLst>
      <p:ext uri="{BB962C8B-B14F-4D97-AF65-F5344CB8AC3E}">
        <p14:creationId xmlns:p14="http://schemas.microsoft.com/office/powerpoint/2010/main" val="967065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Shape 182"/>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83" name="Shape 183"/>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11" name="Shape 211"/>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11" name="Shape 211"/>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extLst>
      <p:ext uri="{BB962C8B-B14F-4D97-AF65-F5344CB8AC3E}">
        <p14:creationId xmlns:p14="http://schemas.microsoft.com/office/powerpoint/2010/main" val="592361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a:extLst>
            <a:ext uri="{FF2B5EF4-FFF2-40B4-BE49-F238E27FC236}">
              <a16:creationId xmlns:a16="http://schemas.microsoft.com/office/drawing/2014/main" id="{DE55E3C6-E53B-FF37-1AA7-A65902FA6865}"/>
            </a:ext>
          </a:extLst>
        </p:cNvPr>
        <p:cNvGrpSpPr/>
        <p:nvPr/>
      </p:nvGrpSpPr>
      <p:grpSpPr>
        <a:xfrm>
          <a:off x="0" y="0"/>
          <a:ext cx="0" cy="0"/>
          <a:chOff x="0" y="0"/>
          <a:chExt cx="0" cy="0"/>
        </a:xfrm>
      </p:grpSpPr>
      <p:sp>
        <p:nvSpPr>
          <p:cNvPr id="410" name="Google Shape;410;p19:notes">
            <a:extLst>
              <a:ext uri="{FF2B5EF4-FFF2-40B4-BE49-F238E27FC236}">
                <a16:creationId xmlns:a16="http://schemas.microsoft.com/office/drawing/2014/main" id="{AD59E9EC-162B-70DF-B429-EB27225A49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19:notes">
            <a:extLst>
              <a:ext uri="{FF2B5EF4-FFF2-40B4-BE49-F238E27FC236}">
                <a16:creationId xmlns:a16="http://schemas.microsoft.com/office/drawing/2014/main" id="{4084F262-37CF-AB27-5388-2AA8E71249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Game Examples: Puzzle game, Cooking game, Card game</a:t>
            </a:r>
            <a:endParaRPr dirty="0"/>
          </a:p>
        </p:txBody>
      </p:sp>
      <p:sp>
        <p:nvSpPr>
          <p:cNvPr id="412" name="Google Shape;412;p19:notes">
            <a:extLst>
              <a:ext uri="{FF2B5EF4-FFF2-40B4-BE49-F238E27FC236}">
                <a16:creationId xmlns:a16="http://schemas.microsoft.com/office/drawing/2014/main" id="{EDDDFF46-9CE1-2A4E-74A9-89D3C3D91BB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dirty="0"/>
          </a:p>
        </p:txBody>
      </p:sp>
    </p:spTree>
    <p:extLst>
      <p:ext uri="{BB962C8B-B14F-4D97-AF65-F5344CB8AC3E}">
        <p14:creationId xmlns:p14="http://schemas.microsoft.com/office/powerpoint/2010/main" val="3640531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Shape 357"/>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358" name="Shape 358"/>
          <p:cNvSpPr>
            <a:spLocks noGrp="1"/>
          </p:cNvSpPr>
          <p:nvPr>
            <p:ph type="body" sz="quarter" idx="1"/>
          </p:nvPr>
        </p:nvSpPr>
        <p:spPr>
          <a:prstGeom prst="rect">
            <a:avLst/>
          </a:prstGeom>
        </p:spPr>
        <p:txBody>
          <a:bodyPr/>
          <a:lstStyle/>
          <a:p>
            <a:pPr marL="0" indent="0">
              <a:defRPr sz="1100"/>
            </a:pPr>
            <a:r>
              <a:rPr dirty="0"/>
              <a:t>Estimated Time: </a:t>
            </a:r>
          </a:p>
          <a:p>
            <a:pPr marL="0" indent="0">
              <a:defRPr sz="1100"/>
            </a:pPr>
            <a:r>
              <a:rPr dirty="0"/>
              <a:t>Details: This is the stage where you are tackling the first diamond: figuring out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488153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Shape 513"/>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514" name="Shape 514"/>
          <p:cNvSpPr>
            <a:spLocks noGrp="1"/>
          </p:cNvSpPr>
          <p:nvPr>
            <p:ph type="body" sz="quarter" idx="1"/>
          </p:nvPr>
        </p:nvSpPr>
        <p:spPr>
          <a:prstGeom prst="rect">
            <a:avLst/>
          </a:prstGeom>
        </p:spPr>
        <p:txBody>
          <a:bodyPr/>
          <a:lstStyle>
            <a:lvl1pPr marL="457200">
              <a:buClr>
                <a:srgbClr val="000000"/>
              </a:buClr>
              <a:buSzPts val="1100"/>
              <a:buFont typeface="Arial"/>
              <a:buChar char="●"/>
              <a:defRPr sz="1100"/>
            </a:lvl1pPr>
          </a:lstStyle>
          <a:p>
            <a:r>
              <a:rPr dirty="0"/>
              <a:t>New pros and cons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37"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44"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51"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52"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53"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0"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61"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62"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85"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92"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93"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01"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102"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111"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120"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21"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28" name="Title Text"/>
          <p:cNvSpPr txBox="1">
            <a:spLocks noGrp="1"/>
          </p:cNvSpPr>
          <p:nvPr>
            <p:ph type="title"/>
          </p:nvPr>
        </p:nvSpPr>
        <p:spPr>
          <a:xfrm>
            <a:off x="669925" y="133350"/>
            <a:ext cx="7804150" cy="1139825"/>
          </a:xfrm>
          <a:prstGeom prst="rect">
            <a:avLst/>
          </a:prstGeom>
        </p:spPr>
        <p:txBody>
          <a:bodyPr lIns="32749" tIns="32749" rIns="32749" bIns="32749" anchor="ctr">
            <a:normAutofit/>
          </a:bodyPr>
          <a:lstStyle>
            <a:lvl1pPr>
              <a:defRPr b="1">
                <a:latin typeface="+mj-lt"/>
                <a:ea typeface="+mj-ea"/>
                <a:cs typeface="+mj-cs"/>
                <a:sym typeface="Helvetica"/>
              </a:defRPr>
            </a:lvl1pPr>
          </a:lstStyle>
          <a:p>
            <a:r>
              <a:t>Title Text</a:t>
            </a:r>
          </a:p>
        </p:txBody>
      </p:sp>
      <p:sp>
        <p:nvSpPr>
          <p:cNvPr id="129" name="Body Level One…"/>
          <p:cNvSpPr txBox="1">
            <a:spLocks noGrp="1"/>
          </p:cNvSpPr>
          <p:nvPr>
            <p:ph type="body" idx="1"/>
          </p:nvPr>
        </p:nvSpPr>
        <p:spPr>
          <a:xfrm>
            <a:off x="669925" y="1366837"/>
            <a:ext cx="7804150" cy="3314701"/>
          </a:xfrm>
          <a:prstGeom prst="rect">
            <a:avLst/>
          </a:prstGeom>
        </p:spPr>
        <p:txBody>
          <a:bodyPr lIns="32749" tIns="32749" rIns="32749" bIns="32749" anchor="ctr">
            <a:normAutofit/>
          </a:bodyPr>
          <a:lstStyle>
            <a:lvl1pPr>
              <a:defRPr b="1">
                <a:latin typeface="+mj-lt"/>
                <a:ea typeface="+mj-ea"/>
                <a:cs typeface="+mj-cs"/>
                <a:sym typeface="Helvetica"/>
              </a:defRPr>
            </a:lvl1pPr>
            <a:lvl2pPr>
              <a:defRPr b="1">
                <a:latin typeface="+mj-lt"/>
                <a:ea typeface="+mj-ea"/>
                <a:cs typeface="+mj-cs"/>
                <a:sym typeface="Helvetica"/>
              </a:defRPr>
            </a:lvl2pPr>
            <a:lvl3pPr>
              <a:defRPr b="1">
                <a:latin typeface="+mj-lt"/>
                <a:ea typeface="+mj-ea"/>
                <a:cs typeface="+mj-cs"/>
                <a:sym typeface="Helvetica"/>
              </a:defRPr>
            </a:lvl3pPr>
            <a:lvl4pPr>
              <a:defRPr b="1">
                <a:latin typeface="+mj-lt"/>
                <a:ea typeface="+mj-ea"/>
                <a:cs typeface="+mj-cs"/>
                <a:sym typeface="Helvetica"/>
              </a:defRPr>
            </a:lvl4pPr>
            <a:lvl5pPr>
              <a:defRPr b="1">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xfrm>
            <a:off x="4459906" y="4902200"/>
            <a:ext cx="219425" cy="217900"/>
          </a:xfrm>
          <a:prstGeom prst="rect">
            <a:avLst/>
          </a:prstGeom>
        </p:spPr>
        <p:txBody>
          <a:bodyPr lIns="32749" tIns="32749" rIns="32749" bIns="32749" anchor="t"/>
          <a:lstStyle>
            <a:lvl1pPr algn="ctr">
              <a:defRPr>
                <a:solidFill>
                  <a:srgbClr val="000000"/>
                </a:solidFill>
                <a:latin typeface="Helvetica Light"/>
                <a:ea typeface="Helvetica Light"/>
                <a:cs typeface="Helvetica Light"/>
                <a:sym typeface="Helvetica Light"/>
              </a:defRPr>
            </a:lvl1pPr>
          </a:lstStyle>
          <a:p>
            <a:fld id="{86CB4B4D-7CA3-9044-876B-883B54F8677D}" type="slidenum">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g29ef0325334_3_307"/>
          <p:cNvSpPr txBox="1">
            <a:spLocks noGrp="1"/>
          </p:cNvSpPr>
          <p:nvPr>
            <p:ph type="sldNum" idx="12"/>
          </p:nvPr>
        </p:nvSpPr>
        <p:spPr>
          <a:xfrm>
            <a:off x="8472458" y="4663217"/>
            <a:ext cx="548700" cy="393600"/>
          </a:xfrm>
          <a:prstGeom prst="rect">
            <a:avLst/>
          </a:prstGeom>
        </p:spPr>
        <p:txBody>
          <a:bodyPr spcFirstLastPara="1" wrap="square" lIns="182850" tIns="182850" rIns="182850" bIns="18285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2800537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05978"/>
            <a:ext cx="8229600" cy="9941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949" y="4700139"/>
            <a:ext cx="336814" cy="318397"/>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8" r:id="rId6"/>
    <p:sldLayoutId id="2147483659" r:id="rId7"/>
    <p:sldLayoutId id="2147483660" r:id="rId8"/>
    <p:sldLayoutId id="2147483661" r:id="rId9"/>
    <p:sldLayoutId id="2147483662" r:id="rId10"/>
    <p:sldLayoutId id="2147483663" r:id="rId11"/>
    <p:sldLayoutId id="2147483664" r:id="rId12"/>
  </p:sldLayoutIdLst>
  <p:transition spd="med"/>
  <p:txStyles>
    <p:title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9pPr>
    </p:titleStyle>
    <p:body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DT Slide Worksheets"/>
          <p:cNvSpPr txBox="1">
            <a:spLocks noGrp="1"/>
          </p:cNvSpPr>
          <p:nvPr>
            <p:ph type="ctrTitle" idx="4294967295"/>
          </p:nvPr>
        </p:nvSpPr>
        <p:spPr>
          <a:xfrm>
            <a:off x="311150" y="1398106"/>
            <a:ext cx="8521700" cy="771526"/>
          </a:xfrm>
          <a:prstGeom prst="rect">
            <a:avLst/>
          </a:prstGeom>
        </p:spPr>
        <p:txBody>
          <a:bodyPr anchor="b">
            <a:normAutofit fontScale="90000"/>
          </a:bodyPr>
          <a:lstStyle>
            <a:lvl1pPr algn="ctr">
              <a:defRPr sz="3900">
                <a:solidFill>
                  <a:srgbClr val="3D3C40"/>
                </a:solidFill>
              </a:defRPr>
            </a:lvl1pPr>
          </a:lstStyle>
          <a:p>
            <a:r>
              <a:rPr dirty="0"/>
              <a:t>DT Slide Worksheets</a:t>
            </a:r>
          </a:p>
        </p:txBody>
      </p:sp>
      <p:sp>
        <p:nvSpPr>
          <p:cNvPr id="140" name="Winter 2023…"/>
          <p:cNvSpPr txBox="1">
            <a:spLocks noGrp="1"/>
          </p:cNvSpPr>
          <p:nvPr>
            <p:ph type="subTitle" sz="half" idx="4294967295"/>
          </p:nvPr>
        </p:nvSpPr>
        <p:spPr>
          <a:xfrm>
            <a:off x="311150" y="2250593"/>
            <a:ext cx="8521700" cy="1190627"/>
          </a:xfrm>
          <a:prstGeom prst="rect">
            <a:avLst/>
          </a:prstGeom>
        </p:spPr>
        <p:txBody>
          <a:bodyPr>
            <a:normAutofit lnSpcReduction="10000"/>
          </a:bodyPr>
          <a:lstStyle/>
          <a:p>
            <a:pPr algn="ctr">
              <a:defRPr sz="2800">
                <a:solidFill>
                  <a:schemeClr val="accent2">
                    <a:lumOff val="21764"/>
                  </a:schemeClr>
                </a:solidFill>
              </a:defRPr>
            </a:pPr>
            <a:r>
              <a:rPr lang="en-US" dirty="0"/>
              <a:t>Fall</a:t>
            </a:r>
            <a:r>
              <a:rPr dirty="0"/>
              <a:t> 202</a:t>
            </a:r>
            <a:r>
              <a:rPr lang="en-CA" dirty="0"/>
              <a:t>5 / Winter 2026</a:t>
            </a:r>
            <a:r>
              <a:rPr dirty="0"/>
              <a:t> </a:t>
            </a:r>
            <a:endParaRPr sz="2100" dirty="0"/>
          </a:p>
          <a:p>
            <a:pPr algn="ctr">
              <a:defRPr sz="2100">
                <a:solidFill>
                  <a:schemeClr val="accent2">
                    <a:lumOff val="21764"/>
                  </a:schemeClr>
                </a:solidFill>
              </a:defRPr>
            </a:pPr>
            <a:r>
              <a:rPr lang="en-US" dirty="0"/>
              <a:t>technically functional</a:t>
            </a:r>
            <a:endParaRPr lang="en-CA" dirty="0"/>
          </a:p>
          <a:p>
            <a:pPr algn="ctr">
              <a:defRPr sz="2100">
                <a:solidFill>
                  <a:schemeClr val="accent2">
                    <a:lumOff val="21764"/>
                  </a:schemeClr>
                </a:solidFill>
              </a:defRPr>
            </a:pPr>
            <a:r>
              <a:rPr lang="en-US" dirty="0"/>
              <a:t>SE 4G06</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image.png" descr="image.png"/>
          <p:cNvPicPr>
            <a:picLocks noChangeAspect="1"/>
          </p:cNvPicPr>
          <p:nvPr/>
        </p:nvPicPr>
        <p:blipFill>
          <a:blip r:embed="rId3"/>
          <a:stretch>
            <a:fillRect/>
          </a:stretch>
        </p:blipFill>
        <p:spPr>
          <a:xfrm>
            <a:off x="1520825" y="152400"/>
            <a:ext cx="6102350" cy="4838700"/>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Our Focus"/>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CA" dirty="0"/>
              <a:t>Prepare for Interview</a:t>
            </a:r>
            <a:endParaRPr dirty="0"/>
          </a:p>
        </p:txBody>
      </p:sp>
      <p:sp>
        <p:nvSpPr>
          <p:cNvPr id="174" name="Target users:…"/>
          <p:cNvSpPr txBox="1">
            <a:spLocks noGrp="1"/>
          </p:cNvSpPr>
          <p:nvPr>
            <p:ph type="body" idx="4294967295"/>
          </p:nvPr>
        </p:nvSpPr>
        <p:spPr>
          <a:xfrm>
            <a:off x="669925" y="1129235"/>
            <a:ext cx="8116888" cy="3732213"/>
          </a:xfrm>
          <a:prstGeom prst="rect">
            <a:avLst/>
          </a:prstGeom>
        </p:spPr>
        <p:txBody>
          <a:bodyPr lIns="32749" tIns="32749" rIns="32749" bIns="32749">
            <a:noAutofit/>
          </a:bodyPr>
          <a:lstStyle/>
          <a:p>
            <a:pPr marL="800100" indent="-342900">
              <a:lnSpc>
                <a:spcPct val="120000"/>
              </a:lnSpc>
              <a:buClr>
                <a:srgbClr val="000000"/>
              </a:buClr>
              <a:buSzPts val="1400"/>
              <a:buAutoNum type="arabicPeriod"/>
              <a:defRPr b="1">
                <a:latin typeface="+mj-lt"/>
                <a:ea typeface="+mj-ea"/>
                <a:cs typeface="+mj-cs"/>
                <a:sym typeface="Helvetica"/>
              </a:defRPr>
            </a:pPr>
            <a:endParaRPr sz="1200" dirty="0"/>
          </a:p>
          <a:p>
            <a:pPr>
              <a:lnSpc>
                <a:spcPct val="120000"/>
              </a:lnSpc>
              <a:buClr>
                <a:srgbClr val="000000"/>
              </a:buClr>
              <a:buSzPts val="1400"/>
              <a:defRPr b="1">
                <a:latin typeface="+mj-lt"/>
                <a:ea typeface="+mj-ea"/>
                <a:cs typeface="+mj-cs"/>
                <a:sym typeface="Helvetica"/>
              </a:defRPr>
            </a:pPr>
            <a:r>
              <a:rPr lang="en-CA" sz="1200" dirty="0"/>
              <a:t>Find two to three potential users for your app. These can be your peers if applicable, or your supervisor(s).</a:t>
            </a:r>
          </a:p>
          <a:p>
            <a:pPr>
              <a:lnSpc>
                <a:spcPct val="120000"/>
              </a:lnSpc>
              <a:buClr>
                <a:srgbClr val="000000"/>
              </a:buClr>
              <a:buSzPts val="1400"/>
              <a:defRPr b="1">
                <a:latin typeface="+mj-lt"/>
                <a:ea typeface="+mj-ea"/>
                <a:cs typeface="+mj-cs"/>
                <a:sym typeface="Helvetica"/>
              </a:defRPr>
            </a:pPr>
            <a:r>
              <a:rPr lang="en-CA" sz="1200" dirty="0"/>
              <a:t>Goals:</a:t>
            </a:r>
          </a:p>
          <a:p>
            <a:pPr marL="457200">
              <a:lnSpc>
                <a:spcPct val="120000"/>
              </a:lnSpc>
              <a:buClr>
                <a:srgbClr val="000000"/>
              </a:buClr>
              <a:buSzPts val="1400"/>
              <a:defRPr b="1">
                <a:latin typeface="+mj-lt"/>
                <a:ea typeface="+mj-ea"/>
                <a:cs typeface="+mj-cs"/>
                <a:sym typeface="Helvetica"/>
              </a:defRPr>
            </a:pPr>
            <a:r>
              <a:rPr lang="en-CA" sz="1200" dirty="0"/>
              <a:t>Understand the problem: what is the current day-to-day solution used by the user? What problems do they have?</a:t>
            </a:r>
            <a:endParaRPr lang="en-CA" sz="1200" dirty="0">
              <a:latin typeface="+mj-lt"/>
            </a:endParaRPr>
          </a:p>
          <a:p>
            <a:pPr marL="457200">
              <a:lnSpc>
                <a:spcPct val="120000"/>
              </a:lnSpc>
              <a:buClr>
                <a:srgbClr val="000000"/>
              </a:buClr>
              <a:buSzPts val="1400"/>
              <a:defRPr b="1">
                <a:latin typeface="+mj-lt"/>
                <a:ea typeface="+mj-ea"/>
                <a:cs typeface="+mj-cs"/>
                <a:sym typeface="Helvetica"/>
              </a:defRPr>
            </a:pPr>
            <a:r>
              <a:rPr lang="en-CA" sz="1200" dirty="0">
                <a:latin typeface="+mj-lt"/>
              </a:rPr>
              <a:t>	</a:t>
            </a:r>
            <a:r>
              <a:rPr lang="en-CA" sz="1000" dirty="0">
                <a:latin typeface="Helvetica Light"/>
              </a:rPr>
              <a:t>Currently users perform their exercises unmonitored with limited guidance since their previous physiotherapist appointment. Alternative solutions exist such as exercise libraries which show exercise demonstrations as well as text instructions on how to perform these exercises. There are exercise platforms that allows users to track exercises they enter manually, some even allow for custom exercise entry. Problems exist with feedback, or lack thereof, and interconnection with a patient’s physiotherapist which mainly occurs through email, text, or some other generally informal route.</a:t>
            </a:r>
          </a:p>
          <a:p>
            <a:pPr marL="457200">
              <a:lnSpc>
                <a:spcPct val="120000"/>
              </a:lnSpc>
              <a:buClr>
                <a:srgbClr val="000000"/>
              </a:buClr>
              <a:buSzPts val="1400"/>
              <a:defRPr b="1">
                <a:latin typeface="+mj-lt"/>
                <a:ea typeface="+mj-ea"/>
                <a:cs typeface="+mj-cs"/>
                <a:sym typeface="Helvetica"/>
              </a:defRPr>
            </a:pPr>
            <a:endParaRPr lang="en-CA" sz="1200" dirty="0">
              <a:latin typeface="Helvetica Light"/>
            </a:endParaRPr>
          </a:p>
          <a:p>
            <a:pPr marL="457200" lvl="1">
              <a:lnSpc>
                <a:spcPct val="120000"/>
              </a:lnSpc>
              <a:buClr>
                <a:srgbClr val="000000"/>
              </a:buClr>
              <a:buSzPts val="1400"/>
              <a:defRPr b="1">
                <a:latin typeface="+mj-lt"/>
                <a:ea typeface="+mj-ea"/>
                <a:cs typeface="+mj-cs"/>
                <a:sym typeface="Helvetica"/>
              </a:defRPr>
            </a:pPr>
            <a:r>
              <a:rPr lang="en-CA" sz="1200" dirty="0"/>
              <a:t>Determine what value you can add to their current processes, without interfering with them (this will probably not be perfect in the first prototype!)</a:t>
            </a:r>
          </a:p>
          <a:p>
            <a:pPr marL="457200">
              <a:lnSpc>
                <a:spcPct val="120000"/>
              </a:lnSpc>
              <a:buClr>
                <a:srgbClr val="000000"/>
              </a:buClr>
              <a:buSzPts val="1400"/>
              <a:defRPr b="1">
                <a:latin typeface="+mj-lt"/>
                <a:ea typeface="+mj-ea"/>
                <a:cs typeface="+mj-cs"/>
                <a:sym typeface="Helvetica"/>
              </a:defRPr>
            </a:pPr>
            <a:r>
              <a:rPr lang="en-CA" sz="1000" dirty="0">
                <a:latin typeface="Helvetica Light"/>
              </a:rPr>
              <a:t>	Working on those problem points, a system that can both monitor and provide feedback on patient exercises as well as facilitate communication about prescribed exercises could fix both problems while providing the conveniences of other solutions. A system that held the information for exercises, like an exercise library, provided instructions on exercises/workouts, recorded and recognized exercise progress, and allowed for communication between patients and physiotherapists could increase convenience and maintainability of exercise routines at home.</a:t>
            </a:r>
          </a:p>
          <a:p>
            <a:pPr marL="457200">
              <a:lnSpc>
                <a:spcPct val="120000"/>
              </a:lnSpc>
              <a:buClr>
                <a:srgbClr val="000000"/>
              </a:buClr>
              <a:buSzPts val="1400"/>
              <a:defRPr b="1">
                <a:latin typeface="+mj-lt"/>
                <a:ea typeface="+mj-ea"/>
                <a:cs typeface="+mj-cs"/>
                <a:sym typeface="Helvetica"/>
              </a:defRPr>
            </a:pPr>
            <a:endParaRPr lang="en-CA" sz="1200" dirty="0"/>
          </a:p>
        </p:txBody>
      </p:sp>
      <p:pic>
        <p:nvPicPr>
          <p:cNvPr id="175"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extLst>
      <p:ext uri="{BB962C8B-B14F-4D97-AF65-F5344CB8AC3E}">
        <p14:creationId xmlns:p14="http://schemas.microsoft.com/office/powerpoint/2010/main" val="58742982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Our Focus"/>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CA" dirty="0"/>
              <a:t>Understand Our User</a:t>
            </a:r>
            <a:endParaRPr dirty="0"/>
          </a:p>
        </p:txBody>
      </p:sp>
      <p:sp>
        <p:nvSpPr>
          <p:cNvPr id="174" name="Target users:…"/>
          <p:cNvSpPr txBox="1">
            <a:spLocks noGrp="1"/>
          </p:cNvSpPr>
          <p:nvPr>
            <p:ph type="body" idx="4294967295"/>
          </p:nvPr>
        </p:nvSpPr>
        <p:spPr>
          <a:xfrm>
            <a:off x="669925" y="1144745"/>
            <a:ext cx="8116888" cy="3809392"/>
          </a:xfrm>
          <a:prstGeom prst="rect">
            <a:avLst/>
          </a:prstGeom>
        </p:spPr>
        <p:txBody>
          <a:bodyPr lIns="32749" tIns="32749" rIns="32749" bIns="32749">
            <a:normAutofit lnSpcReduction="10000"/>
          </a:bodyPr>
          <a:lstStyle/>
          <a:p>
            <a:pPr>
              <a:buClr>
                <a:srgbClr val="000000"/>
              </a:buClr>
              <a:buSzPts val="1400"/>
              <a:defRPr b="1">
                <a:latin typeface="+mj-lt"/>
                <a:ea typeface="+mj-ea"/>
                <a:cs typeface="+mj-cs"/>
                <a:sym typeface="Helvetica"/>
              </a:defRPr>
            </a:pPr>
            <a:r>
              <a:rPr lang="en-US" dirty="0"/>
              <a:t>Before the interview, research the problem domain. E.g. you wouldn’t want to go into an interview about accounting software if you know nothing about accounting. Come up with some answers to questions like:</a:t>
            </a:r>
          </a:p>
          <a:p>
            <a:pPr marL="296100">
              <a:buClr>
                <a:srgbClr val="000000"/>
              </a:buClr>
              <a:buSzPts val="1400"/>
              <a:buFont typeface="+mj-lt"/>
              <a:buAutoNum type="arabicPeriod"/>
              <a:defRPr b="1">
                <a:latin typeface="+mj-lt"/>
                <a:ea typeface="+mj-ea"/>
                <a:cs typeface="+mj-cs"/>
                <a:sym typeface="Helvetica"/>
              </a:defRPr>
            </a:pPr>
            <a:r>
              <a:rPr lang="en-US" dirty="0"/>
              <a:t> What are the usual practices in this area of domain expertise?</a:t>
            </a:r>
          </a:p>
          <a:p>
            <a:pPr marL="296100" lvl="1">
              <a:buClr>
                <a:srgbClr val="000000"/>
              </a:buClr>
              <a:buSzPts val="1400"/>
              <a:defRPr b="1">
                <a:latin typeface="+mj-lt"/>
                <a:ea typeface="+mj-ea"/>
                <a:cs typeface="+mj-cs"/>
                <a:sym typeface="Helvetica"/>
              </a:defRPr>
            </a:pPr>
            <a:r>
              <a:rPr lang="en-US" sz="1000" dirty="0">
                <a:latin typeface="Helvetica Light"/>
              </a:rPr>
              <a:t>	Physiotherapy patients are given exercises to perform after injury or surgery to help recovery. Recovery focuses on regaining strength in affected muscles and movement/freedom in affected joints. The usual practice follows a flow like this; patient undergoes surgery or receives injury and has a short term of rest. Physiotherapist meets with patient to assess capability for movement and recovery, prescribes exercises/stretches to be done (most commonly daily or several times a day), patient performs these exercises for about a week before returning to the physiotherapist for reassessment. This cycle repeats, extending the time between visits, until the physiotherapist or the patient is happy with the level of recovery.</a:t>
            </a:r>
            <a:endParaRPr lang="en-US" dirty="0"/>
          </a:p>
          <a:p>
            <a:pPr marL="296100">
              <a:buClr>
                <a:srgbClr val="000000"/>
              </a:buClr>
              <a:buSzPts val="1400"/>
              <a:buFont typeface="+mj-lt"/>
              <a:buAutoNum type="arabicPeriod"/>
              <a:defRPr b="1">
                <a:latin typeface="+mj-lt"/>
                <a:ea typeface="+mj-ea"/>
                <a:cs typeface="+mj-cs"/>
                <a:sym typeface="Helvetica"/>
              </a:defRPr>
            </a:pPr>
            <a:r>
              <a:rPr lang="en-US" dirty="0"/>
              <a:t> What are some common problems people face in this domain?</a:t>
            </a:r>
          </a:p>
          <a:p>
            <a:pPr marL="296100" lvl="1">
              <a:buClr>
                <a:srgbClr val="000000"/>
              </a:buClr>
              <a:buSzPts val="1400"/>
              <a:defRPr b="1">
                <a:latin typeface="+mj-lt"/>
                <a:ea typeface="+mj-ea"/>
                <a:cs typeface="+mj-cs"/>
                <a:sym typeface="Helvetica"/>
              </a:defRPr>
            </a:pPr>
            <a:r>
              <a:rPr lang="en-US" sz="1000" dirty="0">
                <a:latin typeface="Helvetica Light"/>
              </a:rPr>
              <a:t>	Patients feel uncertain, get increased pain, or stop doing their exercises altogether between appointments with their physiotherapist. Some patients do exercises with incorrect technique, don’t push themselves far enough, or don’t do them enough. These cases heavily impact recovery speed, increasing the number of visits and duration of healing, or limiting the recoverable strength and mobility recoverable through physiotherapy. Physiotherapists also can’t monitor their patients progress and rely on patients telling the truth which can create discrepancies between actual and perceived effort.</a:t>
            </a:r>
            <a:endParaRPr lang="en-US" dirty="0"/>
          </a:p>
          <a:p>
            <a:pPr marL="296100">
              <a:buClr>
                <a:srgbClr val="000000"/>
              </a:buClr>
              <a:buSzPts val="1400"/>
              <a:buFont typeface="+mj-lt"/>
              <a:buAutoNum type="arabicPeriod"/>
              <a:defRPr b="1">
                <a:latin typeface="+mj-lt"/>
                <a:ea typeface="+mj-ea"/>
                <a:cs typeface="+mj-cs"/>
                <a:sym typeface="Helvetica"/>
              </a:defRPr>
            </a:pPr>
            <a:r>
              <a:rPr lang="en-US" dirty="0"/>
              <a:t>What are some existing solutions?</a:t>
            </a:r>
          </a:p>
          <a:p>
            <a:pPr marL="296100" lvl="1">
              <a:buClr>
                <a:srgbClr val="000000"/>
              </a:buClr>
              <a:buSzPts val="1400"/>
              <a:defRPr b="1">
                <a:latin typeface="+mj-lt"/>
                <a:ea typeface="+mj-ea"/>
                <a:cs typeface="+mj-cs"/>
                <a:sym typeface="Helvetica"/>
              </a:defRPr>
            </a:pPr>
            <a:r>
              <a:rPr lang="en-US" sz="1000" dirty="0">
                <a:latin typeface="Helvetica Light"/>
              </a:rPr>
              <a:t>	Patients can check exercise instructions through existing exercise libraries such as SimpleSet or PhysiApp. Physiotherapists can contact their patients through existing digital infrastructure such as email, text, or social media. Most patients are put in contact with physiotherapists by family doctors prior to surgery or after receiving an injury which would require physiotherapy.</a:t>
            </a:r>
            <a:endParaRPr lang="en-US" dirty="0"/>
          </a:p>
          <a:p>
            <a:pPr marL="296100">
              <a:buClr>
                <a:srgbClr val="000000"/>
              </a:buClr>
              <a:buSzPts val="1400"/>
              <a:buFont typeface="+mj-lt"/>
              <a:buAutoNum type="arabicPeriod"/>
              <a:defRPr b="1">
                <a:latin typeface="+mj-lt"/>
                <a:ea typeface="+mj-ea"/>
                <a:cs typeface="+mj-cs"/>
                <a:sym typeface="Helvetica"/>
              </a:defRPr>
            </a:pPr>
            <a:r>
              <a:rPr lang="en-US" dirty="0"/>
              <a:t> Which problems provide the biggest pain points?</a:t>
            </a:r>
          </a:p>
          <a:p>
            <a:pPr marL="296100" lvl="1">
              <a:buClr>
                <a:srgbClr val="000000"/>
              </a:buClr>
              <a:buSzPts val="1400"/>
              <a:defRPr b="1">
                <a:latin typeface="+mj-lt"/>
                <a:ea typeface="+mj-ea"/>
                <a:cs typeface="+mj-cs"/>
                <a:sym typeface="Helvetica"/>
              </a:defRPr>
            </a:pPr>
            <a:r>
              <a:rPr lang="en-US" sz="1000" dirty="0"/>
              <a:t>	</a:t>
            </a:r>
            <a:r>
              <a:rPr lang="en-US" sz="1000" dirty="0">
                <a:latin typeface="Helvetica Light"/>
              </a:rPr>
              <a:t>Patients limiting their own recovery through lack of exercising, lack of effort, or lack of understanding of prescribed exercises likely create the largest pain points. Patient communication with physiotherapists would likely be a close second, and patient to physiotherapist connection is likely the least painful of the three to overcome.</a:t>
            </a:r>
            <a:endParaRPr lang="en-US" dirty="0"/>
          </a:p>
        </p:txBody>
      </p:sp>
      <p:pic>
        <p:nvPicPr>
          <p:cNvPr id="175"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extLst>
      <p:ext uri="{BB962C8B-B14F-4D97-AF65-F5344CB8AC3E}">
        <p14:creationId xmlns:p14="http://schemas.microsoft.com/office/powerpoint/2010/main" val="418847020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Our Focus"/>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CA" dirty="0"/>
              <a:t>Intro Script</a:t>
            </a:r>
            <a:endParaRPr dirty="0"/>
          </a:p>
        </p:txBody>
      </p:sp>
      <p:sp>
        <p:nvSpPr>
          <p:cNvPr id="174" name="Target users:…"/>
          <p:cNvSpPr txBox="1">
            <a:spLocks noGrp="1"/>
          </p:cNvSpPr>
          <p:nvPr>
            <p:ph type="body" idx="4294967295"/>
          </p:nvPr>
        </p:nvSpPr>
        <p:spPr>
          <a:xfrm>
            <a:off x="669925" y="874712"/>
            <a:ext cx="8116888" cy="3732213"/>
          </a:xfrm>
          <a:prstGeom prst="rect">
            <a:avLst/>
          </a:prstGeom>
        </p:spPr>
        <p:txBody>
          <a:bodyPr lIns="32749" tIns="32749" rIns="32749" bIns="32749">
            <a:normAutofit/>
          </a:bodyPr>
          <a:lstStyle/>
          <a:p>
            <a:pPr marL="800100" indent="-342900">
              <a:spcBef>
                <a:spcPts val="2700"/>
              </a:spcBef>
              <a:buClr>
                <a:srgbClr val="000000"/>
              </a:buClr>
              <a:buSzPts val="1400"/>
              <a:buAutoNum type="arabicPeriod"/>
              <a:defRPr b="1">
                <a:latin typeface="+mj-lt"/>
                <a:ea typeface="+mj-ea"/>
                <a:cs typeface="+mj-cs"/>
                <a:sym typeface="Helvetica"/>
              </a:defRPr>
            </a:pPr>
            <a:endParaRPr dirty="0"/>
          </a:p>
          <a:p>
            <a:pPr>
              <a:buClr>
                <a:srgbClr val="000000"/>
              </a:buClr>
              <a:buSzPts val="1400"/>
              <a:defRPr b="1">
                <a:latin typeface="+mj-lt"/>
                <a:ea typeface="+mj-ea"/>
                <a:cs typeface="+mj-cs"/>
                <a:sym typeface="Helvetica"/>
              </a:defRPr>
            </a:pPr>
            <a:r>
              <a:rPr lang="en-CA" dirty="0"/>
              <a:t>What would you say to a potential interviewee to explain why you're excited to work in this problem area and why you need their help?</a:t>
            </a:r>
          </a:p>
          <a:p>
            <a:pPr>
              <a:buClr>
                <a:srgbClr val="000000"/>
              </a:buClr>
              <a:buSzPts val="1400"/>
              <a:defRPr b="1">
                <a:latin typeface="+mj-lt"/>
                <a:ea typeface="+mj-ea"/>
                <a:cs typeface="+mj-cs"/>
                <a:sym typeface="Helvetica"/>
              </a:defRPr>
            </a:pPr>
            <a:endParaRPr lang="en-CA" dirty="0"/>
          </a:p>
          <a:p>
            <a:pPr>
              <a:buClr>
                <a:srgbClr val="000000"/>
              </a:buClr>
              <a:buSzPts val="1400"/>
              <a:defRPr b="1">
                <a:latin typeface="+mj-lt"/>
                <a:ea typeface="+mj-ea"/>
                <a:cs typeface="+mj-cs"/>
                <a:sym typeface="Helvetica"/>
              </a:defRPr>
            </a:pPr>
            <a:r>
              <a:rPr lang="en-CA" dirty="0">
                <a:latin typeface="Helvetica Light"/>
              </a:rPr>
              <a:t>(For Physiotherapists)</a:t>
            </a:r>
          </a:p>
          <a:p>
            <a:pPr>
              <a:buClr>
                <a:srgbClr val="000000"/>
              </a:buClr>
              <a:buSzPts val="1400"/>
              <a:defRPr b="1">
                <a:latin typeface="+mj-lt"/>
                <a:ea typeface="+mj-ea"/>
                <a:cs typeface="+mj-cs"/>
                <a:sym typeface="Helvetica"/>
              </a:defRPr>
            </a:pPr>
            <a:endParaRPr lang="en-CA" dirty="0">
              <a:latin typeface="Helvetica Light"/>
            </a:endParaRPr>
          </a:p>
          <a:p>
            <a:pPr>
              <a:buClr>
                <a:srgbClr val="000000"/>
              </a:buClr>
              <a:buSzPts val="1400"/>
              <a:defRPr b="1">
                <a:latin typeface="+mj-lt"/>
                <a:ea typeface="+mj-ea"/>
                <a:cs typeface="+mj-cs"/>
                <a:sym typeface="Helvetica"/>
              </a:defRPr>
            </a:pPr>
            <a:r>
              <a:rPr lang="en-CA" dirty="0">
                <a:latin typeface="Helvetica Light"/>
              </a:rPr>
              <a:t>From the moment we formed our group, we set out with the goal of creating something to help people. Most of us have gone through physiotherapy for varying injuries and surgeries, and with this experience wanted to help people in that situation to recover better, faster, and stronger than before. With your help, we want to identify the areas of the physiotherapy process that we can better support and improve upon with a digital solution. We want to make at home exercises easier to perform, create more consistent habits in physiotherapy patients with assigned exercises, and facilitate effective communication between you and your patients.</a:t>
            </a:r>
          </a:p>
        </p:txBody>
      </p:sp>
      <p:pic>
        <p:nvPicPr>
          <p:cNvPr id="175"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extLst>
      <p:ext uri="{BB962C8B-B14F-4D97-AF65-F5344CB8AC3E}">
        <p14:creationId xmlns:p14="http://schemas.microsoft.com/office/powerpoint/2010/main" val="259860409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Our Focus"/>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CA" dirty="0"/>
              <a:t>Respect Privacy</a:t>
            </a:r>
            <a:endParaRPr dirty="0"/>
          </a:p>
        </p:txBody>
      </p:sp>
      <p:sp>
        <p:nvSpPr>
          <p:cNvPr id="174" name="Target users:…"/>
          <p:cNvSpPr txBox="1">
            <a:spLocks noGrp="1"/>
          </p:cNvSpPr>
          <p:nvPr>
            <p:ph type="body" idx="4294967295"/>
          </p:nvPr>
        </p:nvSpPr>
        <p:spPr>
          <a:xfrm>
            <a:off x="669925" y="874712"/>
            <a:ext cx="8116888" cy="3732213"/>
          </a:xfrm>
          <a:prstGeom prst="rect">
            <a:avLst/>
          </a:prstGeom>
        </p:spPr>
        <p:txBody>
          <a:bodyPr lIns="32749" tIns="32749" rIns="32749" bIns="32749">
            <a:normAutofit/>
          </a:bodyPr>
          <a:lstStyle/>
          <a:p>
            <a:pPr>
              <a:spcBef>
                <a:spcPts val="2700"/>
              </a:spcBef>
              <a:buClr>
                <a:srgbClr val="000000"/>
              </a:buClr>
              <a:buSzPts val="1400"/>
              <a:defRPr b="1">
                <a:latin typeface="+mj-lt"/>
                <a:ea typeface="+mj-ea"/>
                <a:cs typeface="+mj-cs"/>
                <a:sym typeface="Helvetica"/>
              </a:defRPr>
            </a:pPr>
            <a:endParaRPr dirty="0"/>
          </a:p>
          <a:p>
            <a:pPr>
              <a:buClr>
                <a:srgbClr val="000000"/>
              </a:buClr>
              <a:buSzPts val="1400"/>
              <a:defRPr b="1">
                <a:latin typeface="+mj-lt"/>
                <a:ea typeface="+mj-ea"/>
                <a:cs typeface="+mj-cs"/>
                <a:sym typeface="Helvetica"/>
              </a:defRPr>
            </a:pPr>
            <a:r>
              <a:rPr lang="en-CA" dirty="0"/>
              <a:t>The best approach to keeping people’s information private is not to collect data which could identify it when you don’t need to.</a:t>
            </a:r>
          </a:p>
          <a:p>
            <a:pPr>
              <a:buClr>
                <a:srgbClr val="000000"/>
              </a:buClr>
              <a:buSzPts val="1400"/>
              <a:defRPr b="1">
                <a:latin typeface="+mj-lt"/>
                <a:ea typeface="+mj-ea"/>
                <a:cs typeface="+mj-cs"/>
                <a:sym typeface="Helvetica"/>
              </a:defRPr>
            </a:pPr>
            <a:r>
              <a:rPr lang="en-CA" dirty="0"/>
              <a:t>In this exercise, do be careful not to include too much identifying information, especially if you are interviewing random users (for a supervisor interview this is less of a problem because it’s “obvious” who they are, but still try to be sensitive and don’t ask any questions that are too personal or aren’t related to the problem at hand).</a:t>
            </a:r>
          </a:p>
          <a:p>
            <a:pPr>
              <a:buClr>
                <a:srgbClr val="000000"/>
              </a:buClr>
              <a:buSzPts val="1400"/>
              <a:defRPr b="1">
                <a:latin typeface="+mj-lt"/>
                <a:ea typeface="+mj-ea"/>
                <a:cs typeface="+mj-cs"/>
                <a:sym typeface="Helvetica"/>
              </a:defRPr>
            </a:pPr>
            <a:endParaRPr lang="en-CA" dirty="0"/>
          </a:p>
          <a:p>
            <a:pPr>
              <a:buClr>
                <a:srgbClr val="000000"/>
              </a:buClr>
              <a:buSzPts val="1400"/>
              <a:defRPr b="1">
                <a:latin typeface="+mj-lt"/>
                <a:ea typeface="+mj-ea"/>
                <a:cs typeface="+mj-cs"/>
                <a:sym typeface="Helvetica"/>
              </a:defRPr>
            </a:pPr>
            <a:r>
              <a:rPr lang="en-CA" dirty="0">
                <a:latin typeface="Helvetica Light"/>
              </a:rPr>
              <a:t>Likely don’t need name or email with so few participants. Don’t need company and occupation, both together could identify a participant. Company is likely more identifiable than occupation, and occupation should have enough information to be relevant to general user testing. Participant communication (email, phone number, etc.) shouldn’t be recorded within the project.</a:t>
            </a:r>
          </a:p>
        </p:txBody>
      </p:sp>
      <p:pic>
        <p:nvPicPr>
          <p:cNvPr id="175"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extLst>
      <p:ext uri="{BB962C8B-B14F-4D97-AF65-F5344CB8AC3E}">
        <p14:creationId xmlns:p14="http://schemas.microsoft.com/office/powerpoint/2010/main" val="51341447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Questions to Ask"/>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US" dirty="0"/>
              <a:t>Interview Questions</a:t>
            </a:r>
            <a:endParaRPr dirty="0"/>
          </a:p>
        </p:txBody>
      </p:sp>
      <p:sp>
        <p:nvSpPr>
          <p:cNvPr id="180" name="Q1…"/>
          <p:cNvSpPr txBox="1">
            <a:spLocks noGrp="1"/>
          </p:cNvSpPr>
          <p:nvPr>
            <p:ph type="body" idx="4294967295"/>
          </p:nvPr>
        </p:nvSpPr>
        <p:spPr>
          <a:xfrm>
            <a:off x="513556" y="1127196"/>
            <a:ext cx="8116888" cy="3732213"/>
          </a:xfrm>
          <a:prstGeom prst="rect">
            <a:avLst/>
          </a:prstGeom>
        </p:spPr>
        <p:txBody>
          <a:bodyPr lIns="32749" tIns="32749" rIns="32749" bIns="32749">
            <a:normAutofit fontScale="85000" lnSpcReduction="20000"/>
          </a:bodyPr>
          <a:lstStyle/>
          <a:p>
            <a:pPr>
              <a:spcBef>
                <a:spcPts val="2700"/>
              </a:spcBef>
              <a:buClr>
                <a:srgbClr val="000000"/>
              </a:buClr>
              <a:buSzPts val="1400"/>
              <a:defRPr b="1">
                <a:latin typeface="+mj-lt"/>
                <a:ea typeface="+mj-ea"/>
                <a:cs typeface="+mj-cs"/>
                <a:sym typeface="Helvetica"/>
              </a:defRPr>
            </a:pPr>
            <a:r>
              <a:rPr lang="en-US" dirty="0"/>
              <a:t>Put questions here to guide your interview. It’s okay (and encouraged!) to think of follow-up questions as you go, just be sure to write them down during the interview.</a:t>
            </a:r>
            <a:endParaRPr dirty="0"/>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What types of exercises would you recommend we start with for our proof of concept — should we focus on one simple movement or aim for multiple (2–3 exercises)?</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Are there specific lower-body or posture exercises you would recommend us focusing on?</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In what ways would you be comfortable being involved: helping us define exercises, reviewing our approach, or other ways?</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Should we focus on a specific limitation (to narrow our scope some more)? For example, spasticity? hyper-mobility?</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What deviations from 'proper' form should we look for?</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What are some key indicators that you look for in proper exercises overall?</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What are some key indicators that you look for in proper exercises specifically in regards to form?</a:t>
            </a:r>
          </a:p>
          <a:p>
            <a:pPr marL="800100" indent="-342900">
              <a:spcBef>
                <a:spcPts val="1700"/>
              </a:spcBef>
              <a:buClr>
                <a:srgbClr val="000000"/>
              </a:buClr>
              <a:buSzPts val="1400"/>
              <a:buAutoNum type="arabicPeriod"/>
              <a:defRPr b="1">
                <a:latin typeface="+mj-lt"/>
                <a:ea typeface="+mj-ea"/>
                <a:cs typeface="+mj-cs"/>
                <a:sym typeface="Helvetica"/>
              </a:defRPr>
            </a:pPr>
            <a:r>
              <a:rPr lang="en-US" dirty="0">
                <a:sym typeface="Helvetica"/>
              </a:rPr>
              <a:t>How do you properly gauge time under tension for assigned exercises?</a:t>
            </a:r>
            <a:endParaRPr lang="en-CA" dirty="0"/>
          </a:p>
        </p:txBody>
      </p:sp>
      <p:pic>
        <p:nvPicPr>
          <p:cNvPr id="181"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B3E3FF"/>
            </a:gs>
            <a:gs pos="16999">
              <a:srgbClr val="8CD5FF"/>
            </a:gs>
            <a:gs pos="25999">
              <a:srgbClr val="8CD5FF"/>
            </a:gs>
            <a:gs pos="100000">
              <a:srgbClr val="F2FAFF"/>
            </a:gs>
          </a:gsLst>
          <a:lin ang="16200000" scaled="0"/>
        </a:gradFill>
        <a:effectLst/>
      </p:bgPr>
    </p:bg>
    <p:spTree>
      <p:nvGrpSpPr>
        <p:cNvPr id="1" name=""/>
        <p:cNvGrpSpPr/>
        <p:nvPr/>
      </p:nvGrpSpPr>
      <p:grpSpPr>
        <a:xfrm>
          <a:off x="0" y="0"/>
          <a:ext cx="0" cy="0"/>
          <a:chOff x="0" y="0"/>
          <a:chExt cx="0" cy="0"/>
        </a:xfrm>
      </p:grpSpPr>
      <p:pic>
        <p:nvPicPr>
          <p:cNvPr id="205" name="image.png" descr="image.png"/>
          <p:cNvPicPr>
            <a:picLocks noChangeAspect="1"/>
          </p:cNvPicPr>
          <p:nvPr/>
        </p:nvPicPr>
        <p:blipFill>
          <a:blip r:embed="rId2"/>
          <a:stretch>
            <a:fillRect/>
          </a:stretch>
        </p:blipFill>
        <p:spPr>
          <a:xfrm>
            <a:off x="7883525" y="74612"/>
            <a:ext cx="1098550" cy="796926"/>
          </a:xfrm>
          <a:prstGeom prst="rect">
            <a:avLst/>
          </a:prstGeom>
          <a:ln w="12700">
            <a:miter lim="400000"/>
          </a:ln>
        </p:spPr>
      </p:pic>
      <p:sp>
        <p:nvSpPr>
          <p:cNvPr id="2" name="Revised Questions">
            <a:extLst>
              <a:ext uri="{FF2B5EF4-FFF2-40B4-BE49-F238E27FC236}">
                <a16:creationId xmlns:a16="http://schemas.microsoft.com/office/drawing/2014/main" id="{DD3CC7D1-2C80-58CA-A7BD-54ED71C3F563}"/>
              </a:ext>
            </a:extLst>
          </p:cNvPr>
          <p:cNvSpPr txBox="1">
            <a:spLocks/>
          </p:cNvSpPr>
          <p:nvPr/>
        </p:nvSpPr>
        <p:spPr>
          <a:xfrm>
            <a:off x="669925" y="133350"/>
            <a:ext cx="7804150" cy="1139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normAutofit/>
          </a:bodyPr>
          <a:lstStyle>
            <a:lvl1pPr marL="0" marR="0" indent="0" algn="ctr" defTabSz="914400" rtl="0" latinLnBrk="0">
              <a:lnSpc>
                <a:spcPct val="100000"/>
              </a:lnSpc>
              <a:spcBef>
                <a:spcPts val="0"/>
              </a:spcBef>
              <a:spcAft>
                <a:spcPts val="0"/>
              </a:spcAft>
              <a:buClrTx/>
              <a:buSzTx/>
              <a:buFontTx/>
              <a:buNone/>
              <a:tabLst/>
              <a:defRPr sz="52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9pPr>
          </a:lstStyle>
          <a:p>
            <a:pPr hangingPunct="1"/>
            <a:r>
              <a:rPr lang="en-CA" dirty="0"/>
              <a:t>Interview Transcript</a:t>
            </a:r>
          </a:p>
        </p:txBody>
      </p:sp>
      <p:sp>
        <p:nvSpPr>
          <p:cNvPr id="3" name="Q1…">
            <a:extLst>
              <a:ext uri="{FF2B5EF4-FFF2-40B4-BE49-F238E27FC236}">
                <a16:creationId xmlns:a16="http://schemas.microsoft.com/office/drawing/2014/main" id="{1C7F84AB-D026-C109-61FB-1E5D8F8F2380}"/>
              </a:ext>
            </a:extLst>
          </p:cNvPr>
          <p:cNvSpPr txBox="1">
            <a:spLocks/>
          </p:cNvSpPr>
          <p:nvPr/>
        </p:nvSpPr>
        <p:spPr>
          <a:xfrm>
            <a:off x="669925" y="984202"/>
            <a:ext cx="8116888" cy="36227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ormAutofit/>
          </a:bodyPr>
          <a:lst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9pPr>
          </a:lstStyle>
          <a:p>
            <a:pPr hangingPunct="1">
              <a:buClr>
                <a:srgbClr val="000000"/>
              </a:buClr>
              <a:buSzPts val="1400"/>
              <a:defRPr b="1">
                <a:latin typeface="+mj-lt"/>
                <a:ea typeface="+mj-ea"/>
                <a:cs typeface="+mj-cs"/>
                <a:sym typeface="Helvetica"/>
              </a:defRPr>
            </a:pPr>
            <a:r>
              <a:rPr lang="en-CA" b="1" dirty="0">
                <a:latin typeface="+mj-lt"/>
                <a:ea typeface="+mj-ea"/>
                <a:cs typeface="+mj-cs"/>
                <a:sym typeface="Helvetica"/>
              </a:rPr>
              <a:t>In this slide, practice your interview with your peers (preferably, someone outside of your group). This will allow you to “debug” your interview questions. Have at least two of your group members take notes (you may have to have different slides to avoid conflicts in collaboration) while the other one or two does the interview.</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This is really open-ended. Maybe have a better/more narrow concept of what you want to work on?</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This is focussed on the narrow concept, make the previous question reflect this!</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This seems good, definitely should turn into a conversation about responsibilities and expectations for both the group and the advisor.</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Limitation is confusing wording, consider changing to something more understandable; facet, quality, attribute, etc.</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Seems good, very domain knowledge based so hard to know. At least a good start for conversation!</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Indicators is okay wording, but again kind of confusing. Seems this is talking about the same thing as question 4, make the wording match!</a:t>
            </a:r>
          </a:p>
          <a:p>
            <a:pPr indent="-342900" hangingPunct="1">
              <a:buClr>
                <a:srgbClr val="000000"/>
              </a:buClr>
              <a:buSzPts val="1400"/>
              <a:buFontTx/>
              <a:buAutoNum type="arabicPeriod"/>
              <a:defRPr b="1">
                <a:latin typeface="+mj-lt"/>
                <a:ea typeface="+mj-ea"/>
                <a:cs typeface="+mj-cs"/>
                <a:sym typeface="Helvetica"/>
              </a:defRPr>
            </a:pPr>
            <a:r>
              <a:rPr lang="en-CA" sz="1200" b="1" dirty="0">
                <a:latin typeface="Helvetica Light"/>
                <a:ea typeface="+mj-ea"/>
                <a:cs typeface="+mj-cs"/>
                <a:sym typeface="Helvetica"/>
              </a:rPr>
              <a:t>Same as above.</a:t>
            </a:r>
          </a:p>
          <a:p>
            <a:pPr marL="800100" indent="-342900" hangingPunct="1">
              <a:spcBef>
                <a:spcPts val="1700"/>
              </a:spcBef>
              <a:buClr>
                <a:srgbClr val="000000"/>
              </a:buClr>
              <a:buSzPts val="1400"/>
              <a:buFontTx/>
              <a:buAutoNum type="arabicPeriod"/>
              <a:defRPr b="1">
                <a:latin typeface="+mj-lt"/>
                <a:ea typeface="+mj-ea"/>
                <a:cs typeface="+mj-cs"/>
                <a:sym typeface="Helvetica"/>
              </a:defRPr>
            </a:pPr>
            <a:endParaRPr lang="en-CA" b="1" dirty="0">
              <a:latin typeface="+mj-lt"/>
              <a:ea typeface="+mj-ea"/>
              <a:cs typeface="+mj-cs"/>
              <a:sym typeface="Helvetica"/>
            </a:endParaRPr>
          </a:p>
        </p:txBody>
      </p:sp>
    </p:spTree>
    <p:extLst>
      <p:ext uri="{BB962C8B-B14F-4D97-AF65-F5344CB8AC3E}">
        <p14:creationId xmlns:p14="http://schemas.microsoft.com/office/powerpoint/2010/main" val="50877549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B3E3FF"/>
            </a:gs>
            <a:gs pos="16999">
              <a:srgbClr val="8CD5FF"/>
            </a:gs>
            <a:gs pos="25999">
              <a:srgbClr val="8CD5FF"/>
            </a:gs>
            <a:gs pos="100000">
              <a:srgbClr val="F2FAFF"/>
            </a:gs>
          </a:gsLst>
          <a:lin ang="16200000" scaled="0"/>
        </a:gradFill>
        <a:effectLst/>
      </p:bgPr>
    </p:bg>
    <p:spTree>
      <p:nvGrpSpPr>
        <p:cNvPr id="1" name=""/>
        <p:cNvGrpSpPr/>
        <p:nvPr/>
      </p:nvGrpSpPr>
      <p:grpSpPr>
        <a:xfrm>
          <a:off x="0" y="0"/>
          <a:ext cx="0" cy="0"/>
          <a:chOff x="0" y="0"/>
          <a:chExt cx="0" cy="0"/>
        </a:xfrm>
      </p:grpSpPr>
      <p:pic>
        <p:nvPicPr>
          <p:cNvPr id="185" name="Image" descr="Image"/>
          <p:cNvPicPr>
            <a:picLocks noChangeAspect="1"/>
          </p:cNvPicPr>
          <p:nvPr/>
        </p:nvPicPr>
        <p:blipFill>
          <a:blip r:embed="rId2"/>
          <a:stretch>
            <a:fillRect/>
          </a:stretch>
        </p:blipFill>
        <p:spPr>
          <a:xfrm>
            <a:off x="60325" y="0"/>
            <a:ext cx="5430838" cy="5143500"/>
          </a:xfrm>
          <a:prstGeom prst="rect">
            <a:avLst/>
          </a:prstGeom>
          <a:ln w="12700">
            <a:miter lim="400000"/>
          </a:ln>
        </p:spPr>
      </p:pic>
      <p:sp>
        <p:nvSpPr>
          <p:cNvPr id="186" name="Empathy Map:…"/>
          <p:cNvSpPr txBox="1"/>
          <p:nvPr/>
        </p:nvSpPr>
        <p:spPr>
          <a:xfrm>
            <a:off x="6116637" y="938799"/>
            <a:ext cx="2971801" cy="326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000" b="1">
                <a:latin typeface="+mj-lt"/>
                <a:ea typeface="+mj-ea"/>
                <a:cs typeface="+mj-cs"/>
                <a:sym typeface="Helvetica"/>
              </a:defRPr>
            </a:pPr>
            <a:r>
              <a:rPr dirty="0"/>
              <a:t>Empathy Map:</a:t>
            </a:r>
          </a:p>
          <a:p>
            <a:pPr>
              <a:defRPr sz="1000" b="1">
                <a:latin typeface="+mj-lt"/>
                <a:ea typeface="+mj-ea"/>
                <a:cs typeface="+mj-cs"/>
                <a:sym typeface="Helvetica"/>
              </a:defRPr>
            </a:pPr>
            <a:endParaRPr dirty="0"/>
          </a:p>
          <a:p>
            <a:pPr>
              <a:defRPr sz="1000" b="1">
                <a:latin typeface="+mj-lt"/>
                <a:ea typeface="+mj-ea"/>
                <a:cs typeface="+mj-cs"/>
                <a:sym typeface="Helvetica"/>
              </a:defRPr>
            </a:pPr>
            <a:r>
              <a:rPr dirty="0"/>
              <a:t>Use to take notes when interviewing/shadowing individual users, and again when creating a fictional target user.  Have one person do the talking, and a second take notes, but steer the conversation to cover all 4 areas.</a:t>
            </a:r>
          </a:p>
          <a:p>
            <a:pPr>
              <a:defRPr sz="1000" b="1">
                <a:latin typeface="+mj-lt"/>
                <a:ea typeface="+mj-ea"/>
                <a:cs typeface="+mj-cs"/>
                <a:sym typeface="Helvetica"/>
              </a:defRPr>
            </a:pPr>
            <a:endParaRPr dirty="0"/>
          </a:p>
          <a:p>
            <a:pPr>
              <a:defRPr sz="1000" b="1">
                <a:latin typeface="+mj-lt"/>
                <a:ea typeface="+mj-ea"/>
                <a:cs typeface="+mj-cs"/>
                <a:sym typeface="Helvetica"/>
              </a:defRPr>
            </a:pPr>
            <a:r>
              <a:rPr dirty="0"/>
              <a:t>say:  What they say in response to questions or volunteer.</a:t>
            </a:r>
          </a:p>
          <a:p>
            <a:pPr>
              <a:defRPr sz="1000" b="1">
                <a:latin typeface="+mj-lt"/>
                <a:ea typeface="+mj-ea"/>
                <a:cs typeface="+mj-cs"/>
                <a:sym typeface="Helvetica"/>
              </a:defRPr>
            </a:pPr>
            <a:r>
              <a:rPr dirty="0"/>
              <a:t>think:  Things you infer about their knowledge or opinions, because they avoid a topic or direct answers, are surprised by or do not understand some questions.</a:t>
            </a:r>
          </a:p>
          <a:p>
            <a:pPr>
              <a:defRPr sz="1000" b="1">
                <a:latin typeface="+mj-lt"/>
                <a:ea typeface="+mj-ea"/>
                <a:cs typeface="+mj-cs"/>
                <a:sym typeface="Helvetica"/>
              </a:defRPr>
            </a:pPr>
            <a:r>
              <a:rPr dirty="0"/>
              <a:t>do:  Steps they take in doing a task, either observed from shadowing, or noted when they describe how they do their work.</a:t>
            </a:r>
          </a:p>
          <a:p>
            <a:pPr>
              <a:defRPr sz="1000" b="1">
                <a:latin typeface="+mj-lt"/>
                <a:ea typeface="+mj-ea"/>
                <a:cs typeface="+mj-cs"/>
                <a:sym typeface="Helvetica"/>
              </a:defRPr>
            </a:pPr>
            <a:r>
              <a:rPr dirty="0"/>
              <a:t>feel:  Things you infer about their feelings, such as whether they would enjoy using a proposed solution, or would prefer the way things work now.</a:t>
            </a:r>
          </a:p>
        </p:txBody>
      </p:sp>
      <p:graphicFrame>
        <p:nvGraphicFramePr>
          <p:cNvPr id="187" name="Table 1"/>
          <p:cNvGraphicFramePr/>
          <p:nvPr>
            <p:extLst>
              <p:ext uri="{D42A27DB-BD31-4B8C-83A1-F6EECF244321}">
                <p14:modId xmlns:p14="http://schemas.microsoft.com/office/powerpoint/2010/main" val="1426056507"/>
              </p:ext>
            </p:extLst>
          </p:nvPr>
        </p:nvGraphicFramePr>
        <p:xfrm>
          <a:off x="3765550" y="796925"/>
          <a:ext cx="2062162" cy="1528848"/>
        </p:xfrm>
        <a:graphic>
          <a:graphicData uri="http://schemas.openxmlformats.org/drawingml/2006/table">
            <a:tbl>
              <a:tblPr>
                <a:tableStyleId>{4C3C2611-4C71-4FC5-86AE-919BDF0F9419}</a:tableStyleId>
              </a:tblPr>
              <a:tblGrid>
                <a:gridCol w="2062162">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Too many to choose from; provide limited scope.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4625">
                <a:tc>
                  <a:txBody>
                    <a:bodyPr/>
                    <a:lstStyle/>
                    <a:p>
                      <a:pPr algn="l">
                        <a:defRPr sz="800" b="1">
                          <a:latin typeface="+mj-lt"/>
                          <a:ea typeface="+mj-ea"/>
                          <a:cs typeface="+mj-cs"/>
                          <a:sym typeface="Helvetica"/>
                        </a:defRPr>
                      </a:pPr>
                      <a:r>
                        <a:rPr lang="en-US" dirty="0">
                          <a:latin typeface="Helvetica Light"/>
                        </a:rPr>
                        <a:t>Again, extended scope; provide limits.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6212">
                <a:tc>
                  <a:txBody>
                    <a:bodyPr/>
                    <a:lstStyle/>
                    <a:p>
                      <a:pPr algn="l">
                        <a:defRPr sz="800" b="1">
                          <a:latin typeface="+mj-lt"/>
                          <a:ea typeface="+mj-ea"/>
                          <a:cs typeface="+mj-cs"/>
                          <a:sym typeface="Helvetica"/>
                        </a:defRPr>
                      </a:pPr>
                      <a:r>
                        <a:rPr lang="en-US" dirty="0">
                          <a:latin typeface="Helvetica Light"/>
                        </a:rPr>
                        <a:t>Busy scheduling most likely, provide estimate.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4625">
                <a:tc>
                  <a:txBody>
                    <a:bodyPr/>
                    <a:lstStyle/>
                    <a:p>
                      <a:pPr algn="l">
                        <a:defRPr sz="800" b="1">
                          <a:latin typeface="+mj-lt"/>
                          <a:ea typeface="+mj-ea"/>
                          <a:cs typeface="+mj-cs"/>
                          <a:sym typeface="Helvetica"/>
                        </a:defRPr>
                      </a:pPr>
                      <a:r>
                        <a:rPr lang="en-US" dirty="0">
                          <a:latin typeface="Helvetica Light"/>
                        </a:rPr>
                        <a:t>Unclear wording.</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6212">
                <a:tc>
                  <a:txBody>
                    <a:bodyPr/>
                    <a:lstStyle/>
                    <a:p>
                      <a:pPr algn="l">
                        <a:defRPr sz="800" b="1">
                          <a:latin typeface="+mj-lt"/>
                          <a:ea typeface="+mj-ea"/>
                          <a:cs typeface="+mj-cs"/>
                          <a:sym typeface="Helvetica"/>
                        </a:defRPr>
                      </a:pPr>
                      <a:r>
                        <a:rPr lang="en-US" dirty="0">
                          <a:latin typeface="Helvetica Light"/>
                        </a:rPr>
                        <a:t>Unclear wording</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174625">
                <a:tc>
                  <a:txBody>
                    <a:bodyPr/>
                    <a:lstStyle/>
                    <a:p>
                      <a:pPr algn="l">
                        <a:defRPr sz="800" b="1">
                          <a:latin typeface="+mj-lt"/>
                          <a:ea typeface="+mj-ea"/>
                          <a:cs typeface="+mj-cs"/>
                          <a:sym typeface="Helvetica"/>
                        </a:defRPr>
                      </a:pPr>
                      <a:r>
                        <a:rPr lang="en-US" dirty="0">
                          <a:latin typeface="Helvetica Light"/>
                        </a:rPr>
                        <a:t>Limited domain knowledge? (Not for PT)</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r h="176212">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6"/>
                  </a:ext>
                </a:extLst>
              </a:tr>
              <a:tr h="176212">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7"/>
                  </a:ext>
                </a:extLst>
              </a:tr>
            </a:tbl>
          </a:graphicData>
        </a:graphic>
      </p:graphicFrame>
      <p:graphicFrame>
        <p:nvGraphicFramePr>
          <p:cNvPr id="188" name="Table 1"/>
          <p:cNvGraphicFramePr/>
          <p:nvPr>
            <p:extLst>
              <p:ext uri="{D42A27DB-BD31-4B8C-83A1-F6EECF244321}">
                <p14:modId xmlns:p14="http://schemas.microsoft.com/office/powerpoint/2010/main" val="800396374"/>
              </p:ext>
            </p:extLst>
          </p:nvPr>
        </p:nvGraphicFramePr>
        <p:xfrm>
          <a:off x="201612" y="871537"/>
          <a:ext cx="2062162" cy="1407620"/>
        </p:xfrm>
        <a:graphic>
          <a:graphicData uri="http://schemas.openxmlformats.org/drawingml/2006/table">
            <a:tbl>
              <a:tblPr>
                <a:tableStyleId>{4C3C2611-4C71-4FC5-86AE-919BDF0F9419}</a:tableStyleId>
              </a:tblPr>
              <a:tblGrid>
                <a:gridCol w="2062162">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There are a lot of options for exercises.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6212">
                <a:tc>
                  <a:txBody>
                    <a:bodyPr/>
                    <a:lstStyle/>
                    <a:p>
                      <a:pPr algn="l">
                        <a:defRPr sz="800" b="1">
                          <a:latin typeface="+mj-lt"/>
                          <a:ea typeface="+mj-ea"/>
                          <a:cs typeface="+mj-cs"/>
                          <a:sym typeface="Helvetica"/>
                        </a:defRPr>
                      </a:pPr>
                      <a:r>
                        <a:rPr lang="en-US" dirty="0">
                          <a:latin typeface="Helvetica Light"/>
                        </a:rPr>
                        <a:t>Exercises or stretches?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4625">
                <a:tc>
                  <a:txBody>
                    <a:bodyPr/>
                    <a:lstStyle/>
                    <a:p>
                      <a:pPr algn="l">
                        <a:defRPr sz="800" b="1">
                          <a:latin typeface="+mj-lt"/>
                          <a:ea typeface="+mj-ea"/>
                          <a:cs typeface="+mj-cs"/>
                          <a:sym typeface="Helvetica"/>
                        </a:defRPr>
                      </a:pPr>
                      <a:r>
                        <a:rPr lang="en-US" dirty="0">
                          <a:latin typeface="Helvetica Light"/>
                        </a:rPr>
                        <a:t>How often would they be involved?</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6212">
                <a:tc>
                  <a:txBody>
                    <a:bodyPr/>
                    <a:lstStyle/>
                    <a:p>
                      <a:pPr algn="l">
                        <a:defRPr sz="800" b="1">
                          <a:latin typeface="+mj-lt"/>
                          <a:ea typeface="+mj-ea"/>
                          <a:cs typeface="+mj-cs"/>
                          <a:sym typeface="Helvetica"/>
                        </a:defRPr>
                      </a:pPr>
                      <a:r>
                        <a:rPr lang="en-US" dirty="0">
                          <a:latin typeface="Helvetica Light"/>
                        </a:rPr>
                        <a:t>Limitation? What do you mean?</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4625">
                <a:tc>
                  <a:txBody>
                    <a:bodyPr/>
                    <a:lstStyle/>
                    <a:p>
                      <a:pPr algn="l">
                        <a:defRPr sz="800" b="1">
                          <a:latin typeface="+mj-lt"/>
                          <a:ea typeface="+mj-ea"/>
                          <a:cs typeface="+mj-cs"/>
                          <a:sym typeface="Helvetica"/>
                        </a:defRPr>
                      </a:pPr>
                      <a:r>
                        <a:rPr lang="en-US" dirty="0">
                          <a:latin typeface="Helvetica Light"/>
                        </a:rPr>
                        <a:t>Indicators? Again, could you explain?</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176212">
                <a:tc>
                  <a:txBody>
                    <a:bodyPr/>
                    <a:lstStyle/>
                    <a:p>
                      <a:pPr algn="l">
                        <a:defRPr sz="800" b="1">
                          <a:latin typeface="+mj-lt"/>
                          <a:ea typeface="+mj-ea"/>
                          <a:cs typeface="+mj-cs"/>
                          <a:sym typeface="Helvetica"/>
                        </a:defRPr>
                      </a:pPr>
                      <a:r>
                        <a:rPr lang="en-US" dirty="0">
                          <a:latin typeface="Helvetica Light"/>
                        </a:rPr>
                        <a:t>Time-under tension?</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r h="0">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6"/>
                  </a:ext>
                </a:extLst>
              </a:tr>
              <a:tr h="176212">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7"/>
                  </a:ext>
                </a:extLst>
              </a:tr>
            </a:tbl>
          </a:graphicData>
        </a:graphic>
      </p:graphicFrame>
      <p:graphicFrame>
        <p:nvGraphicFramePr>
          <p:cNvPr id="189" name="Table 1"/>
          <p:cNvGraphicFramePr/>
          <p:nvPr>
            <p:extLst>
              <p:ext uri="{D42A27DB-BD31-4B8C-83A1-F6EECF244321}">
                <p14:modId xmlns:p14="http://schemas.microsoft.com/office/powerpoint/2010/main" val="309293371"/>
              </p:ext>
            </p:extLst>
          </p:nvPr>
        </p:nvGraphicFramePr>
        <p:xfrm>
          <a:off x="146050" y="2997200"/>
          <a:ext cx="2062162" cy="1528156"/>
        </p:xfrm>
        <a:graphic>
          <a:graphicData uri="http://schemas.openxmlformats.org/drawingml/2006/table">
            <a:tbl>
              <a:tblPr>
                <a:tableStyleId>{4C3C2611-4C71-4FC5-86AE-919BDF0F9419}</a:tableStyleId>
              </a:tblPr>
              <a:tblGrid>
                <a:gridCol w="2062162">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Assess patient status/progress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4625">
                <a:tc>
                  <a:txBody>
                    <a:bodyPr/>
                    <a:lstStyle/>
                    <a:p>
                      <a:pPr algn="l">
                        <a:defRPr sz="800" b="1">
                          <a:latin typeface="+mj-lt"/>
                          <a:ea typeface="+mj-ea"/>
                          <a:cs typeface="+mj-cs"/>
                          <a:sym typeface="Helvetica"/>
                        </a:defRPr>
                      </a:pPr>
                      <a:r>
                        <a:rPr lang="en-US" dirty="0">
                          <a:latin typeface="Helvetica Light"/>
                        </a:rPr>
                        <a:t>Assign patients exercises/stretches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6212">
                <a:tc>
                  <a:txBody>
                    <a:bodyPr/>
                    <a:lstStyle/>
                    <a:p>
                      <a:pPr algn="l">
                        <a:defRPr sz="800" b="1">
                          <a:latin typeface="+mj-lt"/>
                          <a:ea typeface="+mj-ea"/>
                          <a:cs typeface="+mj-cs"/>
                          <a:sym typeface="Helvetica"/>
                        </a:defRPr>
                      </a:pPr>
                      <a:r>
                        <a:rPr lang="en-US" dirty="0">
                          <a:latin typeface="Helvetica Light"/>
                        </a:rPr>
                        <a:t>Demonstrate/assist in initial exercises/stretches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4625">
                <a:tc>
                  <a:txBody>
                    <a:bodyPr/>
                    <a:lstStyle/>
                    <a:p>
                      <a:pPr algn="l">
                        <a:defRPr sz="800" b="1">
                          <a:latin typeface="+mj-lt"/>
                          <a:ea typeface="+mj-ea"/>
                          <a:cs typeface="+mj-cs"/>
                          <a:sym typeface="Helvetica"/>
                        </a:defRPr>
                      </a:pPr>
                      <a:r>
                        <a:rPr lang="en-US" dirty="0">
                          <a:latin typeface="Helvetica Light"/>
                        </a:rPr>
                        <a:t>Set check-in for patient</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6212">
                <a:tc>
                  <a:txBody>
                    <a:bodyPr/>
                    <a:lstStyle/>
                    <a:p>
                      <a:pPr algn="l">
                        <a:defRPr sz="800" b="1">
                          <a:latin typeface="+mj-lt"/>
                          <a:ea typeface="+mj-ea"/>
                          <a:cs typeface="+mj-cs"/>
                          <a:sym typeface="Helvetica"/>
                        </a:defRPr>
                      </a:pPr>
                      <a:r>
                        <a:rPr lang="en-US" dirty="0">
                          <a:latin typeface="Helvetica Light"/>
                        </a:rPr>
                        <a:t>Repeat</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174625">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r h="176212">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6"/>
                  </a:ext>
                </a:extLst>
              </a:tr>
              <a:tr h="174625">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7"/>
                  </a:ext>
                </a:extLst>
              </a:tr>
            </a:tbl>
          </a:graphicData>
        </a:graphic>
      </p:graphicFrame>
      <p:graphicFrame>
        <p:nvGraphicFramePr>
          <p:cNvPr id="190" name="Table 1"/>
          <p:cNvGraphicFramePr/>
          <p:nvPr>
            <p:extLst>
              <p:ext uri="{D42A27DB-BD31-4B8C-83A1-F6EECF244321}">
                <p14:modId xmlns:p14="http://schemas.microsoft.com/office/powerpoint/2010/main" val="1248757725"/>
              </p:ext>
            </p:extLst>
          </p:nvPr>
        </p:nvGraphicFramePr>
        <p:xfrm>
          <a:off x="3792537" y="3035300"/>
          <a:ext cx="2035175" cy="1299036"/>
        </p:xfrm>
        <a:graphic>
          <a:graphicData uri="http://schemas.openxmlformats.org/drawingml/2006/table">
            <a:tbl>
              <a:tblPr>
                <a:tableStyleId>{4C3C2611-4C71-4FC5-86AE-919BDF0F9419}</a:tableStyleId>
              </a:tblPr>
              <a:tblGrid>
                <a:gridCol w="2035175">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Care for patient recovery</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4625">
                <a:tc>
                  <a:txBody>
                    <a:bodyPr/>
                    <a:lstStyle/>
                    <a:p>
                      <a:pPr algn="l">
                        <a:defRPr sz="800" b="1">
                          <a:latin typeface="+mj-lt"/>
                          <a:ea typeface="+mj-ea"/>
                          <a:cs typeface="+mj-cs"/>
                          <a:sym typeface="Helvetica"/>
                        </a:defRPr>
                      </a:pPr>
                      <a:r>
                        <a:rPr lang="en-US" dirty="0">
                          <a:latin typeface="Helvetica Light"/>
                        </a:rPr>
                        <a:t>Assistance in check-ins or continued comms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6212">
                <a:tc>
                  <a:txBody>
                    <a:bodyPr/>
                    <a:lstStyle/>
                    <a:p>
                      <a:pPr algn="l">
                        <a:defRPr sz="800" b="1">
                          <a:latin typeface="+mj-lt"/>
                          <a:ea typeface="+mj-ea"/>
                          <a:cs typeface="+mj-cs"/>
                          <a:sym typeface="Helvetica"/>
                        </a:defRPr>
                      </a:pPr>
                      <a:r>
                        <a:rPr lang="en-US" dirty="0">
                          <a:latin typeface="Helvetica Light"/>
                        </a:rPr>
                        <a:t>Would likely be greatly appreciated</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4625">
                <a:tc>
                  <a:txBody>
                    <a:bodyPr/>
                    <a:lstStyle/>
                    <a:p>
                      <a:pPr algn="l">
                        <a:defRPr sz="800" b="1">
                          <a:latin typeface="+mj-lt"/>
                          <a:ea typeface="+mj-ea"/>
                          <a:cs typeface="+mj-cs"/>
                          <a:sym typeface="Helvetica"/>
                        </a:defRPr>
                      </a:pPr>
                      <a:r>
                        <a:rPr lang="en-US" dirty="0">
                          <a:latin typeface="Helvetica Light"/>
                        </a:rPr>
                        <a:t>Central place for exercises, rather than just a written prescription may be highly valuable in assisting patients.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6212">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174625">
                <a:tc>
                  <a:txBody>
                    <a:bodyPr/>
                    <a:lstStyle/>
                    <a:p>
                      <a:pPr algn="l">
                        <a:defRPr sz="800" b="1">
                          <a:latin typeface="+mj-lt"/>
                          <a:ea typeface="+mj-ea"/>
                          <a:cs typeface="+mj-cs"/>
                          <a:sym typeface="Helvetica"/>
                        </a:defRPr>
                      </a:pP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bl>
          </a:graphicData>
        </a:graphic>
      </p:graphicFrame>
      <p:grpSp>
        <p:nvGrpSpPr>
          <p:cNvPr id="193" name="Group"/>
          <p:cNvGrpSpPr/>
          <p:nvPr/>
        </p:nvGrpSpPr>
        <p:grpSpPr>
          <a:xfrm>
            <a:off x="8366125" y="4583112"/>
            <a:ext cx="500064" cy="368714"/>
            <a:chOff x="0" y="0"/>
            <a:chExt cx="500063" cy="368712"/>
          </a:xfrm>
        </p:grpSpPr>
        <p:pic>
          <p:nvPicPr>
            <p:cNvPr id="191" name="Image" descr="Image"/>
            <p:cNvPicPr>
              <a:picLocks noChangeAspect="1"/>
            </p:cNvPicPr>
            <p:nvPr/>
          </p:nvPicPr>
          <p:blipFill>
            <a:blip r:embed="rId3"/>
            <a:stretch>
              <a:fillRect/>
            </a:stretch>
          </p:blipFill>
          <p:spPr>
            <a:xfrm>
              <a:off x="0" y="0"/>
              <a:ext cx="419462" cy="352425"/>
            </a:xfrm>
            <a:prstGeom prst="rect">
              <a:avLst/>
            </a:prstGeom>
            <a:ln w="12700" cap="flat">
              <a:noFill/>
              <a:miter lim="400000"/>
            </a:ln>
            <a:effectLst/>
          </p:spPr>
        </p:pic>
        <p:sp>
          <p:nvSpPr>
            <p:cNvPr id="192" name="1"/>
            <p:cNvSpPr txBox="1"/>
            <p:nvPr/>
          </p:nvSpPr>
          <p:spPr>
            <a:xfrm>
              <a:off x="338858" y="176211"/>
              <a:ext cx="161205" cy="192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2749" tIns="32749" rIns="32749" bIns="32749" numCol="1" anchor="t">
              <a:spAutoFit/>
            </a:bodyPr>
            <a:lstStyle>
              <a:lvl1pPr>
                <a:defRPr sz="800" b="1">
                  <a:latin typeface="+mj-lt"/>
                  <a:ea typeface="+mj-ea"/>
                  <a:cs typeface="+mj-cs"/>
                  <a:sym typeface="Helvetica"/>
                </a:defRPr>
              </a:lvl1pPr>
            </a:lstStyle>
            <a:p>
              <a:r>
                <a:rPr dirty="0"/>
                <a:t>1</a:t>
              </a:r>
            </a:p>
          </p:txBody>
        </p:sp>
      </p:grpSp>
      <p:sp>
        <p:nvSpPr>
          <p:cNvPr id="194" name="Team"/>
          <p:cNvSpPr txBox="1"/>
          <p:nvPr/>
        </p:nvSpPr>
        <p:spPr>
          <a:xfrm>
            <a:off x="2568575" y="2933699"/>
            <a:ext cx="692150" cy="3987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b="1">
                <a:latin typeface="+mj-lt"/>
                <a:ea typeface="+mj-ea"/>
                <a:cs typeface="+mj-cs"/>
                <a:sym typeface="Helvetica"/>
              </a:defRPr>
            </a:lvl1pPr>
          </a:lstStyle>
          <a:p>
            <a:r>
              <a:rPr dirty="0"/>
              <a:t>Team</a:t>
            </a:r>
          </a:p>
        </p:txBody>
      </p:sp>
      <p:grpSp>
        <p:nvGrpSpPr>
          <p:cNvPr id="197" name="Group"/>
          <p:cNvGrpSpPr/>
          <p:nvPr/>
        </p:nvGrpSpPr>
        <p:grpSpPr>
          <a:xfrm>
            <a:off x="2371725" y="30162"/>
            <a:ext cx="1195389" cy="398752"/>
            <a:chOff x="0" y="0"/>
            <a:chExt cx="1195388" cy="398750"/>
          </a:xfrm>
        </p:grpSpPr>
        <p:sp>
          <p:nvSpPr>
            <p:cNvPr id="195" name="Rectangle"/>
            <p:cNvSpPr/>
            <p:nvPr/>
          </p:nvSpPr>
          <p:spPr>
            <a:xfrm>
              <a:off x="0" y="0"/>
              <a:ext cx="1195388" cy="352425"/>
            </a:xfrm>
            <a:prstGeom prst="rect">
              <a:avLst/>
            </a:prstGeom>
            <a:solidFill>
              <a:srgbClr val="FFFFFF"/>
            </a:solidFill>
            <a:ln w="12700" cap="flat">
              <a:noFill/>
              <a:miter lim="400000"/>
            </a:ln>
            <a:effectLst/>
          </p:spPr>
          <p:txBody>
            <a:bodyPr wrap="square" lIns="45719" tIns="45719" rIns="45719" bIns="45719" numCol="1" anchor="t">
              <a:noAutofit/>
            </a:bodyPr>
            <a:lstStyle/>
            <a:p>
              <a:pPr algn="ctr">
                <a:defRPr b="1">
                  <a:latin typeface="+mj-lt"/>
                  <a:ea typeface="+mj-ea"/>
                  <a:cs typeface="+mj-cs"/>
                  <a:sym typeface="Helvetica"/>
                </a:defRPr>
              </a:pPr>
              <a:endParaRPr dirty="0"/>
            </a:p>
          </p:txBody>
        </p:sp>
        <p:sp>
          <p:nvSpPr>
            <p:cNvPr id="196" name="Interview 1"/>
            <p:cNvSpPr txBox="1"/>
            <p:nvPr/>
          </p:nvSpPr>
          <p:spPr>
            <a:xfrm>
              <a:off x="0" y="0"/>
              <a:ext cx="1195388" cy="3987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lgn="ctr">
                <a:defRPr b="1">
                  <a:latin typeface="+mj-lt"/>
                  <a:ea typeface="+mj-ea"/>
                  <a:cs typeface="+mj-cs"/>
                  <a:sym typeface="Helvetica"/>
                </a:defRPr>
              </a:lvl1pPr>
            </a:lstStyle>
            <a:p>
              <a:r>
                <a:rPr dirty="0"/>
                <a:t>Interview 1</a:t>
              </a:r>
            </a:p>
          </p:txBody>
        </p:sp>
      </p:grpSp>
      <p:pic>
        <p:nvPicPr>
          <p:cNvPr id="198" name="image.png" descr="image.png"/>
          <p:cNvPicPr>
            <a:picLocks noChangeAspect="1"/>
          </p:cNvPicPr>
          <p:nvPr/>
        </p:nvPicPr>
        <p:blipFill>
          <a:blip r:embed="rId4"/>
          <a:stretch>
            <a:fillRect/>
          </a:stretch>
        </p:blipFill>
        <p:spPr>
          <a:xfrm>
            <a:off x="8067675" y="0"/>
            <a:ext cx="1096963" cy="796925"/>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B3E3FF"/>
            </a:gs>
            <a:gs pos="16999">
              <a:srgbClr val="8CD5FF"/>
            </a:gs>
            <a:gs pos="25999">
              <a:srgbClr val="8CD5FF"/>
            </a:gs>
            <a:gs pos="100000">
              <a:srgbClr val="F2FAFF"/>
            </a:gs>
          </a:gsLst>
          <a:lin ang="16200000" scaled="0"/>
        </a:gradFill>
        <a:effectLst/>
      </p:bgPr>
    </p:bg>
    <p:spTree>
      <p:nvGrpSpPr>
        <p:cNvPr id="1" name=""/>
        <p:cNvGrpSpPr/>
        <p:nvPr/>
      </p:nvGrpSpPr>
      <p:grpSpPr>
        <a:xfrm>
          <a:off x="0" y="0"/>
          <a:ext cx="0" cy="0"/>
          <a:chOff x="0" y="0"/>
          <a:chExt cx="0" cy="0"/>
        </a:xfrm>
      </p:grpSpPr>
      <p:graphicFrame>
        <p:nvGraphicFramePr>
          <p:cNvPr id="203" name="Table 1"/>
          <p:cNvGraphicFramePr/>
          <p:nvPr>
            <p:extLst>
              <p:ext uri="{D42A27DB-BD31-4B8C-83A1-F6EECF244321}">
                <p14:modId xmlns:p14="http://schemas.microsoft.com/office/powerpoint/2010/main" val="3648669837"/>
              </p:ext>
            </p:extLst>
          </p:nvPr>
        </p:nvGraphicFramePr>
        <p:xfrm>
          <a:off x="892175" y="1149350"/>
          <a:ext cx="7013574" cy="3090860"/>
        </p:xfrm>
        <a:graphic>
          <a:graphicData uri="http://schemas.openxmlformats.org/drawingml/2006/table">
            <a:tbl>
              <a:tblPr>
                <a:tableStyleId>{4C3C2611-4C71-4FC5-86AE-919BDF0F9419}</a:tableStyleId>
              </a:tblPr>
              <a:tblGrid>
                <a:gridCol w="3130550">
                  <a:extLst>
                    <a:ext uri="{9D8B030D-6E8A-4147-A177-3AD203B41FA5}">
                      <a16:colId xmlns:a16="http://schemas.microsoft.com/office/drawing/2014/main" val="20000"/>
                    </a:ext>
                  </a:extLst>
                </a:gridCol>
                <a:gridCol w="1252537">
                  <a:extLst>
                    <a:ext uri="{9D8B030D-6E8A-4147-A177-3AD203B41FA5}">
                      <a16:colId xmlns:a16="http://schemas.microsoft.com/office/drawing/2014/main" val="20001"/>
                    </a:ext>
                  </a:extLst>
                </a:gridCol>
                <a:gridCol w="1125537">
                  <a:extLst>
                    <a:ext uri="{9D8B030D-6E8A-4147-A177-3AD203B41FA5}">
                      <a16:colId xmlns:a16="http://schemas.microsoft.com/office/drawing/2014/main" val="20002"/>
                    </a:ext>
                  </a:extLst>
                </a:gridCol>
                <a:gridCol w="1504950">
                  <a:extLst>
                    <a:ext uri="{9D8B030D-6E8A-4147-A177-3AD203B41FA5}">
                      <a16:colId xmlns:a16="http://schemas.microsoft.com/office/drawing/2014/main" val="20003"/>
                    </a:ext>
                  </a:extLst>
                </a:gridCol>
              </a:tblGrid>
              <a:tr h="352425">
                <a:tc>
                  <a:txBody>
                    <a:bodyPr/>
                    <a:lstStyle/>
                    <a:p>
                      <a:pPr algn="l">
                        <a:defRPr sz="1800"/>
                      </a:pPr>
                      <a:r>
                        <a:rPr sz="1100" b="1" dirty="0">
                          <a:solidFill>
                            <a:srgbClr val="FFFFFF"/>
                          </a:solidFill>
                          <a:latin typeface="+mj-lt"/>
                          <a:ea typeface="+mj-ea"/>
                          <a:cs typeface="+mj-cs"/>
                          <a:sym typeface="Helvetica"/>
                        </a:rPr>
                        <a:t>Did you…</a:t>
                      </a:r>
                    </a:p>
                  </a:txBody>
                  <a:tcPr marL="26800" marR="26800" marT="26800" marB="26800" horzOverflow="overflow">
                    <a:lnL>
                      <a:solidFill>
                        <a:srgbClr val="515151"/>
                      </a:solidFill>
                    </a:lnL>
                    <a:lnR>
                      <a:solidFill>
                        <a:srgbClr val="000000"/>
                      </a:solidFill>
                    </a:lnR>
                    <a:lnT>
                      <a:solidFill>
                        <a:srgbClr val="515151"/>
                      </a:solidFill>
                    </a:lnT>
                    <a:lnB w="12700">
                      <a:solidFill>
                        <a:srgbClr val="515151"/>
                      </a:solidFill>
                    </a:lnB>
                    <a:solidFill>
                      <a:srgbClr val="D6D5D5"/>
                    </a:solidFill>
                  </a:tcPr>
                </a:tc>
                <a:tc gridSpan="3">
                  <a:txBody>
                    <a:bodyPr/>
                    <a:lstStyle/>
                    <a:p>
                      <a:pPr algn="ctr">
                        <a:defRPr sz="1800"/>
                      </a:pPr>
                      <a:r>
                        <a:rPr sz="1100" b="1" dirty="0">
                          <a:solidFill>
                            <a:srgbClr val="FFFFFF"/>
                          </a:solidFill>
                          <a:latin typeface="+mj-lt"/>
                          <a:ea typeface="+mj-ea"/>
                          <a:cs typeface="+mj-cs"/>
                          <a:sym typeface="Helvetica"/>
                        </a:rPr>
                        <a:t>circle one</a:t>
                      </a:r>
                    </a:p>
                  </a:txBody>
                  <a:tcPr marL="26800" marR="26800" marT="26800" marB="26800" horzOverflow="overflow">
                    <a:lnL>
                      <a:solidFill>
                        <a:srgbClr val="000000"/>
                      </a:solidFill>
                    </a:lnL>
                    <a:lnR>
                      <a:solidFill>
                        <a:srgbClr val="515151"/>
                      </a:solidFill>
                    </a:lnR>
                    <a:lnT>
                      <a:solidFill>
                        <a:srgbClr val="515151"/>
                      </a:solidFill>
                    </a:lnT>
                    <a:lnB w="12700">
                      <a:solidFill>
                        <a:srgbClr val="515151"/>
                      </a:solid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2425">
                <a:tc>
                  <a:txBody>
                    <a:bodyPr/>
                    <a:lstStyle/>
                    <a:p>
                      <a:pPr algn="l">
                        <a:defRPr sz="1800"/>
                      </a:pPr>
                      <a:r>
                        <a:rPr sz="1100" b="1" dirty="0">
                          <a:latin typeface="+mj-lt"/>
                          <a:ea typeface="+mj-ea"/>
                          <a:cs typeface="+mj-cs"/>
                          <a:sym typeface="Helvetica"/>
                        </a:rPr>
                        <a:t>set up interview, giving context?</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Somewhat</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Yes</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Definitely!</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92D050"/>
                    </a:solidFill>
                  </a:tcPr>
                </a:tc>
                <a:extLst>
                  <a:ext uri="{0D108BD9-81ED-4DB2-BD59-A6C34878D82A}">
                    <a16:rowId xmlns:a16="http://schemas.microsoft.com/office/drawing/2014/main" val="10001"/>
                  </a:ext>
                </a:extLst>
              </a:tr>
              <a:tr h="354012">
                <a:tc>
                  <a:txBody>
                    <a:bodyPr/>
                    <a:lstStyle/>
                    <a:p>
                      <a:pPr algn="l">
                        <a:defRPr sz="1800"/>
                      </a:pPr>
                      <a:r>
                        <a:rPr sz="1100" b="1" dirty="0">
                          <a:latin typeface="+mj-lt"/>
                          <a:ea typeface="+mj-ea"/>
                          <a:cs typeface="+mj-cs"/>
                          <a:sym typeface="Helvetica"/>
                        </a:rPr>
                        <a:t>make them comfortable?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Somewhat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Yes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tc>
                  <a:txBody>
                    <a:bodyPr/>
                    <a:lstStyle/>
                    <a:p>
                      <a:pPr algn="l">
                        <a:defRPr sz="1800"/>
                      </a:pPr>
                      <a:r>
                        <a:rPr sz="1100" b="1" dirty="0">
                          <a:latin typeface="+mj-lt"/>
                          <a:ea typeface="+mj-ea"/>
                          <a:cs typeface="+mj-cs"/>
                          <a:sym typeface="Helvetica"/>
                        </a:rPr>
                        <a:t>Definitely!</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2"/>
                  </a:ext>
                </a:extLst>
              </a:tr>
              <a:tr h="388937">
                <a:tc>
                  <a:txBody>
                    <a:bodyPr/>
                    <a:lstStyle/>
                    <a:p>
                      <a:pPr algn="l">
                        <a:defRPr sz="1800"/>
                      </a:pPr>
                      <a:r>
                        <a:rPr sz="1100" b="1" dirty="0">
                          <a:latin typeface="+mj-lt"/>
                          <a:ea typeface="+mj-ea"/>
                          <a:cs typeface="+mj-cs"/>
                          <a:sym typeface="Helvetica"/>
                        </a:rPr>
                        <a:t>ask open-ended questions?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extLst>
                  <a:ext uri="{0D108BD9-81ED-4DB2-BD59-A6C34878D82A}">
                    <a16:rowId xmlns:a16="http://schemas.microsoft.com/office/drawing/2014/main" val="10003"/>
                  </a:ext>
                </a:extLst>
              </a:tr>
              <a:tr h="388937">
                <a:tc>
                  <a:txBody>
                    <a:bodyPr/>
                    <a:lstStyle/>
                    <a:p>
                      <a:pPr algn="l">
                        <a:defRPr sz="1800"/>
                      </a:pPr>
                      <a:r>
                        <a:rPr sz="1100" b="1" dirty="0">
                          <a:latin typeface="+mj-lt"/>
                          <a:ea typeface="+mj-ea"/>
                          <a:cs typeface="+mj-cs"/>
                          <a:sym typeface="Helvetica"/>
                        </a:rPr>
                        <a:t>Ask follow-ups?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extLst>
                  <a:ext uri="{0D108BD9-81ED-4DB2-BD59-A6C34878D82A}">
                    <a16:rowId xmlns:a16="http://schemas.microsoft.com/office/drawing/2014/main" val="10004"/>
                  </a:ext>
                </a:extLst>
              </a:tr>
              <a:tr h="388937">
                <a:tc>
                  <a:txBody>
                    <a:bodyPr/>
                    <a:lstStyle/>
                    <a:p>
                      <a:pPr algn="l">
                        <a:defRPr sz="1800"/>
                      </a:pPr>
                      <a:r>
                        <a:rPr sz="1100" b="1" dirty="0">
                          <a:latin typeface="+mj-lt"/>
                          <a:ea typeface="+mj-ea"/>
                          <a:cs typeface="+mj-cs"/>
                          <a:sym typeface="Helvetica"/>
                        </a:rPr>
                        <a:t>Ask how they felt about things?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5"/>
                  </a:ext>
                </a:extLst>
              </a:tr>
              <a:tr h="388937">
                <a:tc>
                  <a:txBody>
                    <a:bodyPr/>
                    <a:lstStyle/>
                    <a:p>
                      <a:pPr algn="l">
                        <a:defRPr sz="1800"/>
                      </a:pPr>
                      <a:r>
                        <a:rPr sz="1100" b="1" dirty="0">
                          <a:latin typeface="+mj-lt"/>
                          <a:ea typeface="+mj-ea"/>
                          <a:cs typeface="+mj-cs"/>
                          <a:sym typeface="Helvetica"/>
                        </a:rPr>
                        <a:t>Ask for stories, or to describe the steps of a job?</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6"/>
                  </a:ext>
                </a:extLst>
              </a:tr>
              <a:tr h="476250">
                <a:tc>
                  <a:txBody>
                    <a:bodyPr/>
                    <a:lstStyle/>
                    <a:p>
                      <a:pPr algn="l">
                        <a:defRPr sz="1800"/>
                      </a:pPr>
                      <a:r>
                        <a:rPr sz="1100" b="1" dirty="0">
                          <a:latin typeface="+mj-lt"/>
                          <a:ea typeface="+mj-ea"/>
                          <a:cs typeface="+mj-cs"/>
                          <a:sym typeface="Helvetica"/>
                        </a:rPr>
                        <a:t>React to non-verbal clues they were uncomfortable, wanted to say more, etc.?</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tc>
                  <a:txBody>
                    <a:bodyPr/>
                    <a:lstStyle/>
                    <a:p>
                      <a:pPr algn="l">
                        <a:defRPr sz="1800"/>
                      </a:pPr>
                      <a:r>
                        <a:rPr sz="1100" b="1" dirty="0">
                          <a:latin typeface="+mj-lt"/>
                          <a:ea typeface="+mj-ea"/>
                          <a:cs typeface="+mj-cs"/>
                          <a:sym typeface="Helvetica"/>
                        </a:rPr>
                        <a:t>Always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7"/>
                  </a:ext>
                </a:extLst>
              </a:tr>
            </a:tbl>
          </a:graphicData>
        </a:graphic>
      </p:graphicFrame>
      <p:sp>
        <p:nvSpPr>
          <p:cNvPr id="204" name="Interview Skills:  Fill this out after empathy map interview for your group.  Highlight your choices."/>
          <p:cNvSpPr txBox="1"/>
          <p:nvPr/>
        </p:nvSpPr>
        <p:spPr>
          <a:xfrm>
            <a:off x="892175" y="597487"/>
            <a:ext cx="7013575" cy="71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100" b="1">
                <a:latin typeface="+mj-lt"/>
                <a:ea typeface="+mj-ea"/>
                <a:cs typeface="+mj-cs"/>
                <a:sym typeface="Helvetica"/>
              </a:defRPr>
            </a:pPr>
            <a:endParaRPr dirty="0"/>
          </a:p>
          <a:p>
            <a:pPr>
              <a:defRPr sz="1100" b="1">
                <a:latin typeface="+mj-lt"/>
                <a:ea typeface="+mj-ea"/>
                <a:cs typeface="+mj-cs"/>
                <a:sym typeface="Helvetica"/>
              </a:defRPr>
            </a:pPr>
            <a:r>
              <a:rPr dirty="0"/>
              <a:t>Interview Skills:  Fill this out after empathy map interview for your group.  Highlight your choices.</a:t>
            </a:r>
          </a:p>
          <a:p>
            <a:pPr>
              <a:defRPr sz="1100"/>
            </a:pPr>
            <a:endParaRPr dirty="0"/>
          </a:p>
        </p:txBody>
      </p:sp>
      <p:pic>
        <p:nvPicPr>
          <p:cNvPr id="205" name="image.png" descr="image.png"/>
          <p:cNvPicPr>
            <a:picLocks noChangeAspect="1"/>
          </p:cNvPicPr>
          <p:nvPr/>
        </p:nvPicPr>
        <p:blipFill>
          <a:blip r:embed="rId2"/>
          <a:stretch>
            <a:fillRect/>
          </a:stretch>
        </p:blipFill>
        <p:spPr>
          <a:xfrm>
            <a:off x="7883525" y="74612"/>
            <a:ext cx="1098550" cy="796926"/>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Revised Questions"/>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dirty="0"/>
              <a:t>Revised Questions</a:t>
            </a:r>
          </a:p>
        </p:txBody>
      </p:sp>
      <p:sp>
        <p:nvSpPr>
          <p:cNvPr id="208" name="Q1…"/>
          <p:cNvSpPr txBox="1">
            <a:spLocks noGrp="1"/>
          </p:cNvSpPr>
          <p:nvPr>
            <p:ph type="body" idx="4294967295"/>
          </p:nvPr>
        </p:nvSpPr>
        <p:spPr>
          <a:xfrm>
            <a:off x="669925" y="1163100"/>
            <a:ext cx="8116888" cy="3732213"/>
          </a:xfrm>
          <a:prstGeom prst="rect">
            <a:avLst/>
          </a:prstGeom>
        </p:spPr>
        <p:txBody>
          <a:bodyPr lIns="32749" tIns="32749" rIns="32749" bIns="32749">
            <a:normAutofit fontScale="70000" lnSpcReduction="20000"/>
          </a:bodyPr>
          <a:lstStyle/>
          <a:p>
            <a:pPr>
              <a:spcBef>
                <a:spcPts val="2700"/>
              </a:spcBef>
              <a:buClr>
                <a:srgbClr val="000000"/>
              </a:buClr>
              <a:buSzPts val="1400"/>
              <a:defRPr b="1">
                <a:latin typeface="+mj-lt"/>
                <a:ea typeface="+mj-ea"/>
                <a:cs typeface="+mj-cs"/>
                <a:sym typeface="Helvetica"/>
              </a:defRPr>
            </a:pPr>
            <a:r>
              <a:rPr lang="en-US" dirty="0"/>
              <a:t>Revise your questions based on what you found out in your practice interview.</a:t>
            </a:r>
            <a:endParaRPr dirty="0"/>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We’re thinking of focusing on lower-body, single joint exercises. What would you recommend we start with for our proof of concept?</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Are there specific lower-body or posture exercises, not stretches, you would recommend us focusing on?</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In what ways would you be comfortable being involved: helping us define exercises, reviewing our approach, or other ways? This would likely entail a weekly meeting and possible daily messages through Microsoft Teams.</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What specific details of an exercise should we focus on? For example, spasticity or hyper-mobility.</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What deviations from 'proper' form should we look for? What are the issues you look for in meetings with patients?</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What are some key details that you look for in proper exercises overall? What are good signs that correlate with patient recovery performance?</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What are some key indicators that you look for in proper exercises specifically in regards to form? How do these correlate with patient recovery performance?</a:t>
            </a:r>
          </a:p>
          <a:p>
            <a:pPr marL="800100" indent="-342900">
              <a:spcBef>
                <a:spcPts val="1700"/>
              </a:spcBef>
              <a:buClr>
                <a:srgbClr val="000000"/>
              </a:buClr>
              <a:buSzPts val="1400"/>
              <a:buAutoNum type="arabicPeriod"/>
              <a:defRPr b="1">
                <a:latin typeface="+mj-lt"/>
                <a:ea typeface="+mj-ea"/>
                <a:cs typeface="+mj-cs"/>
                <a:sym typeface="Helvetica"/>
              </a:defRPr>
            </a:pPr>
            <a:r>
              <a:rPr lang="en-US" b="1" dirty="0">
                <a:sym typeface="Helvetica"/>
              </a:rPr>
              <a:t>How do you properly gauge time under tension for assigned exercises?</a:t>
            </a:r>
            <a:endParaRPr lang="en-CA" b="1" dirty="0">
              <a:sym typeface="Helvetica"/>
            </a:endParaRPr>
          </a:p>
        </p:txBody>
      </p:sp>
      <p:pic>
        <p:nvPicPr>
          <p:cNvPr id="209"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Revised Questions"/>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CA" dirty="0"/>
              <a:t>Interview Transcript</a:t>
            </a:r>
            <a:endParaRPr dirty="0"/>
          </a:p>
        </p:txBody>
      </p:sp>
      <p:sp>
        <p:nvSpPr>
          <p:cNvPr id="208" name="Q1…"/>
          <p:cNvSpPr txBox="1">
            <a:spLocks noGrp="1"/>
          </p:cNvSpPr>
          <p:nvPr>
            <p:ph type="body" idx="4294967295"/>
          </p:nvPr>
        </p:nvSpPr>
        <p:spPr>
          <a:xfrm>
            <a:off x="513556" y="1149032"/>
            <a:ext cx="8116888" cy="3732213"/>
          </a:xfrm>
          <a:prstGeom prst="rect">
            <a:avLst/>
          </a:prstGeom>
        </p:spPr>
        <p:txBody>
          <a:bodyPr lIns="32749" tIns="32749" rIns="32749" bIns="32749">
            <a:normAutofit fontScale="92500" lnSpcReduction="20000"/>
          </a:bodyPr>
          <a:lstStyle/>
          <a:p>
            <a:pPr marL="457200">
              <a:spcBef>
                <a:spcPts val="1700"/>
              </a:spcBef>
              <a:buClr>
                <a:srgbClr val="000000"/>
              </a:buClr>
              <a:buSzPts val="1400"/>
              <a:defRPr b="1">
                <a:latin typeface="+mj-lt"/>
                <a:ea typeface="+mj-ea"/>
                <a:cs typeface="+mj-cs"/>
                <a:sym typeface="Helvetica"/>
              </a:defRPr>
            </a:pPr>
            <a:r>
              <a:rPr lang="en-US" dirty="0">
                <a:latin typeface="Helvetica Light"/>
                <a:sym typeface="Helvetica"/>
              </a:rPr>
              <a:t>- Recommend focusing scope to something like knee, where there's 1 plane of movement or your elbow (straight or bent)</a:t>
            </a:r>
            <a:br>
              <a:rPr lang="en-US" b="1" dirty="0">
                <a:latin typeface="Helvetica Light"/>
                <a:sym typeface="Helvetica"/>
              </a:rPr>
            </a:br>
            <a:r>
              <a:rPr lang="en-US" dirty="0">
                <a:latin typeface="Helvetica Light"/>
                <a:sym typeface="Helvetica"/>
              </a:rPr>
              <a:t>- We chose to focus on a single leg specifically at the knee with one range of motion.</a:t>
            </a:r>
            <a:br>
              <a:rPr lang="en-US" dirty="0">
                <a:latin typeface="Helvetica Light"/>
                <a:sym typeface="Helvetica"/>
              </a:rPr>
            </a:br>
            <a:r>
              <a:rPr lang="en-US" dirty="0">
                <a:latin typeface="Helvetica Light"/>
                <a:sym typeface="Helvetica"/>
              </a:rPr>
              <a:t>-Really depends on the population</a:t>
            </a:r>
            <a:br>
              <a:rPr lang="en-US" b="1" dirty="0">
                <a:latin typeface="Helvetica Light"/>
                <a:sym typeface="Helvetica"/>
              </a:rPr>
            </a:br>
            <a:r>
              <a:rPr lang="en-US" dirty="0">
                <a:latin typeface="Helvetica Light"/>
                <a:sym typeface="Helvetica"/>
              </a:rPr>
              <a:t>-would recommend post-operative as its most standardized, with any other rehab everyone does something different, but for post-op, you most likely do the same types of exercise</a:t>
            </a:r>
            <a:br>
              <a:rPr lang="en-US" b="1" dirty="0">
                <a:latin typeface="Helvetica Light"/>
                <a:sym typeface="Helvetica"/>
              </a:rPr>
            </a:br>
            <a:r>
              <a:rPr lang="en-US" dirty="0">
                <a:latin typeface="Helvetica Light"/>
                <a:sym typeface="Helvetica"/>
              </a:rPr>
              <a:t>-exercises to recommend include: straight leg raise, knee slide.</a:t>
            </a:r>
            <a:br>
              <a:rPr lang="en-US" dirty="0">
                <a:latin typeface="Helvetica Light"/>
                <a:sym typeface="Helvetica"/>
              </a:rPr>
            </a:br>
            <a:r>
              <a:rPr lang="en-US" dirty="0">
                <a:latin typeface="Helvetica Light"/>
                <a:sym typeface="Helvetica"/>
              </a:rPr>
              <a:t>-Kevin is pretty flexible, available to meet once a week or bi-weekly, just let him know!</a:t>
            </a:r>
            <a:br>
              <a:rPr lang="en-US" dirty="0">
                <a:latin typeface="Helvetica Light"/>
                <a:sym typeface="Helvetica"/>
              </a:rPr>
            </a:br>
            <a:r>
              <a:rPr lang="en-US" dirty="0">
                <a:latin typeface="Helvetica Light"/>
                <a:sym typeface="Helvetica"/>
              </a:rPr>
              <a:t>-narrow scope down even more by just focusing on just stretching the knee and that range of motion.</a:t>
            </a:r>
            <a:br>
              <a:rPr lang="en-US" dirty="0">
                <a:latin typeface="Helvetica Light"/>
                <a:sym typeface="Helvetica"/>
              </a:rPr>
            </a:br>
            <a:r>
              <a:rPr lang="en-US" dirty="0">
                <a:latin typeface="Helvetica Light"/>
                <a:sym typeface="Helvetica"/>
              </a:rPr>
              <a:t>-people usually don't push enough, if post surgery they might be scared to push</a:t>
            </a:r>
            <a:br>
              <a:rPr lang="en-US" b="1" dirty="0">
                <a:latin typeface="Helvetica Light"/>
                <a:sym typeface="Helvetica"/>
              </a:rPr>
            </a:br>
            <a:r>
              <a:rPr lang="en-US" dirty="0">
                <a:latin typeface="Helvetica Light"/>
                <a:sym typeface="Helvetica"/>
              </a:rPr>
              <a:t>-measure their knee, knee replacements if they're not bending enough tell them to push a little harder</a:t>
            </a:r>
            <a:br>
              <a:rPr lang="en-US" dirty="0">
                <a:latin typeface="Helvetica Light"/>
                <a:sym typeface="Helvetica"/>
              </a:rPr>
            </a:br>
            <a:r>
              <a:rPr lang="en-US" dirty="0">
                <a:latin typeface="Helvetica Light"/>
                <a:sym typeface="Helvetica"/>
              </a:rPr>
              <a:t>-everything is standardized in the first few weeks, but from there it is for a free for all, it is dependent with physio and patient</a:t>
            </a:r>
            <a:br>
              <a:rPr lang="en-US" dirty="0">
                <a:latin typeface="Helvetica Light"/>
                <a:sym typeface="Helvetica"/>
              </a:rPr>
            </a:br>
            <a:r>
              <a:rPr lang="en-US" dirty="0">
                <a:latin typeface="Helvetica Light"/>
                <a:sym typeface="Helvetica"/>
              </a:rPr>
              <a:t>-it would be very complicated, better to just track it and give feedback</a:t>
            </a:r>
            <a:br>
              <a:rPr lang="en-US" dirty="0">
                <a:latin typeface="Helvetica Light"/>
                <a:sym typeface="Helvetica"/>
              </a:rPr>
            </a:br>
            <a:r>
              <a:rPr lang="en-US" dirty="0">
                <a:latin typeface="Helvetica Light"/>
                <a:sym typeface="Helvetica"/>
              </a:rPr>
              <a:t>-Kevin would recommend using range of motion instead of strength as strength would be too hard to measure. range of motion could be measured by having the first bit of range and then seeing their next range of motion to see if they pushed more.</a:t>
            </a:r>
            <a:br>
              <a:rPr lang="en-US" dirty="0">
                <a:latin typeface="Helvetica Light"/>
                <a:sym typeface="Helvetica"/>
              </a:rPr>
            </a:br>
            <a:r>
              <a:rPr lang="en-US" dirty="0">
                <a:latin typeface="Helvetica Light"/>
                <a:sym typeface="Helvetica"/>
              </a:rPr>
              <a:t>-patients don't know how much they should be stretching, so focusing on this would actually be very relevant</a:t>
            </a:r>
            <a:br>
              <a:rPr lang="en-US" b="1" dirty="0">
                <a:latin typeface="Helvetica Light"/>
                <a:sym typeface="Helvetica"/>
              </a:rPr>
            </a:br>
            <a:r>
              <a:rPr lang="en-US" dirty="0">
                <a:latin typeface="Helvetica Light"/>
                <a:sym typeface="Helvetica"/>
              </a:rPr>
              <a:t>-TUT would be easier to measure than muscle activation, it would still be more complicated, there is no set TUT it varies, but you could have it as a set TUT</a:t>
            </a:r>
            <a:br>
              <a:rPr lang="en-US" b="1" dirty="0">
                <a:latin typeface="Helvetica Light"/>
                <a:sym typeface="Helvetica"/>
              </a:rPr>
            </a:br>
            <a:r>
              <a:rPr lang="en-US" dirty="0">
                <a:latin typeface="Helvetica Light"/>
                <a:sym typeface="Helvetica"/>
              </a:rPr>
              <a:t>-for knee: measured by range of motion and how hard they are pushing</a:t>
            </a:r>
          </a:p>
        </p:txBody>
      </p:sp>
      <p:pic>
        <p:nvPicPr>
          <p:cNvPr id="209"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extLst>
      <p:ext uri="{BB962C8B-B14F-4D97-AF65-F5344CB8AC3E}">
        <p14:creationId xmlns:p14="http://schemas.microsoft.com/office/powerpoint/2010/main" val="252769803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3" name="Image" descr="Image"/>
          <p:cNvPicPr>
            <a:picLocks noChangeAspect="1"/>
          </p:cNvPicPr>
          <p:nvPr/>
        </p:nvPicPr>
        <p:blipFill>
          <a:blip r:embed="rId2"/>
          <a:stretch>
            <a:fillRect/>
          </a:stretch>
        </p:blipFill>
        <p:spPr>
          <a:xfrm>
            <a:off x="60325" y="0"/>
            <a:ext cx="5430838" cy="5143500"/>
          </a:xfrm>
          <a:prstGeom prst="rect">
            <a:avLst/>
          </a:prstGeom>
          <a:ln w="12700">
            <a:miter lim="400000"/>
          </a:ln>
        </p:spPr>
      </p:pic>
      <p:sp>
        <p:nvSpPr>
          <p:cNvPr id="214" name="Empathy Map:…"/>
          <p:cNvSpPr txBox="1"/>
          <p:nvPr/>
        </p:nvSpPr>
        <p:spPr>
          <a:xfrm>
            <a:off x="6116637" y="938799"/>
            <a:ext cx="2971801" cy="326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000" b="1">
                <a:latin typeface="+mj-lt"/>
                <a:ea typeface="+mj-ea"/>
                <a:cs typeface="+mj-cs"/>
                <a:sym typeface="Helvetica"/>
              </a:defRPr>
            </a:pPr>
            <a:r>
              <a:rPr dirty="0"/>
              <a:t>Empathy Map:</a:t>
            </a:r>
          </a:p>
          <a:p>
            <a:pPr>
              <a:defRPr sz="1000" b="1">
                <a:latin typeface="+mj-lt"/>
                <a:ea typeface="+mj-ea"/>
                <a:cs typeface="+mj-cs"/>
                <a:sym typeface="Helvetica"/>
              </a:defRPr>
            </a:pPr>
            <a:endParaRPr dirty="0"/>
          </a:p>
          <a:p>
            <a:pPr>
              <a:defRPr sz="1000" b="1">
                <a:latin typeface="+mj-lt"/>
                <a:ea typeface="+mj-ea"/>
                <a:cs typeface="+mj-cs"/>
                <a:sym typeface="Helvetica"/>
              </a:defRPr>
            </a:pPr>
            <a:r>
              <a:rPr dirty="0">
                <a:latin typeface="+mn-ea"/>
              </a:rPr>
              <a:t>Use to take notes when interviewing/shadowing individual users, and again when creating a fictional target user.  Have one </a:t>
            </a:r>
            <a:r>
              <a:rPr lang="en-US" dirty="0">
                <a:latin typeface="+mn-ea"/>
              </a:rPr>
              <a:t>or two people</a:t>
            </a:r>
            <a:r>
              <a:rPr dirty="0">
                <a:latin typeface="+mn-ea"/>
              </a:rPr>
              <a:t> do the talking, and </a:t>
            </a:r>
            <a:r>
              <a:rPr lang="en-US" dirty="0">
                <a:latin typeface="+mn-ea"/>
              </a:rPr>
              <a:t>at least two others </a:t>
            </a:r>
            <a:r>
              <a:rPr dirty="0">
                <a:latin typeface="+mn-ea"/>
              </a:rPr>
              <a:t>take notes, but steer the conversation to cover all 4 areas.</a:t>
            </a:r>
          </a:p>
          <a:p>
            <a:pPr>
              <a:defRPr sz="1000" b="1">
                <a:latin typeface="+mj-lt"/>
                <a:ea typeface="+mj-ea"/>
                <a:cs typeface="+mj-cs"/>
                <a:sym typeface="Helvetica"/>
              </a:defRPr>
            </a:pPr>
            <a:endParaRPr dirty="0">
              <a:latin typeface="+mn-ea"/>
            </a:endParaRPr>
          </a:p>
          <a:p>
            <a:pPr>
              <a:defRPr sz="1000" b="1">
                <a:latin typeface="+mj-lt"/>
                <a:ea typeface="+mj-ea"/>
                <a:cs typeface="+mj-cs"/>
                <a:sym typeface="Helvetica"/>
              </a:defRPr>
            </a:pPr>
            <a:r>
              <a:rPr lang="en-US" dirty="0">
                <a:latin typeface="+mn-ea"/>
              </a:rPr>
              <a:t>S</a:t>
            </a:r>
            <a:r>
              <a:rPr dirty="0">
                <a:latin typeface="+mn-ea"/>
              </a:rPr>
              <a:t>ay:  What they say in response to questions or volunteer.</a:t>
            </a:r>
          </a:p>
          <a:p>
            <a:pPr>
              <a:defRPr sz="1000" b="1">
                <a:latin typeface="+mj-lt"/>
                <a:ea typeface="+mj-ea"/>
                <a:cs typeface="+mj-cs"/>
                <a:sym typeface="Helvetica"/>
              </a:defRPr>
            </a:pPr>
            <a:r>
              <a:rPr dirty="0">
                <a:latin typeface="+mn-ea"/>
              </a:rPr>
              <a:t>think:  Things you infer about their knowledge or opinions, because they avoid a topic or direct answers, are surprised by or do not understand some questions.</a:t>
            </a:r>
          </a:p>
          <a:p>
            <a:pPr>
              <a:defRPr sz="1000" b="1">
                <a:latin typeface="+mj-lt"/>
                <a:ea typeface="+mj-ea"/>
                <a:cs typeface="+mj-cs"/>
                <a:sym typeface="Helvetica"/>
              </a:defRPr>
            </a:pPr>
            <a:r>
              <a:rPr dirty="0">
                <a:latin typeface="+mn-ea"/>
              </a:rPr>
              <a:t>do:  Steps they take in doing a task, either observed from shadowing, or noted when they describe how they do their work.</a:t>
            </a:r>
          </a:p>
          <a:p>
            <a:pPr>
              <a:defRPr sz="1000" b="1">
                <a:latin typeface="+mj-lt"/>
                <a:ea typeface="+mj-ea"/>
                <a:cs typeface="+mj-cs"/>
                <a:sym typeface="Helvetica"/>
              </a:defRPr>
            </a:pPr>
            <a:r>
              <a:rPr dirty="0">
                <a:latin typeface="+mn-ea"/>
              </a:rPr>
              <a:t>feel:  Things you infer about their feelings, such as whether they would enjoy using a proposed solution, or would prefer the way things work now.</a:t>
            </a:r>
          </a:p>
        </p:txBody>
      </p:sp>
      <p:graphicFrame>
        <p:nvGraphicFramePr>
          <p:cNvPr id="215" name="Table 1"/>
          <p:cNvGraphicFramePr/>
          <p:nvPr>
            <p:extLst>
              <p:ext uri="{D42A27DB-BD31-4B8C-83A1-F6EECF244321}">
                <p14:modId xmlns:p14="http://schemas.microsoft.com/office/powerpoint/2010/main" val="1240643899"/>
              </p:ext>
            </p:extLst>
          </p:nvPr>
        </p:nvGraphicFramePr>
        <p:xfrm>
          <a:off x="3765550" y="796925"/>
          <a:ext cx="2062162" cy="1906560"/>
        </p:xfrm>
        <a:graphic>
          <a:graphicData uri="http://schemas.openxmlformats.org/drawingml/2006/table">
            <a:tbl>
              <a:tblPr>
                <a:tableStyleId>{4C3C2611-4C71-4FC5-86AE-919BDF0F9419}</a:tableStyleId>
              </a:tblPr>
              <a:tblGrid>
                <a:gridCol w="2062162">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Limitations of technology and at-home video taking. Tried something like this before?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4625">
                <a:tc>
                  <a:txBody>
                    <a:bodyPr/>
                    <a:lstStyle/>
                    <a:p>
                      <a:pPr algn="l">
                        <a:defRPr sz="800" b="1">
                          <a:latin typeface="+mj-lt"/>
                          <a:ea typeface="+mj-ea"/>
                          <a:cs typeface="+mj-cs"/>
                          <a:sym typeface="Helvetica"/>
                        </a:defRPr>
                      </a:pPr>
                      <a:r>
                        <a:rPr lang="en-US" dirty="0">
                          <a:latin typeface="Helvetica Light"/>
                        </a:rPr>
                        <a:t>Easy to trivialize patients with similar exercises; many different movements and options.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6212">
                <a:tc>
                  <a:txBody>
                    <a:bodyPr/>
                    <a:lstStyle/>
                    <a:p>
                      <a:pPr algn="l">
                        <a:defRPr sz="800" b="1">
                          <a:latin typeface="+mj-lt"/>
                          <a:ea typeface="+mj-ea"/>
                          <a:cs typeface="+mj-cs"/>
                          <a:sym typeface="Helvetica"/>
                        </a:defRPr>
                      </a:pPr>
                      <a:r>
                        <a:rPr lang="en-US" dirty="0">
                          <a:latin typeface="Helvetica Light"/>
                        </a:rPr>
                        <a:t>Too many fields and too much information to possibly capture within a small solution.</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4625">
                <a:tc>
                  <a:txBody>
                    <a:bodyPr/>
                    <a:lstStyle/>
                    <a:p>
                      <a:pPr algn="l">
                        <a:defRPr sz="800" b="1">
                          <a:latin typeface="+mj-lt"/>
                          <a:ea typeface="+mj-ea"/>
                          <a:cs typeface="+mj-cs"/>
                          <a:sym typeface="Helvetica"/>
                        </a:defRPr>
                      </a:pPr>
                      <a:r>
                        <a:rPr lang="en-US" dirty="0">
                          <a:latin typeface="Helvetica Light"/>
                        </a:rPr>
                        <a:t>So many options and differences between exercises, limit scope as much as possible.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6212">
                <a:tc>
                  <a:txBody>
                    <a:bodyPr/>
                    <a:lstStyle/>
                    <a:p>
                      <a:pPr algn="l">
                        <a:defRPr sz="800" b="1">
                          <a:latin typeface="+mj-lt"/>
                          <a:ea typeface="+mj-ea"/>
                          <a:cs typeface="+mj-cs"/>
                          <a:sym typeface="Helvetica"/>
                        </a:defRPr>
                      </a:pPr>
                      <a:r>
                        <a:rPr lang="en-US" dirty="0">
                          <a:latin typeface="Helvetica Light"/>
                        </a:rPr>
                        <a:t>Standardized exercises to be supported, then modifiable exercise plan/support should be produceable.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174625">
                <a:tc>
                  <a:txBody>
                    <a:bodyPr/>
                    <a:lstStyle/>
                    <a:p>
                      <a:pPr algn="l">
                        <a:defRPr sz="800" b="1">
                          <a:latin typeface="+mj-lt"/>
                          <a:ea typeface="+mj-ea"/>
                          <a:cs typeface="+mj-cs"/>
                          <a:sym typeface="Helvetica"/>
                        </a:defRPr>
                      </a:pPr>
                      <a:r>
                        <a:rPr lang="en-US" dirty="0">
                          <a:latin typeface="Helvetica Light"/>
                        </a:rPr>
                        <a:t>Need a way to track effort!</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bl>
          </a:graphicData>
        </a:graphic>
      </p:graphicFrame>
      <p:graphicFrame>
        <p:nvGraphicFramePr>
          <p:cNvPr id="216" name="Table 1"/>
          <p:cNvGraphicFramePr/>
          <p:nvPr>
            <p:extLst>
              <p:ext uri="{D42A27DB-BD31-4B8C-83A1-F6EECF244321}">
                <p14:modId xmlns:p14="http://schemas.microsoft.com/office/powerpoint/2010/main" val="697256130"/>
              </p:ext>
            </p:extLst>
          </p:nvPr>
        </p:nvGraphicFramePr>
        <p:xfrm>
          <a:off x="201612" y="871537"/>
          <a:ext cx="2062162" cy="1664796"/>
        </p:xfrm>
        <a:graphic>
          <a:graphicData uri="http://schemas.openxmlformats.org/drawingml/2006/table">
            <a:tbl>
              <a:tblPr>
                <a:tableStyleId>{4C3C2611-4C71-4FC5-86AE-919BDF0F9419}</a:tableStyleId>
              </a:tblPr>
              <a:tblGrid>
                <a:gridCol w="2062162">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One plane of movement recommended.</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6212">
                <a:tc>
                  <a:txBody>
                    <a:bodyPr/>
                    <a:lstStyle/>
                    <a:p>
                      <a:pPr algn="l">
                        <a:defRPr sz="800" b="1">
                          <a:latin typeface="+mj-lt"/>
                          <a:ea typeface="+mj-ea"/>
                          <a:cs typeface="+mj-cs"/>
                          <a:sym typeface="Helvetica"/>
                        </a:defRPr>
                      </a:pPr>
                      <a:r>
                        <a:rPr lang="en-US" dirty="0">
                          <a:latin typeface="Helvetica Light"/>
                        </a:rPr>
                        <a:t>Exercises depend on population.</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4625">
                <a:tc>
                  <a:txBody>
                    <a:bodyPr/>
                    <a:lstStyle/>
                    <a:p>
                      <a:pPr algn="l">
                        <a:defRPr sz="800" b="1">
                          <a:latin typeface="+mj-lt"/>
                          <a:ea typeface="+mj-ea"/>
                          <a:cs typeface="+mj-cs"/>
                          <a:sym typeface="Helvetica"/>
                        </a:defRPr>
                      </a:pPr>
                      <a:r>
                        <a:rPr lang="en-US" dirty="0">
                          <a:latin typeface="Helvetica Light"/>
                        </a:rPr>
                        <a:t>Recommend post-operative patients as the focus for any digital product.</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6212">
                <a:tc>
                  <a:txBody>
                    <a:bodyPr/>
                    <a:lstStyle/>
                    <a:p>
                      <a:pPr algn="l">
                        <a:defRPr sz="800" b="1">
                          <a:latin typeface="+mj-lt"/>
                          <a:ea typeface="+mj-ea"/>
                          <a:cs typeface="+mj-cs"/>
                          <a:sym typeface="Helvetica"/>
                        </a:defRPr>
                      </a:pPr>
                      <a:r>
                        <a:rPr lang="en-US" dirty="0">
                          <a:latin typeface="Helvetica Light"/>
                        </a:rPr>
                        <a:t>Narrow scope to just the knee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4625">
                <a:tc>
                  <a:txBody>
                    <a:bodyPr/>
                    <a:lstStyle/>
                    <a:p>
                      <a:pPr algn="l">
                        <a:defRPr sz="800" b="1">
                          <a:latin typeface="+mj-lt"/>
                          <a:ea typeface="+mj-ea"/>
                          <a:cs typeface="+mj-cs"/>
                          <a:sym typeface="Helvetica"/>
                        </a:defRPr>
                      </a:pPr>
                      <a:r>
                        <a:rPr lang="en-US" dirty="0">
                          <a:latin typeface="Helvetica Light"/>
                        </a:rPr>
                        <a:t>Standardized effort for the first couple of weeks on post-operative patients, but then it all becomes dependent on the patients progress and physio’s recommended route.</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186131">
                <a:tc>
                  <a:txBody>
                    <a:bodyPr/>
                    <a:lstStyle/>
                    <a:p>
                      <a:pPr algn="l">
                        <a:defRPr sz="800" b="1">
                          <a:latin typeface="+mj-lt"/>
                          <a:ea typeface="+mj-ea"/>
                          <a:cs typeface="+mj-cs"/>
                          <a:sym typeface="Helvetica"/>
                        </a:defRPr>
                      </a:pPr>
                      <a:r>
                        <a:rPr lang="en-US" dirty="0">
                          <a:latin typeface="Helvetica Light"/>
                        </a:rPr>
                        <a:t>People usually don’t push enough post surgery.</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bl>
          </a:graphicData>
        </a:graphic>
      </p:graphicFrame>
      <p:graphicFrame>
        <p:nvGraphicFramePr>
          <p:cNvPr id="217" name="Table 1"/>
          <p:cNvGraphicFramePr/>
          <p:nvPr>
            <p:extLst>
              <p:ext uri="{D42A27DB-BD31-4B8C-83A1-F6EECF244321}">
                <p14:modId xmlns:p14="http://schemas.microsoft.com/office/powerpoint/2010/main" val="67671433"/>
              </p:ext>
            </p:extLst>
          </p:nvPr>
        </p:nvGraphicFramePr>
        <p:xfrm>
          <a:off x="146050" y="2997200"/>
          <a:ext cx="2062162" cy="1731040"/>
        </p:xfrm>
        <a:graphic>
          <a:graphicData uri="http://schemas.openxmlformats.org/drawingml/2006/table">
            <a:tbl>
              <a:tblPr>
                <a:tableStyleId>{4C3C2611-4C71-4FC5-86AE-919BDF0F9419}</a:tableStyleId>
              </a:tblPr>
              <a:tblGrid>
                <a:gridCol w="2062162">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Meet with patients and assess their readiness and capability for physiotherapy exercises.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4625">
                <a:tc>
                  <a:txBody>
                    <a:bodyPr/>
                    <a:lstStyle/>
                    <a:p>
                      <a:pPr algn="l">
                        <a:defRPr sz="800" b="1">
                          <a:latin typeface="+mj-lt"/>
                          <a:ea typeface="+mj-ea"/>
                          <a:cs typeface="+mj-cs"/>
                          <a:sym typeface="Helvetica"/>
                        </a:defRPr>
                      </a:pPr>
                      <a:r>
                        <a:rPr lang="en-US" dirty="0">
                          <a:latin typeface="Helvetica Light"/>
                        </a:rPr>
                        <a:t>Assign the standardized exercises with modifiable sets and reps if still within the first couple weeks of physio.</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6212">
                <a:tc>
                  <a:txBody>
                    <a:bodyPr/>
                    <a:lstStyle/>
                    <a:p>
                      <a:pPr algn="l">
                        <a:defRPr sz="800" b="1">
                          <a:latin typeface="+mj-lt"/>
                          <a:ea typeface="+mj-ea"/>
                          <a:cs typeface="+mj-cs"/>
                          <a:sym typeface="Helvetica"/>
                        </a:defRPr>
                      </a:pPr>
                      <a:r>
                        <a:rPr lang="en-US" dirty="0">
                          <a:latin typeface="Helvetica Light"/>
                        </a:rPr>
                        <a:t>Otherwise, assess required movement/strength requirements and assign possible sets/reps.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74625">
                <a:tc>
                  <a:txBody>
                    <a:bodyPr/>
                    <a:lstStyle/>
                    <a:p>
                      <a:pPr algn="l">
                        <a:defRPr sz="800" b="1">
                          <a:latin typeface="+mj-lt"/>
                          <a:ea typeface="+mj-ea"/>
                          <a:cs typeface="+mj-cs"/>
                          <a:sym typeface="Helvetica"/>
                        </a:defRPr>
                      </a:pPr>
                      <a:r>
                        <a:rPr lang="en-US" dirty="0">
                          <a:latin typeface="Helvetica Light"/>
                        </a:rPr>
                        <a:t>Ensure patients know what to do and how to do it.</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76212">
                <a:tc>
                  <a:txBody>
                    <a:bodyPr/>
                    <a:lstStyle/>
                    <a:p>
                      <a:pPr algn="l">
                        <a:defRPr sz="800" b="1">
                          <a:latin typeface="+mj-lt"/>
                          <a:ea typeface="+mj-ea"/>
                          <a:cs typeface="+mj-cs"/>
                          <a:sym typeface="Helvetica"/>
                        </a:defRPr>
                      </a:pPr>
                      <a:r>
                        <a:rPr lang="en-US" dirty="0">
                          <a:latin typeface="Helvetica Light"/>
                        </a:rPr>
                        <a:t>Set check-in, dependent on patient status and capability!</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218" name="Table 1"/>
          <p:cNvGraphicFramePr/>
          <p:nvPr>
            <p:extLst>
              <p:ext uri="{D42A27DB-BD31-4B8C-83A1-F6EECF244321}">
                <p14:modId xmlns:p14="http://schemas.microsoft.com/office/powerpoint/2010/main" val="301526894"/>
              </p:ext>
            </p:extLst>
          </p:nvPr>
        </p:nvGraphicFramePr>
        <p:xfrm>
          <a:off x="3792537" y="3035300"/>
          <a:ext cx="2035175" cy="1014240"/>
        </p:xfrm>
        <a:graphic>
          <a:graphicData uri="http://schemas.openxmlformats.org/drawingml/2006/table">
            <a:tbl>
              <a:tblPr>
                <a:tableStyleId>{4C3C2611-4C71-4FC5-86AE-919BDF0F9419}</a:tableStyleId>
              </a:tblPr>
              <a:tblGrid>
                <a:gridCol w="2035175">
                  <a:extLst>
                    <a:ext uri="{9D8B030D-6E8A-4147-A177-3AD203B41FA5}">
                      <a16:colId xmlns:a16="http://schemas.microsoft.com/office/drawing/2014/main" val="20000"/>
                    </a:ext>
                  </a:extLst>
                </a:gridCol>
              </a:tblGrid>
              <a:tr h="176212">
                <a:tc>
                  <a:txBody>
                    <a:bodyPr/>
                    <a:lstStyle/>
                    <a:p>
                      <a:pPr algn="l">
                        <a:defRPr sz="800" b="1">
                          <a:latin typeface="+mj-lt"/>
                          <a:ea typeface="+mj-ea"/>
                          <a:cs typeface="+mj-cs"/>
                          <a:sym typeface="Helvetica"/>
                        </a:defRPr>
                      </a:pPr>
                      <a:r>
                        <a:rPr lang="en-US" dirty="0">
                          <a:latin typeface="Helvetica Light"/>
                        </a:rPr>
                        <a:t>Showed a deep interest in their patients recovery.</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74625">
                <a:tc>
                  <a:txBody>
                    <a:bodyPr/>
                    <a:lstStyle/>
                    <a:p>
                      <a:pPr algn="l">
                        <a:defRPr sz="800" b="1">
                          <a:latin typeface="+mj-lt"/>
                          <a:ea typeface="+mj-ea"/>
                          <a:cs typeface="+mj-cs"/>
                          <a:sym typeface="Helvetica"/>
                        </a:defRPr>
                      </a:pPr>
                      <a:r>
                        <a:rPr lang="en-US" dirty="0">
                          <a:latin typeface="Helvetica Light"/>
                        </a:rPr>
                        <a:t>Displayed regret about busy schedule and inability to repeatedly work with the same patients.</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76212">
                <a:tc>
                  <a:txBody>
                    <a:bodyPr/>
                    <a:lstStyle/>
                    <a:p>
                      <a:pPr algn="l">
                        <a:defRPr sz="800" b="1">
                          <a:latin typeface="+mj-lt"/>
                          <a:ea typeface="+mj-ea"/>
                          <a:cs typeface="+mj-cs"/>
                          <a:sym typeface="Helvetica"/>
                        </a:defRPr>
                      </a:pPr>
                      <a:r>
                        <a:rPr lang="en-US" dirty="0">
                          <a:latin typeface="Helvetica Light"/>
                        </a:rPr>
                        <a:t>Clearly wants the best recovery for patients in both strength and mobility.</a:t>
                      </a:r>
                      <a:endParaRPr dirty="0">
                        <a:latin typeface="Helvetica Light"/>
                      </a:endParaRP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222" name="Team"/>
          <p:cNvSpPr txBox="1"/>
          <p:nvPr/>
        </p:nvSpPr>
        <p:spPr>
          <a:xfrm>
            <a:off x="2497137" y="2940948"/>
            <a:ext cx="741654" cy="307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lvl1pPr>
              <a:defRPr b="1">
                <a:latin typeface="+mj-lt"/>
                <a:ea typeface="+mj-ea"/>
                <a:cs typeface="+mj-cs"/>
                <a:sym typeface="Helvetica"/>
              </a:defRPr>
            </a:lvl1pPr>
          </a:lstStyle>
          <a:p>
            <a:pPr algn="ctr"/>
            <a:r>
              <a:rPr lang="en-US" sz="800" dirty="0"/>
              <a:t>Kevin (PT)</a:t>
            </a:r>
            <a:endParaRPr sz="800" dirty="0"/>
          </a:p>
        </p:txBody>
      </p:sp>
      <p:grpSp>
        <p:nvGrpSpPr>
          <p:cNvPr id="225" name="Group"/>
          <p:cNvGrpSpPr/>
          <p:nvPr/>
        </p:nvGrpSpPr>
        <p:grpSpPr>
          <a:xfrm>
            <a:off x="2371725" y="30162"/>
            <a:ext cx="1195389" cy="398752"/>
            <a:chOff x="0" y="0"/>
            <a:chExt cx="1195388" cy="398750"/>
          </a:xfrm>
        </p:grpSpPr>
        <p:sp>
          <p:nvSpPr>
            <p:cNvPr id="223" name="Rectangle"/>
            <p:cNvSpPr/>
            <p:nvPr/>
          </p:nvSpPr>
          <p:spPr>
            <a:xfrm>
              <a:off x="0" y="0"/>
              <a:ext cx="1195388" cy="352425"/>
            </a:xfrm>
            <a:prstGeom prst="rect">
              <a:avLst/>
            </a:prstGeom>
            <a:solidFill>
              <a:srgbClr val="FFFFFF"/>
            </a:solidFill>
            <a:ln w="12700" cap="flat">
              <a:noFill/>
              <a:miter lim="400000"/>
            </a:ln>
            <a:effectLst/>
          </p:spPr>
          <p:txBody>
            <a:bodyPr wrap="square" lIns="45719" tIns="45719" rIns="45719" bIns="45719" numCol="1" anchor="t">
              <a:noAutofit/>
            </a:bodyPr>
            <a:lstStyle/>
            <a:p>
              <a:pPr algn="ctr">
                <a:defRPr b="1">
                  <a:latin typeface="+mj-lt"/>
                  <a:ea typeface="+mj-ea"/>
                  <a:cs typeface="+mj-cs"/>
                  <a:sym typeface="Helvetica"/>
                </a:defRPr>
              </a:pPr>
              <a:endParaRPr dirty="0"/>
            </a:p>
          </p:txBody>
        </p:sp>
        <p:sp>
          <p:nvSpPr>
            <p:cNvPr id="224" name="Interview 1"/>
            <p:cNvSpPr txBox="1"/>
            <p:nvPr/>
          </p:nvSpPr>
          <p:spPr>
            <a:xfrm>
              <a:off x="0" y="0"/>
              <a:ext cx="1195388" cy="3987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lgn="ctr">
                <a:defRPr b="1">
                  <a:latin typeface="+mj-lt"/>
                  <a:ea typeface="+mj-ea"/>
                  <a:cs typeface="+mj-cs"/>
                  <a:sym typeface="Helvetica"/>
                </a:defRPr>
              </a:lvl1pPr>
            </a:lstStyle>
            <a:p>
              <a:r>
                <a:rPr dirty="0"/>
                <a:t>Interview 1</a:t>
              </a:r>
            </a:p>
          </p:txBody>
        </p:sp>
      </p:grpSp>
      <p:pic>
        <p:nvPicPr>
          <p:cNvPr id="226" name="image.png" descr="image.png"/>
          <p:cNvPicPr>
            <a:picLocks noChangeAspect="1"/>
          </p:cNvPicPr>
          <p:nvPr/>
        </p:nvPicPr>
        <p:blipFill>
          <a:blip r:embed="rId3"/>
          <a:stretch>
            <a:fillRect/>
          </a:stretch>
        </p:blipFill>
        <p:spPr>
          <a:xfrm>
            <a:off x="8067675" y="0"/>
            <a:ext cx="1096963" cy="796925"/>
          </a:xfrm>
          <a:prstGeom prst="rect">
            <a:avLst/>
          </a:prstGeom>
          <a:ln w="12700">
            <a:miter lim="400000"/>
          </a:ln>
        </p:spPr>
      </p:pic>
      <p:sp>
        <p:nvSpPr>
          <p:cNvPr id="4" name="Rectangle 3">
            <a:extLst>
              <a:ext uri="{FF2B5EF4-FFF2-40B4-BE49-F238E27FC236}">
                <a16:creationId xmlns:a16="http://schemas.microsoft.com/office/drawing/2014/main" id="{5CD8D418-60FE-4A71-5651-B6BC2CF52429}"/>
              </a:ext>
            </a:extLst>
          </p:cNvPr>
          <p:cNvSpPr/>
          <p:nvPr/>
        </p:nvSpPr>
        <p:spPr>
          <a:xfrm>
            <a:off x="361869" y="252374"/>
            <a:ext cx="217900" cy="173428"/>
          </a:xfrm>
          <a:prstGeom prst="rect">
            <a:avLst/>
          </a:prstGeom>
          <a:solidFill>
            <a:srgbClr val="FFFFFF"/>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CA" sz="1400" b="0" i="0" u="none" strike="noStrike" cap="none" spc="0" normalizeH="0" baseline="0" dirty="0">
              <a:ln>
                <a:noFill/>
              </a:ln>
              <a:solidFill>
                <a:srgbClr val="000000"/>
              </a:solidFill>
              <a:effectLst/>
              <a:uFillTx/>
              <a:latin typeface="+mn-lt"/>
              <a:ea typeface="+mn-ea"/>
              <a:cs typeface="+mn-cs"/>
              <a:sym typeface="Arial"/>
            </a:endParaRPr>
          </a:p>
        </p:txBody>
      </p:sp>
      <p:pic>
        <p:nvPicPr>
          <p:cNvPr id="2" name="Image" descr="Image">
            <a:extLst>
              <a:ext uri="{FF2B5EF4-FFF2-40B4-BE49-F238E27FC236}">
                <a16:creationId xmlns:a16="http://schemas.microsoft.com/office/drawing/2014/main" id="{3629A67E-E1E9-FF4A-D16D-A7DE7AF3D5E5}"/>
              </a:ext>
            </a:extLst>
          </p:cNvPr>
          <p:cNvPicPr>
            <a:picLocks noChangeAspect="1"/>
          </p:cNvPicPr>
          <p:nvPr/>
        </p:nvPicPr>
        <p:blipFill rotWithShape="1">
          <a:blip r:embed="rId2"/>
          <a:srcRect l="4327" t="4476" r="88755" b="91819"/>
          <a:stretch/>
        </p:blipFill>
        <p:spPr>
          <a:xfrm>
            <a:off x="294826" y="176840"/>
            <a:ext cx="375739" cy="190618"/>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8" name="Table 1"/>
          <p:cNvGraphicFramePr/>
          <p:nvPr>
            <p:extLst>
              <p:ext uri="{D42A27DB-BD31-4B8C-83A1-F6EECF244321}">
                <p14:modId xmlns:p14="http://schemas.microsoft.com/office/powerpoint/2010/main" val="2246325418"/>
              </p:ext>
            </p:extLst>
          </p:nvPr>
        </p:nvGraphicFramePr>
        <p:xfrm>
          <a:off x="892175" y="1149350"/>
          <a:ext cx="7013574" cy="3090860"/>
        </p:xfrm>
        <a:graphic>
          <a:graphicData uri="http://schemas.openxmlformats.org/drawingml/2006/table">
            <a:tbl>
              <a:tblPr>
                <a:tableStyleId>{4C3C2611-4C71-4FC5-86AE-919BDF0F9419}</a:tableStyleId>
              </a:tblPr>
              <a:tblGrid>
                <a:gridCol w="3130550">
                  <a:extLst>
                    <a:ext uri="{9D8B030D-6E8A-4147-A177-3AD203B41FA5}">
                      <a16:colId xmlns:a16="http://schemas.microsoft.com/office/drawing/2014/main" val="20000"/>
                    </a:ext>
                  </a:extLst>
                </a:gridCol>
                <a:gridCol w="1252537">
                  <a:extLst>
                    <a:ext uri="{9D8B030D-6E8A-4147-A177-3AD203B41FA5}">
                      <a16:colId xmlns:a16="http://schemas.microsoft.com/office/drawing/2014/main" val="20001"/>
                    </a:ext>
                  </a:extLst>
                </a:gridCol>
                <a:gridCol w="1125537">
                  <a:extLst>
                    <a:ext uri="{9D8B030D-6E8A-4147-A177-3AD203B41FA5}">
                      <a16:colId xmlns:a16="http://schemas.microsoft.com/office/drawing/2014/main" val="20002"/>
                    </a:ext>
                  </a:extLst>
                </a:gridCol>
                <a:gridCol w="1504950">
                  <a:extLst>
                    <a:ext uri="{9D8B030D-6E8A-4147-A177-3AD203B41FA5}">
                      <a16:colId xmlns:a16="http://schemas.microsoft.com/office/drawing/2014/main" val="20003"/>
                    </a:ext>
                  </a:extLst>
                </a:gridCol>
              </a:tblGrid>
              <a:tr h="352425">
                <a:tc>
                  <a:txBody>
                    <a:bodyPr/>
                    <a:lstStyle/>
                    <a:p>
                      <a:pPr algn="l">
                        <a:defRPr sz="1800"/>
                      </a:pPr>
                      <a:r>
                        <a:rPr sz="1100" b="1" dirty="0">
                          <a:solidFill>
                            <a:srgbClr val="FFFFFF"/>
                          </a:solidFill>
                          <a:latin typeface="+mj-lt"/>
                          <a:ea typeface="+mj-ea"/>
                          <a:cs typeface="+mj-cs"/>
                          <a:sym typeface="Helvetica"/>
                        </a:rPr>
                        <a:t>Did you…</a:t>
                      </a:r>
                    </a:p>
                  </a:txBody>
                  <a:tcPr marL="26800" marR="26800" marT="26800" marB="26800" horzOverflow="overflow">
                    <a:lnL>
                      <a:solidFill>
                        <a:srgbClr val="515151"/>
                      </a:solidFill>
                    </a:lnL>
                    <a:lnR>
                      <a:solidFill>
                        <a:srgbClr val="000000"/>
                      </a:solidFill>
                    </a:lnR>
                    <a:lnT>
                      <a:solidFill>
                        <a:srgbClr val="515151"/>
                      </a:solidFill>
                    </a:lnT>
                    <a:lnB w="12700">
                      <a:solidFill>
                        <a:srgbClr val="515151"/>
                      </a:solidFill>
                    </a:lnB>
                    <a:solidFill>
                      <a:srgbClr val="D6D5D5"/>
                    </a:solidFill>
                  </a:tcPr>
                </a:tc>
                <a:tc gridSpan="3">
                  <a:txBody>
                    <a:bodyPr/>
                    <a:lstStyle/>
                    <a:p>
                      <a:pPr algn="ctr">
                        <a:defRPr sz="1800"/>
                      </a:pPr>
                      <a:r>
                        <a:rPr sz="1100" b="1" dirty="0">
                          <a:solidFill>
                            <a:srgbClr val="FFFFFF"/>
                          </a:solidFill>
                          <a:latin typeface="+mj-lt"/>
                          <a:ea typeface="+mj-ea"/>
                          <a:cs typeface="+mj-cs"/>
                          <a:sym typeface="Helvetica"/>
                        </a:rPr>
                        <a:t>circle one</a:t>
                      </a:r>
                    </a:p>
                  </a:txBody>
                  <a:tcPr marL="26800" marR="26800" marT="26800" marB="26800" horzOverflow="overflow">
                    <a:lnL>
                      <a:solidFill>
                        <a:srgbClr val="000000"/>
                      </a:solidFill>
                    </a:lnL>
                    <a:lnR>
                      <a:solidFill>
                        <a:srgbClr val="515151"/>
                      </a:solidFill>
                    </a:lnR>
                    <a:lnT>
                      <a:solidFill>
                        <a:srgbClr val="515151"/>
                      </a:solidFill>
                    </a:lnT>
                    <a:lnB w="12700">
                      <a:solidFill>
                        <a:srgbClr val="515151"/>
                      </a:solid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2425">
                <a:tc>
                  <a:txBody>
                    <a:bodyPr/>
                    <a:lstStyle/>
                    <a:p>
                      <a:pPr algn="l">
                        <a:defRPr sz="1800"/>
                      </a:pPr>
                      <a:r>
                        <a:rPr sz="1100" b="1" dirty="0">
                          <a:latin typeface="+mj-lt"/>
                          <a:ea typeface="+mj-ea"/>
                          <a:cs typeface="+mj-cs"/>
                          <a:sym typeface="Helvetica"/>
                        </a:rPr>
                        <a:t>set up interview, giving context?</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Somewhat</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Yes</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Definitely!</a:t>
                      </a:r>
                    </a:p>
                  </a:txBody>
                  <a:tcPr marL="26800" marR="26800" marT="26800" marB="26800" horzOverflow="overflow">
                    <a:lnL>
                      <a:solidFill>
                        <a:srgbClr val="000000"/>
                      </a:solidFill>
                    </a:lnL>
                    <a:lnR>
                      <a:solidFill>
                        <a:srgbClr val="000000"/>
                      </a:solidFill>
                    </a:lnR>
                    <a:lnT w="12700">
                      <a:solidFill>
                        <a:srgbClr val="515151"/>
                      </a:solidFill>
                    </a:lnT>
                    <a:lnB>
                      <a:solidFill>
                        <a:srgbClr val="000000"/>
                      </a:solidFill>
                    </a:lnB>
                    <a:solidFill>
                      <a:srgbClr val="92D050"/>
                    </a:solidFill>
                  </a:tcPr>
                </a:tc>
                <a:extLst>
                  <a:ext uri="{0D108BD9-81ED-4DB2-BD59-A6C34878D82A}">
                    <a16:rowId xmlns:a16="http://schemas.microsoft.com/office/drawing/2014/main" val="10001"/>
                  </a:ext>
                </a:extLst>
              </a:tr>
              <a:tr h="354012">
                <a:tc>
                  <a:txBody>
                    <a:bodyPr/>
                    <a:lstStyle/>
                    <a:p>
                      <a:pPr algn="l">
                        <a:defRPr sz="1800"/>
                      </a:pPr>
                      <a:r>
                        <a:rPr sz="1100" b="1" dirty="0">
                          <a:latin typeface="+mj-lt"/>
                          <a:ea typeface="+mj-ea"/>
                          <a:cs typeface="+mj-cs"/>
                          <a:sym typeface="Helvetica"/>
                        </a:rPr>
                        <a:t>make them comfortable?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Somewhat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Yes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tc>
                  <a:txBody>
                    <a:bodyPr/>
                    <a:lstStyle/>
                    <a:p>
                      <a:pPr algn="l">
                        <a:defRPr sz="1800"/>
                      </a:pPr>
                      <a:r>
                        <a:rPr sz="1100" b="1" dirty="0">
                          <a:latin typeface="+mj-lt"/>
                          <a:ea typeface="+mj-ea"/>
                          <a:cs typeface="+mj-cs"/>
                          <a:sym typeface="Helvetica"/>
                        </a:rPr>
                        <a:t>Definitely!</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2"/>
                  </a:ext>
                </a:extLst>
              </a:tr>
              <a:tr h="388937">
                <a:tc>
                  <a:txBody>
                    <a:bodyPr/>
                    <a:lstStyle/>
                    <a:p>
                      <a:pPr algn="l">
                        <a:defRPr sz="1800"/>
                      </a:pPr>
                      <a:r>
                        <a:rPr sz="1100" b="1" dirty="0">
                          <a:latin typeface="+mj-lt"/>
                          <a:ea typeface="+mj-ea"/>
                          <a:cs typeface="+mj-cs"/>
                          <a:sym typeface="Helvetica"/>
                        </a:rPr>
                        <a:t>ask open-ended questions?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extLst>
                  <a:ext uri="{0D108BD9-81ED-4DB2-BD59-A6C34878D82A}">
                    <a16:rowId xmlns:a16="http://schemas.microsoft.com/office/drawing/2014/main" val="10003"/>
                  </a:ext>
                </a:extLst>
              </a:tr>
              <a:tr h="388937">
                <a:tc>
                  <a:txBody>
                    <a:bodyPr/>
                    <a:lstStyle/>
                    <a:p>
                      <a:pPr algn="l">
                        <a:defRPr sz="1800"/>
                      </a:pPr>
                      <a:r>
                        <a:rPr sz="1100" b="1" dirty="0">
                          <a:latin typeface="+mj-lt"/>
                          <a:ea typeface="+mj-ea"/>
                          <a:cs typeface="+mj-cs"/>
                          <a:sym typeface="Helvetica"/>
                        </a:rPr>
                        <a:t>Ask follow-ups?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extLst>
                  <a:ext uri="{0D108BD9-81ED-4DB2-BD59-A6C34878D82A}">
                    <a16:rowId xmlns:a16="http://schemas.microsoft.com/office/drawing/2014/main" val="10004"/>
                  </a:ext>
                </a:extLst>
              </a:tr>
              <a:tr h="388937">
                <a:tc>
                  <a:txBody>
                    <a:bodyPr/>
                    <a:lstStyle/>
                    <a:p>
                      <a:pPr algn="l">
                        <a:defRPr sz="1800"/>
                      </a:pPr>
                      <a:r>
                        <a:rPr sz="1100" b="1" dirty="0">
                          <a:latin typeface="+mj-lt"/>
                          <a:ea typeface="+mj-ea"/>
                          <a:cs typeface="+mj-cs"/>
                          <a:sym typeface="Helvetica"/>
                        </a:rPr>
                        <a:t>Ask how they felt about things?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5"/>
                  </a:ext>
                </a:extLst>
              </a:tr>
              <a:tr h="388937">
                <a:tc>
                  <a:txBody>
                    <a:bodyPr/>
                    <a:lstStyle/>
                    <a:p>
                      <a:pPr algn="l">
                        <a:defRPr sz="1800"/>
                      </a:pPr>
                      <a:r>
                        <a:rPr sz="1100" b="1" dirty="0">
                          <a:latin typeface="+mj-lt"/>
                          <a:ea typeface="+mj-ea"/>
                          <a:cs typeface="+mj-cs"/>
                          <a:sym typeface="Helvetica"/>
                        </a:rPr>
                        <a:t>Ask for stories, or to describe the steps of a job?</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1100" b="1" dirty="0">
                          <a:latin typeface="+mj-lt"/>
                          <a:ea typeface="+mj-ea"/>
                          <a:cs typeface="+mj-cs"/>
                          <a:sym typeface="Helvetica"/>
                        </a:rPr>
                        <a:t>Whenever appropriate</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extLst>
                  <a:ext uri="{0D108BD9-81ED-4DB2-BD59-A6C34878D82A}">
                    <a16:rowId xmlns:a16="http://schemas.microsoft.com/office/drawing/2014/main" val="10006"/>
                  </a:ext>
                </a:extLst>
              </a:tr>
              <a:tr h="476250">
                <a:tc>
                  <a:txBody>
                    <a:bodyPr/>
                    <a:lstStyle/>
                    <a:p>
                      <a:pPr algn="l">
                        <a:defRPr sz="1800"/>
                      </a:pPr>
                      <a:r>
                        <a:rPr sz="1100" b="1" dirty="0">
                          <a:latin typeface="+mj-lt"/>
                          <a:ea typeface="+mj-ea"/>
                          <a:cs typeface="+mj-cs"/>
                          <a:sym typeface="Helvetica"/>
                        </a:rPr>
                        <a:t>React to non-verbal clues they were uncomfortable, wanted to say more, etc.?</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Never</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Sometimes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1100" b="1" dirty="0">
                          <a:latin typeface="+mj-lt"/>
                          <a:ea typeface="+mj-ea"/>
                          <a:cs typeface="+mj-cs"/>
                          <a:sym typeface="Helvetica"/>
                        </a:rPr>
                        <a:t>Always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92D050"/>
                    </a:solidFill>
                  </a:tcPr>
                </a:tc>
                <a:extLst>
                  <a:ext uri="{0D108BD9-81ED-4DB2-BD59-A6C34878D82A}">
                    <a16:rowId xmlns:a16="http://schemas.microsoft.com/office/drawing/2014/main" val="10007"/>
                  </a:ext>
                </a:extLst>
              </a:tr>
            </a:tbl>
          </a:graphicData>
        </a:graphic>
      </p:graphicFrame>
      <p:sp>
        <p:nvSpPr>
          <p:cNvPr id="229" name="Interview Skills:  Fill this out after empathy map interview for your group.  Highlight your choices."/>
          <p:cNvSpPr txBox="1"/>
          <p:nvPr/>
        </p:nvSpPr>
        <p:spPr>
          <a:xfrm>
            <a:off x="892175" y="597487"/>
            <a:ext cx="7013575" cy="71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100" b="1">
                <a:latin typeface="+mj-lt"/>
                <a:ea typeface="+mj-ea"/>
                <a:cs typeface="+mj-cs"/>
                <a:sym typeface="Helvetica"/>
              </a:defRPr>
            </a:pPr>
            <a:endParaRPr dirty="0"/>
          </a:p>
          <a:p>
            <a:pPr>
              <a:defRPr sz="1100" b="1">
                <a:latin typeface="+mj-lt"/>
                <a:ea typeface="+mj-ea"/>
                <a:cs typeface="+mj-cs"/>
                <a:sym typeface="Helvetica"/>
              </a:defRPr>
            </a:pPr>
            <a:r>
              <a:rPr dirty="0"/>
              <a:t>Interview Skills:  Fill this out after empathy map interview for your group.  Highlight your choices.</a:t>
            </a:r>
          </a:p>
          <a:p>
            <a:pPr>
              <a:defRPr sz="1100"/>
            </a:pPr>
            <a:endParaRPr dirty="0"/>
          </a:p>
        </p:txBody>
      </p:sp>
      <p:pic>
        <p:nvPicPr>
          <p:cNvPr id="230" name="image.png" descr="image.png"/>
          <p:cNvPicPr>
            <a:picLocks noChangeAspect="1"/>
          </p:cNvPicPr>
          <p:nvPr/>
        </p:nvPicPr>
        <p:blipFill>
          <a:blip r:embed="rId2"/>
          <a:stretch>
            <a:fillRect/>
          </a:stretch>
        </p:blipFill>
        <p:spPr>
          <a:xfrm>
            <a:off x="7883525" y="74612"/>
            <a:ext cx="1098550" cy="796926"/>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3">
          <a:extLst>
            <a:ext uri="{FF2B5EF4-FFF2-40B4-BE49-F238E27FC236}">
              <a16:creationId xmlns:a16="http://schemas.microsoft.com/office/drawing/2014/main" id="{71E66484-70DE-247B-722B-9D783B7CB893}"/>
            </a:ext>
          </a:extLst>
        </p:cNvPr>
        <p:cNvGrpSpPr/>
        <p:nvPr/>
      </p:nvGrpSpPr>
      <p:grpSpPr>
        <a:xfrm>
          <a:off x="0" y="0"/>
          <a:ext cx="0" cy="0"/>
          <a:chOff x="0" y="0"/>
          <a:chExt cx="0" cy="0"/>
        </a:xfrm>
      </p:grpSpPr>
      <p:graphicFrame>
        <p:nvGraphicFramePr>
          <p:cNvPr id="414" name="Google Shape;414;p19">
            <a:extLst>
              <a:ext uri="{FF2B5EF4-FFF2-40B4-BE49-F238E27FC236}">
                <a16:creationId xmlns:a16="http://schemas.microsoft.com/office/drawing/2014/main" id="{639BADDE-0512-15D6-5611-B0B45075D37B}"/>
              </a:ext>
            </a:extLst>
          </p:cNvPr>
          <p:cNvGraphicFramePr/>
          <p:nvPr>
            <p:extLst>
              <p:ext uri="{D42A27DB-BD31-4B8C-83A1-F6EECF244321}">
                <p14:modId xmlns:p14="http://schemas.microsoft.com/office/powerpoint/2010/main" val="1327059750"/>
              </p:ext>
            </p:extLst>
          </p:nvPr>
        </p:nvGraphicFramePr>
        <p:xfrm>
          <a:off x="43280" y="868284"/>
          <a:ext cx="9057440" cy="4275215"/>
        </p:xfrm>
        <a:graphic>
          <a:graphicData uri="http://schemas.openxmlformats.org/drawingml/2006/table">
            <a:tbl>
              <a:tblPr>
                <a:noFill/>
              </a:tblPr>
              <a:tblGrid>
                <a:gridCol w="1811488">
                  <a:extLst>
                    <a:ext uri="{9D8B030D-6E8A-4147-A177-3AD203B41FA5}">
                      <a16:colId xmlns:a16="http://schemas.microsoft.com/office/drawing/2014/main" val="20000"/>
                    </a:ext>
                  </a:extLst>
                </a:gridCol>
                <a:gridCol w="1811488">
                  <a:extLst>
                    <a:ext uri="{9D8B030D-6E8A-4147-A177-3AD203B41FA5}">
                      <a16:colId xmlns:a16="http://schemas.microsoft.com/office/drawing/2014/main" val="20001"/>
                    </a:ext>
                  </a:extLst>
                </a:gridCol>
                <a:gridCol w="1811488">
                  <a:extLst>
                    <a:ext uri="{9D8B030D-6E8A-4147-A177-3AD203B41FA5}">
                      <a16:colId xmlns:a16="http://schemas.microsoft.com/office/drawing/2014/main" val="20002"/>
                    </a:ext>
                  </a:extLst>
                </a:gridCol>
                <a:gridCol w="1811488">
                  <a:extLst>
                    <a:ext uri="{9D8B030D-6E8A-4147-A177-3AD203B41FA5}">
                      <a16:colId xmlns:a16="http://schemas.microsoft.com/office/drawing/2014/main" val="20003"/>
                    </a:ext>
                  </a:extLst>
                </a:gridCol>
                <a:gridCol w="1811488">
                  <a:extLst>
                    <a:ext uri="{9D8B030D-6E8A-4147-A177-3AD203B41FA5}">
                      <a16:colId xmlns:a16="http://schemas.microsoft.com/office/drawing/2014/main" val="20004"/>
                    </a:ext>
                  </a:extLst>
                </a:gridCol>
              </a:tblGrid>
              <a:tr h="781202">
                <a:tc>
                  <a:txBody>
                    <a:bodyPr/>
                    <a:lstStyle/>
                    <a:p>
                      <a:pPr marL="0" marR="0" lvl="0" indent="0" algn="r" rtl="0">
                        <a:lnSpc>
                          <a:spcPct val="100000"/>
                        </a:lnSpc>
                        <a:spcBef>
                          <a:spcPts val="0"/>
                        </a:spcBef>
                        <a:spcAft>
                          <a:spcPts val="0"/>
                        </a:spcAft>
                        <a:buClr>
                          <a:srgbClr val="FAE5D9"/>
                        </a:buClr>
                        <a:buSzPts val="2600"/>
                        <a:buFont typeface="Open Sans"/>
                        <a:buNone/>
                      </a:pPr>
                      <a:r>
                        <a:rPr lang="en-US" sz="1300" b="1" u="none" strike="noStrike" cap="none" dirty="0">
                          <a:solidFill>
                            <a:srgbClr val="FAE5D9"/>
                          </a:solidFill>
                          <a:latin typeface="Open Sans"/>
                          <a:ea typeface="Open Sans"/>
                          <a:cs typeface="Open Sans"/>
                          <a:sym typeface="Open Sans"/>
                        </a:rPr>
                        <a:t>Problems/Pain Points</a:t>
                      </a:r>
                      <a:br>
                        <a:rPr lang="en-US" sz="800" b="1" u="none" strike="noStrike" cap="none" dirty="0">
                          <a:solidFill>
                            <a:srgbClr val="FAE5D9"/>
                          </a:solidFill>
                          <a:latin typeface="Open Sans"/>
                          <a:ea typeface="Open Sans"/>
                          <a:cs typeface="Open Sans"/>
                          <a:sym typeface="Open Sans"/>
                        </a:rPr>
                      </a:br>
                      <a:endParaRPr lang="en-US" sz="800" b="1" u="none" strike="noStrike" cap="none" dirty="0">
                        <a:solidFill>
                          <a:srgbClr val="FAE5D9"/>
                        </a:solidFill>
                        <a:latin typeface="Open Sans"/>
                        <a:ea typeface="Open Sans"/>
                        <a:cs typeface="Open Sans"/>
                        <a:sym typeface="Open Sans"/>
                      </a:endParaRPr>
                    </a:p>
                    <a:p>
                      <a:pPr marL="0" marR="0" lvl="0" indent="0" algn="l" rtl="0">
                        <a:lnSpc>
                          <a:spcPct val="100000"/>
                        </a:lnSpc>
                        <a:spcBef>
                          <a:spcPts val="0"/>
                        </a:spcBef>
                        <a:spcAft>
                          <a:spcPts val="0"/>
                        </a:spcAft>
                        <a:buClr>
                          <a:srgbClr val="FAE5D9"/>
                        </a:buClr>
                        <a:buSzPts val="2600"/>
                        <a:buFont typeface="Open Sans"/>
                        <a:buNone/>
                      </a:pPr>
                      <a:r>
                        <a:rPr lang="en-US" sz="1300" b="1" u="sng" strike="noStrike" cap="none" dirty="0">
                          <a:solidFill>
                            <a:srgbClr val="FAE5D9"/>
                          </a:solidFill>
                          <a:latin typeface="Open Sans"/>
                          <a:ea typeface="Open Sans"/>
                          <a:cs typeface="Open Sans"/>
                          <a:sym typeface="Open Sans"/>
                        </a:rPr>
                        <a:t>Approaches</a:t>
                      </a:r>
                      <a:endParaRPr lang="en-US" sz="700" u="none" strike="noStrike" cap="none" dirty="0"/>
                    </a:p>
                  </a:txBody>
                  <a:tcPr marL="45725" marR="45725" marT="22863" marB="22863"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9948"/>
                    </a:solidFill>
                  </a:tcPr>
                </a:tc>
                <a:tc>
                  <a:txBody>
                    <a:bodyPr/>
                    <a:lstStyle/>
                    <a:p>
                      <a:pPr marL="0" marR="0" lvl="0" indent="0" algn="ctr" rtl="0">
                        <a:lnSpc>
                          <a:spcPct val="100000"/>
                        </a:lnSpc>
                        <a:spcBef>
                          <a:spcPts val="0"/>
                        </a:spcBef>
                        <a:spcAft>
                          <a:spcPts val="0"/>
                        </a:spcAft>
                        <a:buClr>
                          <a:schemeClr val="dk1"/>
                        </a:buClr>
                        <a:buSzPts val="2800"/>
                        <a:buFont typeface="Open Sans"/>
                        <a:buNone/>
                      </a:pPr>
                      <a:r>
                        <a:rPr lang="en-US" sz="1400" b="1" u="none" strike="noStrike" cap="none" dirty="0">
                          <a:solidFill>
                            <a:schemeClr val="dk1"/>
                          </a:solidFill>
                          <a:latin typeface="Open Sans"/>
                          <a:ea typeface="Open Sans"/>
                          <a:cs typeface="Open Sans"/>
                          <a:sym typeface="Open Sans"/>
                        </a:rPr>
                        <a:t>A. </a:t>
                      </a:r>
                      <a:r>
                        <a:rPr lang="en-US" sz="1400" b="1" u="none" strike="noStrike" cap="none" dirty="0">
                          <a:solidFill>
                            <a:srgbClr val="FAE5D9"/>
                          </a:solidFill>
                          <a:latin typeface="Open Sans"/>
                          <a:ea typeface="Open Sans"/>
                          <a:cs typeface="Open Sans"/>
                          <a:sym typeface="Open Sans"/>
                        </a:rPr>
                        <a:t>Consistency</a:t>
                      </a:r>
                      <a:endParaRPr sz="1400" b="1" u="none" strike="noStrike" cap="none" dirty="0">
                        <a:latin typeface="Open Sans"/>
                        <a:ea typeface="Open Sans"/>
                        <a:cs typeface="Open Sans"/>
                        <a:sym typeface="Open Sans"/>
                      </a:endParaRPr>
                    </a:p>
                  </a:txBody>
                  <a:tcPr marL="45725" marR="45725" marT="22863" marB="22863" anchor="ctr">
                    <a:lnL w="12700" cap="flat" cmpd="sng">
                      <a:solidFill>
                        <a:schemeClr val="dk1"/>
                      </a:solidFill>
                      <a:prstDash val="solid"/>
                      <a:round/>
                      <a:headEnd type="none" w="sm" len="sm"/>
                      <a:tailEnd type="none" w="sm" len="sm"/>
                    </a:lnL>
                    <a:solidFill>
                      <a:srgbClr val="739948"/>
                    </a:solidFill>
                  </a:tcPr>
                </a:tc>
                <a:tc>
                  <a:txBody>
                    <a:bodyPr/>
                    <a:lstStyle/>
                    <a:p>
                      <a:pPr marL="0" marR="0" lvl="0" indent="0" algn="ctr" rtl="0">
                        <a:lnSpc>
                          <a:spcPct val="100000"/>
                        </a:lnSpc>
                        <a:spcBef>
                          <a:spcPts val="0"/>
                        </a:spcBef>
                        <a:spcAft>
                          <a:spcPts val="0"/>
                        </a:spcAft>
                        <a:buClr>
                          <a:schemeClr val="dk1"/>
                        </a:buClr>
                        <a:buSzPts val="2800"/>
                        <a:buFont typeface="Open Sans"/>
                        <a:buNone/>
                      </a:pPr>
                      <a:r>
                        <a:rPr lang="en-US" sz="1400" b="1" u="none" strike="noStrike" cap="none" dirty="0">
                          <a:solidFill>
                            <a:schemeClr val="dk1"/>
                          </a:solidFill>
                          <a:latin typeface="Open Sans"/>
                          <a:ea typeface="Open Sans"/>
                          <a:cs typeface="Open Sans"/>
                          <a:sym typeface="Open Sans"/>
                        </a:rPr>
                        <a:t>B. </a:t>
                      </a:r>
                      <a:r>
                        <a:rPr lang="en-US" sz="1400" b="1" u="none" strike="noStrike" cap="none" dirty="0">
                          <a:solidFill>
                            <a:srgbClr val="FAE5D9"/>
                          </a:solidFill>
                          <a:latin typeface="Open Sans"/>
                          <a:ea typeface="Open Sans"/>
                          <a:cs typeface="Open Sans"/>
                          <a:sym typeface="Open Sans"/>
                        </a:rPr>
                        <a:t>Performance (Actually do it)</a:t>
                      </a:r>
                      <a:endParaRPr sz="1400" b="1" u="none" strike="noStrike" cap="none" dirty="0">
                        <a:latin typeface="Open Sans"/>
                        <a:ea typeface="Open Sans"/>
                        <a:cs typeface="Open Sans"/>
                        <a:sym typeface="Open Sans"/>
                      </a:endParaRPr>
                    </a:p>
                  </a:txBody>
                  <a:tcPr marL="45725" marR="45725" marT="22863" marB="22863" anchor="ctr">
                    <a:solidFill>
                      <a:srgbClr val="739948"/>
                    </a:solidFill>
                  </a:tcPr>
                </a:tc>
                <a:tc>
                  <a:txBody>
                    <a:bodyPr/>
                    <a:lstStyle/>
                    <a:p>
                      <a:pPr marL="0" marR="0" lvl="0" indent="0" algn="ctr" rtl="0">
                        <a:lnSpc>
                          <a:spcPct val="100000"/>
                        </a:lnSpc>
                        <a:spcBef>
                          <a:spcPts val="0"/>
                        </a:spcBef>
                        <a:spcAft>
                          <a:spcPts val="0"/>
                        </a:spcAft>
                        <a:buClr>
                          <a:srgbClr val="000000"/>
                        </a:buClr>
                        <a:buSzPts val="2800"/>
                        <a:buFont typeface="Arial"/>
                        <a:buNone/>
                      </a:pPr>
                      <a:r>
                        <a:rPr lang="en-US" sz="1400" b="1" u="none" strike="noStrike" cap="none" dirty="0">
                          <a:solidFill>
                            <a:schemeClr val="dk1"/>
                          </a:solidFill>
                          <a:latin typeface="Open Sans"/>
                          <a:ea typeface="Open Sans"/>
                          <a:cs typeface="Open Sans"/>
                          <a:sym typeface="Open Sans"/>
                        </a:rPr>
                        <a:t>C.</a:t>
                      </a:r>
                      <a:r>
                        <a:rPr lang="en-US" sz="1400" b="1" u="none" strike="noStrike" cap="none" dirty="0">
                          <a:solidFill>
                            <a:srgbClr val="FAE5D9"/>
                          </a:solidFill>
                          <a:latin typeface="Open Sans"/>
                          <a:ea typeface="Open Sans"/>
                          <a:cs typeface="Open Sans"/>
                          <a:sym typeface="Open Sans"/>
                        </a:rPr>
                        <a:t> Communication</a:t>
                      </a:r>
                      <a:endParaRPr sz="700" u="none" strike="noStrike" cap="none" dirty="0"/>
                    </a:p>
                  </a:txBody>
                  <a:tcPr marL="45725" marR="45725" marT="22863" marB="22863" anchor="ctr">
                    <a:solidFill>
                      <a:srgbClr val="739948"/>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2800"/>
                        <a:buFont typeface="Open Sans"/>
                        <a:buNone/>
                        <a:tabLst/>
                        <a:defRPr/>
                      </a:pPr>
                      <a:r>
                        <a:rPr lang="en-US" sz="1400" b="1" i="0" u="none" strike="noStrike" cap="none" dirty="0">
                          <a:solidFill>
                            <a:schemeClr val="dk1"/>
                          </a:solidFill>
                          <a:latin typeface="Open Sans"/>
                          <a:ea typeface="Open Sans"/>
                          <a:cs typeface="Open Sans"/>
                          <a:sym typeface="Open Sans"/>
                        </a:rPr>
                        <a:t>D. </a:t>
                      </a:r>
                      <a:r>
                        <a:rPr kumimoji="0" lang="en-US" sz="1400" b="1" i="0" u="none" strike="noStrike" kern="0" cap="none" spc="0" normalizeH="0" baseline="0" noProof="0" dirty="0">
                          <a:ln>
                            <a:noFill/>
                          </a:ln>
                          <a:solidFill>
                            <a:srgbClr val="FAE5D9"/>
                          </a:solidFill>
                          <a:effectLst/>
                          <a:uLnTx/>
                          <a:uFillTx/>
                          <a:latin typeface="Open Sans"/>
                          <a:ea typeface="Open Sans"/>
                          <a:cs typeface="Open Sans"/>
                          <a:sym typeface="Open Sans"/>
                        </a:rPr>
                        <a:t>Linking PTs to Patients</a:t>
                      </a:r>
                      <a:endParaRPr sz="700" u="none" strike="noStrike" cap="none" dirty="0"/>
                    </a:p>
                  </a:txBody>
                  <a:tcPr marL="45725" marR="45725" marT="22863" marB="22863" anchor="ctr">
                    <a:solidFill>
                      <a:srgbClr val="739948"/>
                    </a:solidFill>
                  </a:tcPr>
                </a:tc>
                <a:extLst>
                  <a:ext uri="{0D108BD9-81ED-4DB2-BD59-A6C34878D82A}">
                    <a16:rowId xmlns:a16="http://schemas.microsoft.com/office/drawing/2014/main" val="10000"/>
                  </a:ext>
                </a:extLst>
              </a:tr>
              <a:tr h="787070">
                <a:tc>
                  <a:txBody>
                    <a:bodyPr/>
                    <a:lstStyle/>
                    <a:p>
                      <a:pPr marL="0" marR="0" lvl="0" indent="0" algn="ctr" defTabSz="914400" rtl="0" eaLnBrk="1" fontAlgn="auto" latinLnBrk="0" hangingPunct="1">
                        <a:lnSpc>
                          <a:spcPct val="100000"/>
                        </a:lnSpc>
                        <a:spcBef>
                          <a:spcPts val="0"/>
                        </a:spcBef>
                        <a:spcAft>
                          <a:spcPts val="0"/>
                        </a:spcAft>
                        <a:buClr>
                          <a:schemeClr val="dk1"/>
                        </a:buClr>
                        <a:buSzPts val="2500"/>
                        <a:buFont typeface="Open Sans"/>
                        <a:buNone/>
                        <a:tabLst/>
                        <a:defRPr/>
                      </a:pPr>
                      <a:r>
                        <a:rPr lang="en-US" sz="1300" b="1" u="none" strike="noStrike" cap="none" dirty="0">
                          <a:solidFill>
                            <a:schemeClr val="dk1"/>
                          </a:solidFill>
                          <a:latin typeface="Open Sans"/>
                          <a:ea typeface="Open Sans"/>
                          <a:cs typeface="Open Sans"/>
                          <a:sym typeface="Open Sans"/>
                        </a:rPr>
                        <a:t>1.</a:t>
                      </a:r>
                      <a:r>
                        <a:rPr lang="en-US" sz="1300" b="1" u="none" strike="noStrike" cap="none" dirty="0">
                          <a:solidFill>
                            <a:srgbClr val="FAE5D9"/>
                          </a:solidFill>
                          <a:latin typeface="Open Sans"/>
                          <a:ea typeface="Open Sans"/>
                          <a:cs typeface="Open Sans"/>
                          <a:sym typeface="Open Sans"/>
                        </a:rPr>
                        <a:t> </a:t>
                      </a:r>
                      <a:r>
                        <a:rPr kumimoji="0" lang="en-US" sz="1400" b="1" i="0" u="none" strike="noStrike" kern="0" cap="none" spc="0" normalizeH="0" baseline="0" noProof="0" dirty="0">
                          <a:ln>
                            <a:noFill/>
                          </a:ln>
                          <a:solidFill>
                            <a:srgbClr val="FAE5D9"/>
                          </a:solidFill>
                          <a:effectLst/>
                          <a:uLnTx/>
                          <a:uFillTx/>
                          <a:latin typeface="Open Sans"/>
                          <a:ea typeface="Open Sans"/>
                          <a:cs typeface="Open Sans"/>
                          <a:sym typeface="Open Sans"/>
                        </a:rPr>
                        <a:t>Increased Responsibility</a:t>
                      </a:r>
                      <a:endParaRPr sz="700" u="none" strike="noStrike" cap="none" dirty="0"/>
                    </a:p>
                  </a:txBody>
                  <a:tcPr marL="45725" marR="45725" marT="22863" marB="22863" anchor="ctr">
                    <a:lnT w="12700" cap="flat" cmpd="sng">
                      <a:solidFill>
                        <a:schemeClr val="dk1"/>
                      </a:solidFill>
                      <a:prstDash val="solid"/>
                      <a:round/>
                      <a:headEnd type="none" w="sm" len="sm"/>
                      <a:tailEnd type="none" w="sm" len="sm"/>
                    </a:lnT>
                    <a:solidFill>
                      <a:srgbClr val="739948"/>
                    </a:solidFill>
                  </a:tcPr>
                </a:tc>
                <a:tc>
                  <a:txBody>
                    <a:bodyPr/>
                    <a:lstStyle/>
                    <a:p>
                      <a:pPr marL="0" marR="0" lvl="0" indent="0" algn="l" rtl="0">
                        <a:lnSpc>
                          <a:spcPct val="100000"/>
                        </a:lnSpc>
                        <a:spcBef>
                          <a:spcPts val="0"/>
                        </a:spcBef>
                        <a:spcAft>
                          <a:spcPts val="0"/>
                        </a:spcAft>
                        <a:buClr>
                          <a:schemeClr val="dk1"/>
                        </a:buClr>
                        <a:buSzPts val="2500"/>
                        <a:buFont typeface="Open Sans"/>
                        <a:buNone/>
                      </a:pPr>
                      <a:r>
                        <a:rPr lang="en-US" sz="800" dirty="0">
                          <a:latin typeface="Open Sans"/>
                          <a:ea typeface="Open Sans"/>
                          <a:cs typeface="Open Sans"/>
                          <a:sym typeface="Open Sans"/>
                        </a:rPr>
                        <a:t>Exercise tracker with consistency/streak rewards.</a:t>
                      </a:r>
                      <a:endParaRPr sz="800" dirty="0">
                        <a:latin typeface="Open Sans"/>
                        <a:ea typeface="Open Sans"/>
                        <a:cs typeface="Open Sans"/>
                        <a:sym typeface="Open Sans"/>
                      </a:endParaRPr>
                    </a:p>
                  </a:txBody>
                  <a:tcPr marL="45725" marR="45725" marT="22863" marB="22863"/>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solidFill>
                            <a:schemeClr val="dk1"/>
                          </a:solidFill>
                          <a:latin typeface="Open Sans"/>
                          <a:ea typeface="Open Sans"/>
                          <a:cs typeface="Open Sans"/>
                          <a:sym typeface="Open Sans"/>
                        </a:rPr>
                        <a:t>Exercise recorder; ensure exercise is performed.</a:t>
                      </a:r>
                      <a:endParaRPr sz="800" u="none" strike="noStrike" cap="none" dirty="0">
                        <a:solidFill>
                          <a:schemeClr val="dk1"/>
                        </a:solidFill>
                        <a:latin typeface="Open Sans"/>
                        <a:ea typeface="Open Sans"/>
                        <a:cs typeface="Open Sans"/>
                        <a:sym typeface="Open Sans"/>
                      </a:endParaRPr>
                    </a:p>
                  </a:txBody>
                  <a:tcPr marL="45725" marR="45725" marT="22863" marB="22863"/>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Short digital meeting facilitator.</a:t>
                      </a:r>
                      <a:endParaRPr sz="800" u="none" strike="noStrike" cap="none" dirty="0">
                        <a:latin typeface="Open Sans"/>
                        <a:ea typeface="Open Sans"/>
                        <a:cs typeface="Open Sans"/>
                        <a:sym typeface="Open Sans"/>
                      </a:endParaRPr>
                    </a:p>
                  </a:txBody>
                  <a:tcPr marL="45725" marR="45725" marT="22863" marB="22863"/>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Platform for physiotherapy selection; tinder for physios!</a:t>
                      </a:r>
                      <a:endParaRPr sz="800" u="none" strike="noStrike" cap="none" dirty="0">
                        <a:latin typeface="Open Sans"/>
                        <a:ea typeface="Open Sans"/>
                        <a:cs typeface="Open Sans"/>
                        <a:sym typeface="Open Sans"/>
                      </a:endParaRPr>
                    </a:p>
                  </a:txBody>
                  <a:tcPr marL="45725" marR="45725" marT="22863" marB="22863"/>
                </a:tc>
                <a:extLst>
                  <a:ext uri="{0D108BD9-81ED-4DB2-BD59-A6C34878D82A}">
                    <a16:rowId xmlns:a16="http://schemas.microsoft.com/office/drawing/2014/main" val="10001"/>
                  </a:ext>
                </a:extLst>
              </a:tr>
              <a:tr h="723393">
                <a:tc>
                  <a:txBody>
                    <a:bodyPr/>
                    <a:lstStyle/>
                    <a:p>
                      <a:pPr marL="0" marR="0" lvl="0" indent="0" algn="ctr" defTabSz="914400" rtl="0" eaLnBrk="1" fontAlgn="auto" latinLnBrk="0" hangingPunct="1">
                        <a:lnSpc>
                          <a:spcPct val="100000"/>
                        </a:lnSpc>
                        <a:spcBef>
                          <a:spcPts val="0"/>
                        </a:spcBef>
                        <a:spcAft>
                          <a:spcPts val="0"/>
                        </a:spcAft>
                        <a:buClr>
                          <a:schemeClr val="dk1"/>
                        </a:buClr>
                        <a:buSzPts val="2500"/>
                        <a:buFont typeface="Open Sans"/>
                        <a:buNone/>
                        <a:tabLst/>
                        <a:defRPr/>
                      </a:pPr>
                      <a:r>
                        <a:rPr lang="en-US" sz="1300" b="1" u="none" strike="noStrike" cap="none" dirty="0">
                          <a:solidFill>
                            <a:schemeClr val="dk1"/>
                          </a:solidFill>
                          <a:latin typeface="Open Sans"/>
                          <a:ea typeface="Open Sans"/>
                          <a:cs typeface="Open Sans"/>
                          <a:sym typeface="Open Sans"/>
                        </a:rPr>
                        <a:t>2.</a:t>
                      </a:r>
                      <a:r>
                        <a:rPr lang="en-US" sz="1300" b="1" u="none" strike="noStrike" cap="none" dirty="0">
                          <a:solidFill>
                            <a:srgbClr val="FAE5D9"/>
                          </a:solidFill>
                          <a:latin typeface="Open Sans"/>
                          <a:ea typeface="Open Sans"/>
                          <a:cs typeface="Open Sans"/>
                          <a:sym typeface="Open Sans"/>
                        </a:rPr>
                        <a:t> </a:t>
                      </a:r>
                      <a:r>
                        <a:rPr kumimoji="0" lang="en-US" sz="1400" b="1" i="0" u="none" strike="noStrike" kern="0" cap="none" spc="0" normalizeH="0" baseline="0" noProof="0" dirty="0">
                          <a:ln>
                            <a:noFill/>
                          </a:ln>
                          <a:solidFill>
                            <a:srgbClr val="FAE5D9"/>
                          </a:solidFill>
                          <a:effectLst/>
                          <a:uLnTx/>
                          <a:uFillTx/>
                          <a:latin typeface="Open Sans"/>
                          <a:ea typeface="Open Sans"/>
                          <a:cs typeface="Open Sans"/>
                          <a:sym typeface="Open Sans"/>
                        </a:rPr>
                        <a:t>Increased Knowledge</a:t>
                      </a:r>
                      <a:endParaRPr sz="700" u="none" strike="noStrike" cap="none" dirty="0"/>
                    </a:p>
                  </a:txBody>
                  <a:tcPr marL="45725" marR="45725" marT="22863" marB="22863" anchor="ctr">
                    <a:solidFill>
                      <a:srgbClr val="73994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dirty="0">
                          <a:solidFill>
                            <a:schemeClr val="dk1"/>
                          </a:solidFill>
                          <a:latin typeface="Open Sans"/>
                          <a:ea typeface="Open Sans"/>
                          <a:cs typeface="Open Sans"/>
                          <a:sym typeface="Open Sans"/>
                        </a:rPr>
                        <a:t>Knowledge base for habit forming and exercise linkage to healing.</a:t>
                      </a:r>
                      <a:endParaRPr sz="800" dirty="0">
                        <a:solidFill>
                          <a:schemeClr val="dk1"/>
                        </a:solidFill>
                        <a:latin typeface="Open Sans"/>
                        <a:ea typeface="Open Sans"/>
                        <a:cs typeface="Open Sans"/>
                        <a:sym typeface="Open Sans"/>
                      </a:endParaRPr>
                    </a:p>
                  </a:txBody>
                  <a:tcPr marL="45725" marR="45725" marT="22863" marB="22863">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Exercise library.</a:t>
                      </a:r>
                      <a:endParaRPr sz="800" u="none" strike="noStrike" cap="none" dirty="0">
                        <a:latin typeface="Open Sans"/>
                        <a:ea typeface="Open Sans"/>
                        <a:cs typeface="Open Sans"/>
                        <a:sym typeface="Open Sans"/>
                      </a:endParaRPr>
                    </a:p>
                  </a:txBody>
                  <a:tcPr marL="45725" marR="45725" marT="22863" marB="22863">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Physiotherapist and patient dedicated communication platform.</a:t>
                      </a:r>
                      <a:endParaRPr sz="800" u="none" strike="noStrike" cap="none" dirty="0">
                        <a:latin typeface="Open Sans"/>
                        <a:ea typeface="Open Sans"/>
                        <a:cs typeface="Open Sans"/>
                        <a:sym typeface="Open Sans"/>
                      </a:endParaRPr>
                    </a:p>
                  </a:txBody>
                  <a:tcPr marL="45725" marR="45725" marT="22863" marB="22863">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Physiotherapy forum, centralized knowledge base.</a:t>
                      </a:r>
                      <a:endParaRPr sz="800" u="none" strike="noStrike" cap="none" dirty="0">
                        <a:latin typeface="Open Sans"/>
                        <a:ea typeface="Open Sans"/>
                        <a:cs typeface="Open Sans"/>
                        <a:sym typeface="Open Sans"/>
                      </a:endParaRPr>
                    </a:p>
                  </a:txBody>
                  <a:tcPr marL="45725" marR="45725" marT="22863" marB="22863">
                    <a:solidFill>
                      <a:srgbClr val="D8D8D8"/>
                    </a:solidFill>
                  </a:tcPr>
                </a:tc>
                <a:extLst>
                  <a:ext uri="{0D108BD9-81ED-4DB2-BD59-A6C34878D82A}">
                    <a16:rowId xmlns:a16="http://schemas.microsoft.com/office/drawing/2014/main" val="10002"/>
                  </a:ext>
                </a:extLst>
              </a:tr>
              <a:tr h="6959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b="1" u="none" strike="noStrike" cap="none" dirty="0">
                          <a:solidFill>
                            <a:schemeClr val="dk1"/>
                          </a:solidFill>
                          <a:latin typeface="Open Sans"/>
                          <a:ea typeface="Open Sans"/>
                          <a:cs typeface="Open Sans"/>
                          <a:sym typeface="Open Sans"/>
                        </a:rPr>
                        <a:t>3.</a:t>
                      </a:r>
                      <a:r>
                        <a:rPr lang="en-US" sz="1300" b="1" u="none" strike="noStrike" cap="none" dirty="0">
                          <a:solidFill>
                            <a:srgbClr val="FAE5D9"/>
                          </a:solidFill>
                          <a:latin typeface="Open Sans"/>
                          <a:ea typeface="Open Sans"/>
                          <a:cs typeface="Open Sans"/>
                          <a:sym typeface="Open Sans"/>
                        </a:rPr>
                        <a:t> </a:t>
                      </a:r>
                      <a:r>
                        <a:rPr kumimoji="0" lang="en-US" sz="1400" b="1" i="0" u="none" strike="noStrike" kern="0" cap="none" spc="0" normalizeH="0" baseline="0" noProof="0" dirty="0">
                          <a:ln>
                            <a:noFill/>
                          </a:ln>
                          <a:solidFill>
                            <a:srgbClr val="FAE5D9"/>
                          </a:solidFill>
                          <a:effectLst/>
                          <a:uLnTx/>
                          <a:uFillTx/>
                          <a:latin typeface="Open Sans"/>
                          <a:ea typeface="Open Sans"/>
                          <a:cs typeface="Open Sans"/>
                          <a:sym typeface="Open Sans"/>
                        </a:rPr>
                        <a:t>Time-Saving</a:t>
                      </a:r>
                      <a:endParaRPr sz="700" u="none" strike="noStrike" cap="none" dirty="0"/>
                    </a:p>
                  </a:txBody>
                  <a:tcPr marL="45725" marR="45725" marT="22863" marB="22863" anchor="ctr">
                    <a:solidFill>
                      <a:srgbClr val="73994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Daily exercise timer.</a:t>
                      </a:r>
                      <a:endParaRPr sz="800" u="none" strike="noStrike" cap="none" dirty="0">
                        <a:latin typeface="Open Sans"/>
                        <a:ea typeface="Open Sans"/>
                        <a:cs typeface="Open Sans"/>
                        <a:sym typeface="Open Sans"/>
                      </a:endParaRPr>
                    </a:p>
                  </a:txBody>
                  <a:tcPr marL="45725" marR="45725" marT="22863" marB="22863"/>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Super-set creator/workout optimizer.</a:t>
                      </a:r>
                      <a:endParaRPr sz="800" u="none" strike="noStrike" cap="none" dirty="0">
                        <a:latin typeface="Open Sans"/>
                        <a:ea typeface="Open Sans"/>
                        <a:cs typeface="Open Sans"/>
                        <a:sym typeface="Open Sans"/>
                      </a:endParaRPr>
                    </a:p>
                  </a:txBody>
                  <a:tcPr marL="45725" marR="45725" marT="22863" marB="22863"/>
                </a:tc>
                <a:tc>
                  <a:txBody>
                    <a:bodyPr/>
                    <a:lstStyle/>
                    <a:p>
                      <a:pPr marL="0" marR="0" lvl="0" indent="0" algn="l" rtl="0">
                        <a:lnSpc>
                          <a:spcPct val="100000"/>
                        </a:lnSpc>
                        <a:spcBef>
                          <a:spcPts val="0"/>
                        </a:spcBef>
                        <a:spcAft>
                          <a:spcPts val="0"/>
                        </a:spcAft>
                        <a:buClr>
                          <a:srgbClr val="000000"/>
                        </a:buClr>
                        <a:buSzPts val="2500"/>
                        <a:buFont typeface="Arial"/>
                        <a:buNone/>
                      </a:pPr>
                      <a:r>
                        <a:rPr lang="en-US" sz="800" dirty="0">
                          <a:latin typeface="Open Sans"/>
                          <a:ea typeface="Open Sans"/>
                          <a:cs typeface="Open Sans"/>
                          <a:sym typeface="Open Sans"/>
                        </a:rPr>
                        <a:t>Daily check-in message, like a sticky note for physiotherapy.</a:t>
                      </a:r>
                      <a:endParaRPr sz="800" dirty="0">
                        <a:latin typeface="Open Sans"/>
                        <a:ea typeface="Open Sans"/>
                        <a:cs typeface="Open Sans"/>
                        <a:sym typeface="Open Sans"/>
                      </a:endParaRPr>
                    </a:p>
                  </a:txBody>
                  <a:tcPr marL="45725" marR="45725" marT="22863" marB="22863"/>
                </a:tc>
                <a:tc>
                  <a:txBody>
                    <a:bodyPr/>
                    <a:lstStyle/>
                    <a:p>
                      <a:pPr marL="0" marR="0" lvl="0" indent="0" algn="l" rtl="0">
                        <a:lnSpc>
                          <a:spcPct val="100000"/>
                        </a:lnSpc>
                        <a:spcBef>
                          <a:spcPts val="0"/>
                        </a:spcBef>
                        <a:spcAft>
                          <a:spcPts val="0"/>
                        </a:spcAft>
                        <a:buClr>
                          <a:srgbClr val="000000"/>
                        </a:buClr>
                        <a:buSzPts val="2500"/>
                        <a:buFont typeface="Arial"/>
                        <a:buNone/>
                      </a:pPr>
                      <a:r>
                        <a:rPr lang="en-US" sz="800" dirty="0">
                          <a:latin typeface="Open Sans"/>
                          <a:ea typeface="Open Sans"/>
                          <a:cs typeface="Open Sans"/>
                          <a:sym typeface="Open Sans"/>
                        </a:rPr>
                        <a:t>Physiotherapist matching based on default entries (survey).</a:t>
                      </a:r>
                      <a:endParaRPr sz="800" dirty="0">
                        <a:latin typeface="Open Sans"/>
                        <a:ea typeface="Open Sans"/>
                        <a:cs typeface="Open Sans"/>
                        <a:sym typeface="Open Sans"/>
                      </a:endParaRPr>
                    </a:p>
                  </a:txBody>
                  <a:tcPr marL="45725" marR="45725" marT="22863" marB="22863"/>
                </a:tc>
                <a:extLst>
                  <a:ext uri="{0D108BD9-81ED-4DB2-BD59-A6C34878D82A}">
                    <a16:rowId xmlns:a16="http://schemas.microsoft.com/office/drawing/2014/main" val="10003"/>
                  </a:ext>
                </a:extLst>
              </a:tr>
              <a:tr h="1287627">
                <a:tc>
                  <a:txBody>
                    <a:bodyPr/>
                    <a:lstStyle/>
                    <a:p>
                      <a:pPr marL="0" marR="0" lvl="0" indent="0" algn="ctr" defTabSz="914400" rtl="0" eaLnBrk="1" fontAlgn="auto" latinLnBrk="0" hangingPunct="1">
                        <a:lnSpc>
                          <a:spcPct val="100000"/>
                        </a:lnSpc>
                        <a:spcBef>
                          <a:spcPts val="0"/>
                        </a:spcBef>
                        <a:spcAft>
                          <a:spcPts val="0"/>
                        </a:spcAft>
                        <a:buClr>
                          <a:schemeClr val="dk1"/>
                        </a:buClr>
                        <a:buSzPts val="2500"/>
                        <a:buFont typeface="Open Sans"/>
                        <a:buNone/>
                        <a:tabLst/>
                        <a:defRPr/>
                      </a:pPr>
                      <a:r>
                        <a:rPr lang="en-US" sz="1300" b="1" u="none" strike="noStrike" cap="none" dirty="0">
                          <a:solidFill>
                            <a:schemeClr val="dk1"/>
                          </a:solidFill>
                          <a:latin typeface="Open Sans"/>
                          <a:ea typeface="Open Sans"/>
                          <a:cs typeface="Open Sans"/>
                          <a:sym typeface="Open Sans"/>
                        </a:rPr>
                        <a:t>4.</a:t>
                      </a:r>
                      <a:r>
                        <a:rPr lang="en-US" sz="1300" b="1" u="none" strike="noStrike" cap="none" dirty="0">
                          <a:solidFill>
                            <a:srgbClr val="FAE5D9"/>
                          </a:solidFill>
                          <a:latin typeface="Open Sans"/>
                          <a:ea typeface="Open Sans"/>
                          <a:cs typeface="Open Sans"/>
                          <a:sym typeface="Open Sans"/>
                        </a:rPr>
                        <a:t> </a:t>
                      </a:r>
                      <a:r>
                        <a:rPr kumimoji="0" lang="en-US" sz="1400" b="1" i="0" u="none" strike="noStrike" kern="0" cap="none" spc="0" normalizeH="0" baseline="0" noProof="0" dirty="0">
                          <a:ln>
                            <a:noFill/>
                          </a:ln>
                          <a:solidFill>
                            <a:srgbClr val="FAE5D9"/>
                          </a:solidFill>
                          <a:effectLst/>
                          <a:uLnTx/>
                          <a:uFillTx/>
                          <a:latin typeface="Open Sans"/>
                          <a:ea typeface="Open Sans"/>
                          <a:cs typeface="Open Sans"/>
                          <a:sym typeface="Open Sans"/>
                        </a:rPr>
                        <a:t>Habit Building</a:t>
                      </a:r>
                      <a:endParaRPr sz="700" u="none" strike="noStrike" cap="none" dirty="0"/>
                    </a:p>
                  </a:txBody>
                  <a:tcPr marL="45725" marR="45725" marT="22863" marB="22863" anchor="ctr">
                    <a:solidFill>
                      <a:srgbClr val="73994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Checklists, trackers, timers, rewards.</a:t>
                      </a:r>
                      <a:endParaRPr sz="800" u="none" strike="noStrike" cap="none" dirty="0">
                        <a:latin typeface="Open Sans"/>
                        <a:ea typeface="Open Sans"/>
                        <a:cs typeface="Open Sans"/>
                        <a:sym typeface="Open Sans"/>
                      </a:endParaRPr>
                    </a:p>
                  </a:txBody>
                  <a:tcPr marL="45725" marR="45725" marT="22863" marB="22863">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Checklists for good form, good repetition growth.</a:t>
                      </a:r>
                      <a:endParaRPr sz="800" u="none" strike="noStrike" cap="none" dirty="0">
                        <a:latin typeface="Open Sans"/>
                        <a:ea typeface="Open Sans"/>
                        <a:cs typeface="Open Sans"/>
                        <a:sym typeface="Open Sans"/>
                      </a:endParaRPr>
                    </a:p>
                  </a:txBody>
                  <a:tcPr marL="45725" marR="45725" marT="22863" marB="22863">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Physiotherapist based daily checklist form.</a:t>
                      </a:r>
                      <a:endParaRPr sz="800" u="none" strike="noStrike" cap="none" dirty="0">
                        <a:latin typeface="Open Sans"/>
                        <a:ea typeface="Open Sans"/>
                        <a:cs typeface="Open Sans"/>
                        <a:sym typeface="Open Sans"/>
                      </a:endParaRPr>
                    </a:p>
                  </a:txBody>
                  <a:tcPr marL="45725" marR="45725" marT="22863" marB="22863">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en-US" sz="800" u="none" strike="noStrike" cap="none" dirty="0">
                          <a:latin typeface="Open Sans"/>
                          <a:ea typeface="Open Sans"/>
                          <a:cs typeface="Open Sans"/>
                          <a:sym typeface="Open Sans"/>
                        </a:rPr>
                        <a:t>Non-singular PT check-in platform. Match with an available PT that can see your chart when you need assistance.</a:t>
                      </a:r>
                      <a:endParaRPr sz="800" u="none" strike="noStrike" cap="none" dirty="0">
                        <a:latin typeface="Open Sans"/>
                        <a:ea typeface="Open Sans"/>
                        <a:cs typeface="Open Sans"/>
                        <a:sym typeface="Open Sans"/>
                      </a:endParaRPr>
                    </a:p>
                  </a:txBody>
                  <a:tcPr marL="45725" marR="45725" marT="22863" marB="22863">
                    <a:solidFill>
                      <a:srgbClr val="D8D8D8"/>
                    </a:solidFill>
                  </a:tcPr>
                </a:tc>
                <a:extLst>
                  <a:ext uri="{0D108BD9-81ED-4DB2-BD59-A6C34878D82A}">
                    <a16:rowId xmlns:a16="http://schemas.microsoft.com/office/drawing/2014/main" val="10004"/>
                  </a:ext>
                </a:extLst>
              </a:tr>
            </a:tbl>
          </a:graphicData>
        </a:graphic>
      </p:graphicFrame>
      <p:sp>
        <p:nvSpPr>
          <p:cNvPr id="415" name="Google Shape;415;p19">
            <a:extLst>
              <a:ext uri="{FF2B5EF4-FFF2-40B4-BE49-F238E27FC236}">
                <a16:creationId xmlns:a16="http://schemas.microsoft.com/office/drawing/2014/main" id="{906CFF17-33BF-8108-B800-100164232786}"/>
              </a:ext>
            </a:extLst>
          </p:cNvPr>
          <p:cNvSpPr txBox="1"/>
          <p:nvPr/>
        </p:nvSpPr>
        <p:spPr>
          <a:xfrm>
            <a:off x="0" y="151006"/>
            <a:ext cx="9144000" cy="720197"/>
          </a:xfrm>
          <a:prstGeom prst="rect">
            <a:avLst/>
          </a:prstGeom>
          <a:noFill/>
          <a:ln>
            <a:noFill/>
          </a:ln>
        </p:spPr>
        <p:txBody>
          <a:bodyPr spcFirstLastPara="1" wrap="square" lIns="0" tIns="0" rIns="0" bIns="0" anchor="t" anchorCtr="0">
            <a:spAutoFit/>
          </a:bodyPr>
          <a:lstStyle/>
          <a:p>
            <a:pPr algn="ctr">
              <a:lnSpc>
                <a:spcPct val="155983"/>
              </a:lnSpc>
              <a:buClr>
                <a:srgbClr val="000000"/>
              </a:buClr>
              <a:buSzPts val="6000"/>
            </a:pPr>
            <a:r>
              <a:rPr lang="en-US" sz="3000" b="1" dirty="0">
                <a:solidFill>
                  <a:srgbClr val="739948"/>
                </a:solidFill>
                <a:latin typeface="Open Sans"/>
                <a:ea typeface="Open Sans"/>
                <a:cs typeface="Open Sans"/>
                <a:sym typeface="Open Sans"/>
              </a:rPr>
              <a:t>Idea Generator (Fill This In)</a:t>
            </a:r>
            <a:endParaRPr sz="700" dirty="0">
              <a:latin typeface="Arial"/>
              <a:ea typeface="Arial"/>
              <a:cs typeface="Arial"/>
            </a:endParaRPr>
          </a:p>
        </p:txBody>
      </p:sp>
      <p:pic>
        <p:nvPicPr>
          <p:cNvPr id="416" name="Google Shape;416;p19">
            <a:extLst>
              <a:ext uri="{FF2B5EF4-FFF2-40B4-BE49-F238E27FC236}">
                <a16:creationId xmlns:a16="http://schemas.microsoft.com/office/drawing/2014/main" id="{F77802F1-D790-5DCB-C2FB-582AB6846334}"/>
              </a:ext>
            </a:extLst>
          </p:cNvPr>
          <p:cNvPicPr preferRelativeResize="0"/>
          <p:nvPr/>
        </p:nvPicPr>
        <p:blipFill rotWithShape="1">
          <a:blip r:embed="rId3">
            <a:alphaModFix/>
          </a:blip>
          <a:srcRect t="5829"/>
          <a:stretch/>
        </p:blipFill>
        <p:spPr>
          <a:xfrm>
            <a:off x="7486352" y="153924"/>
            <a:ext cx="1104900" cy="714360"/>
          </a:xfrm>
          <a:prstGeom prst="rect">
            <a:avLst/>
          </a:prstGeom>
          <a:noFill/>
          <a:ln>
            <a:noFill/>
          </a:ln>
        </p:spPr>
      </p:pic>
    </p:spTree>
    <p:extLst>
      <p:ext uri="{BB962C8B-B14F-4D97-AF65-F5344CB8AC3E}">
        <p14:creationId xmlns:p14="http://schemas.microsoft.com/office/powerpoint/2010/main" val="3213850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Shape"/>
          <p:cNvSpPr/>
          <p:nvPr/>
        </p:nvSpPr>
        <p:spPr>
          <a:xfrm>
            <a:off x="3594869" y="4537224"/>
            <a:ext cx="2733356" cy="512419"/>
          </a:xfrm>
          <a:custGeom>
            <a:avLst/>
            <a:gdLst/>
            <a:ahLst/>
            <a:cxnLst>
              <a:cxn ang="0">
                <a:pos x="wd2" y="hd2"/>
              </a:cxn>
              <a:cxn ang="5400000">
                <a:pos x="wd2" y="hd2"/>
              </a:cxn>
              <a:cxn ang="10800000">
                <a:pos x="wd2" y="hd2"/>
              </a:cxn>
              <a:cxn ang="16200000">
                <a:pos x="wd2" y="hd2"/>
              </a:cxn>
            </a:cxnLst>
            <a:rect l="0" t="0" r="r" b="b"/>
            <a:pathLst>
              <a:path w="21600" h="21600" extrusionOk="0">
                <a:moveTo>
                  <a:pt x="1125" y="21600"/>
                </a:moveTo>
                <a:lnTo>
                  <a:pt x="20475" y="21600"/>
                </a:lnTo>
                <a:cubicBezTo>
                  <a:pt x="20681" y="21600"/>
                  <a:pt x="20857" y="21600"/>
                  <a:pt x="21017" y="21211"/>
                </a:cubicBezTo>
                <a:cubicBezTo>
                  <a:pt x="21281" y="20509"/>
                  <a:pt x="21486" y="18534"/>
                  <a:pt x="21559" y="16006"/>
                </a:cubicBezTo>
                <a:cubicBezTo>
                  <a:pt x="21600" y="14468"/>
                  <a:pt x="21600" y="12778"/>
                  <a:pt x="21600" y="10800"/>
                </a:cubicBezTo>
                <a:cubicBezTo>
                  <a:pt x="21600" y="8822"/>
                  <a:pt x="21600" y="7132"/>
                  <a:pt x="21559" y="5594"/>
                </a:cubicBezTo>
                <a:cubicBezTo>
                  <a:pt x="21486" y="3066"/>
                  <a:pt x="21281" y="1091"/>
                  <a:pt x="21017" y="389"/>
                </a:cubicBezTo>
                <a:cubicBezTo>
                  <a:pt x="20857" y="0"/>
                  <a:pt x="20681" y="0"/>
                  <a:pt x="20475" y="0"/>
                </a:cubicBezTo>
                <a:lnTo>
                  <a:pt x="1125" y="0"/>
                </a:lnTo>
                <a:cubicBezTo>
                  <a:pt x="919" y="0"/>
                  <a:pt x="743" y="0"/>
                  <a:pt x="583" y="389"/>
                </a:cubicBezTo>
                <a:cubicBezTo>
                  <a:pt x="319" y="1091"/>
                  <a:pt x="114" y="3066"/>
                  <a:pt x="41" y="5594"/>
                </a:cubicBezTo>
                <a:cubicBezTo>
                  <a:pt x="0" y="7132"/>
                  <a:pt x="0" y="8822"/>
                  <a:pt x="0" y="10800"/>
                </a:cubicBezTo>
                <a:cubicBezTo>
                  <a:pt x="0" y="12778"/>
                  <a:pt x="0" y="14468"/>
                  <a:pt x="41" y="16006"/>
                </a:cubicBezTo>
                <a:cubicBezTo>
                  <a:pt x="114" y="18534"/>
                  <a:pt x="319" y="20509"/>
                  <a:pt x="583" y="21211"/>
                </a:cubicBezTo>
                <a:cubicBezTo>
                  <a:pt x="743" y="21600"/>
                  <a:pt x="919" y="21600"/>
                  <a:pt x="1125" y="21600"/>
                </a:cubicBezTo>
                <a:close/>
              </a:path>
            </a:pathLst>
          </a:custGeom>
          <a:solidFill>
            <a:srgbClr val="FFFF00"/>
          </a:solidFill>
          <a:ln w="12700" cap="flat">
            <a:solidFill>
              <a:srgbClr val="000000"/>
            </a:solidFill>
            <a:prstDash val="solid"/>
            <a:round/>
          </a:ln>
          <a:effectLst/>
        </p:spPr>
        <p:txBody>
          <a:bodyPr wrap="square" lIns="45719" tIns="45719" rIns="45719" bIns="45719" numCol="1" anchor="ctr">
            <a:noAutofit/>
          </a:bodyPr>
          <a:lstStyle/>
          <a:p>
            <a:pPr algn="ctr">
              <a:defRPr sz="900"/>
            </a:pPr>
            <a:r>
              <a:rPr lang="en-CA" dirty="0"/>
              <a:t>(Prototype 1)</a:t>
            </a:r>
          </a:p>
          <a:p>
            <a:pPr algn="ctr">
              <a:defRPr sz="900"/>
            </a:pPr>
            <a:r>
              <a:rPr lang="en-CA" dirty="0"/>
              <a:t>B1: Exercise Recorder</a:t>
            </a:r>
            <a:endParaRPr dirty="0"/>
          </a:p>
        </p:txBody>
      </p:sp>
      <p:sp>
        <p:nvSpPr>
          <p:cNvPr id="308" name="Problem Definition"/>
          <p:cNvSpPr txBox="1"/>
          <p:nvPr/>
        </p:nvSpPr>
        <p:spPr>
          <a:xfrm>
            <a:off x="273522" y="303543"/>
            <a:ext cx="3644146" cy="4616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lvl1pPr>
              <a:defRPr b="1">
                <a:latin typeface="+mj-lt"/>
                <a:ea typeface="+mj-ea"/>
                <a:cs typeface="+mj-cs"/>
                <a:sym typeface="Helvetica"/>
              </a:defRPr>
            </a:lvl1pPr>
          </a:lstStyle>
          <a:p>
            <a:r>
              <a:rPr lang="en-US" sz="1800" dirty="0"/>
              <a:t>Desirability vs. Feasibility Plot</a:t>
            </a:r>
            <a:endParaRPr sz="1800" dirty="0"/>
          </a:p>
        </p:txBody>
      </p:sp>
      <p:sp>
        <p:nvSpPr>
          <p:cNvPr id="346" name="Rectangle"/>
          <p:cNvSpPr/>
          <p:nvPr/>
        </p:nvSpPr>
        <p:spPr>
          <a:xfrm>
            <a:off x="6735762" y="504825"/>
            <a:ext cx="790576" cy="260351"/>
          </a:xfrm>
          <a:prstGeom prst="rect">
            <a:avLst/>
          </a:prstGeom>
          <a:solidFill>
            <a:srgbClr val="FFFFFF"/>
          </a:solidFill>
          <a:ln w="12700" cap="flat">
            <a:noFill/>
            <a:miter lim="400000"/>
          </a:ln>
          <a:effectLst/>
        </p:spPr>
        <p:txBody>
          <a:bodyPr wrap="square" lIns="45719" tIns="45719" rIns="45719" bIns="45719" numCol="1" anchor="t">
            <a:noAutofit/>
          </a:bodyPr>
          <a:lstStyle/>
          <a:p>
            <a:pPr>
              <a:defRPr sz="1200" b="1">
                <a:latin typeface="+mj-lt"/>
                <a:ea typeface="+mj-ea"/>
                <a:cs typeface="+mj-cs"/>
                <a:sym typeface="Helvetica"/>
              </a:defRPr>
            </a:pPr>
            <a:endParaRPr dirty="0"/>
          </a:p>
        </p:txBody>
      </p:sp>
      <p:pic>
        <p:nvPicPr>
          <p:cNvPr id="352" name="image.png" descr="image.png"/>
          <p:cNvPicPr>
            <a:picLocks noChangeAspect="1"/>
          </p:cNvPicPr>
          <p:nvPr/>
        </p:nvPicPr>
        <p:blipFill>
          <a:blip r:embed="rId2"/>
          <a:stretch>
            <a:fillRect/>
          </a:stretch>
        </p:blipFill>
        <p:spPr>
          <a:xfrm>
            <a:off x="7883525" y="15875"/>
            <a:ext cx="1260475" cy="909638"/>
          </a:xfrm>
          <a:prstGeom prst="rect">
            <a:avLst/>
          </a:prstGeom>
          <a:ln w="12700">
            <a:miter lim="400000"/>
          </a:ln>
        </p:spPr>
      </p:pic>
      <p:sp>
        <p:nvSpPr>
          <p:cNvPr id="3" name="TextBox 2">
            <a:extLst>
              <a:ext uri="{FF2B5EF4-FFF2-40B4-BE49-F238E27FC236}">
                <a16:creationId xmlns:a16="http://schemas.microsoft.com/office/drawing/2014/main" id="{03991FE7-B614-2D97-BB11-FD76C8194CEC}"/>
              </a:ext>
            </a:extLst>
          </p:cNvPr>
          <p:cNvSpPr txBox="1"/>
          <p:nvPr/>
        </p:nvSpPr>
        <p:spPr>
          <a:xfrm>
            <a:off x="61523" y="2586831"/>
            <a:ext cx="457200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endParaRPr lang="en-US" dirty="0"/>
          </a:p>
        </p:txBody>
      </p:sp>
      <p:sp>
        <p:nvSpPr>
          <p:cNvPr id="5" name="TextBox 4">
            <a:extLst>
              <a:ext uri="{FF2B5EF4-FFF2-40B4-BE49-F238E27FC236}">
                <a16:creationId xmlns:a16="http://schemas.microsoft.com/office/drawing/2014/main" id="{F2B072A7-5734-D170-DAA3-E3896A5A601E}"/>
              </a:ext>
            </a:extLst>
          </p:cNvPr>
          <p:cNvSpPr txBox="1"/>
          <p:nvPr/>
        </p:nvSpPr>
        <p:spPr>
          <a:xfrm>
            <a:off x="274320" y="1015544"/>
            <a:ext cx="2938007" cy="22461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rtl="0">
              <a:lnSpc>
                <a:spcPct val="144540"/>
              </a:lnSpc>
              <a:spcBef>
                <a:spcPts val="0"/>
              </a:spcBef>
              <a:spcAft>
                <a:spcPts val="0"/>
              </a:spcAft>
              <a:buClr>
                <a:srgbClr val="000000"/>
              </a:buClr>
              <a:buSzPts val="3700"/>
              <a:buFont typeface="Arial"/>
              <a:buNone/>
            </a:pPr>
            <a:r>
              <a:rPr lang="en-US" sz="1400" b="0" i="0" u="none" strike="noStrike" cap="none" dirty="0">
                <a:solidFill>
                  <a:srgbClr val="000000"/>
                </a:solidFill>
                <a:latin typeface="Open Sans"/>
                <a:ea typeface="Open Sans"/>
                <a:cs typeface="Open Sans"/>
                <a:sym typeface="Open Sans"/>
              </a:rPr>
              <a:t>1. As a group, discuss the ideas in reverse order, and assign then Desirability and Feasibility scores by plotting the number on the scatter plot.</a:t>
            </a:r>
            <a:endParaRPr lang="en-US" sz="800" b="0" i="0" u="none" strike="noStrike" cap="none" dirty="0">
              <a:solidFill>
                <a:srgbClr val="000000"/>
              </a:solidFill>
              <a:latin typeface="Arial"/>
              <a:ea typeface="Arial"/>
              <a:cs typeface="Arial"/>
              <a:sym typeface="Arial"/>
            </a:endParaRPr>
          </a:p>
          <a:p>
            <a:pPr marL="0" marR="0" lvl="0" indent="0" algn="l" rtl="0">
              <a:lnSpc>
                <a:spcPct val="144540"/>
              </a:lnSpc>
              <a:spcBef>
                <a:spcPts val="0"/>
              </a:spcBef>
              <a:spcAft>
                <a:spcPts val="0"/>
              </a:spcAft>
              <a:buClr>
                <a:srgbClr val="000000"/>
              </a:buClr>
              <a:buSzPts val="3700"/>
              <a:buFont typeface="Arial"/>
              <a:buNone/>
            </a:pPr>
            <a:r>
              <a:rPr lang="en-US" sz="1400" b="0" i="0" u="none" strike="noStrike" cap="none" dirty="0">
                <a:solidFill>
                  <a:srgbClr val="000000"/>
                </a:solidFill>
                <a:latin typeface="Open Sans"/>
                <a:ea typeface="Open Sans"/>
                <a:cs typeface="Open Sans"/>
                <a:sym typeface="Open Sans"/>
              </a:rPr>
              <a:t>2. Pick the best two overall ideas write it in the boxes below. </a:t>
            </a:r>
            <a:endParaRPr lang="en-US" sz="800" b="0" i="0" u="none" strike="noStrike" cap="none" dirty="0">
              <a:solidFill>
                <a:srgbClr val="000000"/>
              </a:solidFill>
              <a:latin typeface="Arial"/>
              <a:ea typeface="Arial"/>
              <a:cs typeface="Arial"/>
              <a:sym typeface="Arial"/>
            </a:endParaRPr>
          </a:p>
        </p:txBody>
      </p:sp>
      <p:sp>
        <p:nvSpPr>
          <p:cNvPr id="10" name="Google Shape;430;p20">
            <a:extLst>
              <a:ext uri="{FF2B5EF4-FFF2-40B4-BE49-F238E27FC236}">
                <a16:creationId xmlns:a16="http://schemas.microsoft.com/office/drawing/2014/main" id="{AB617283-8D77-FACA-EE05-D5E1B66163D5}"/>
              </a:ext>
            </a:extLst>
          </p:cNvPr>
          <p:cNvSpPr/>
          <p:nvPr/>
        </p:nvSpPr>
        <p:spPr>
          <a:xfrm>
            <a:off x="10834429" y="8483277"/>
            <a:ext cx="1105883" cy="513384"/>
          </a:xfrm>
          <a:prstGeom prst="roundRect">
            <a:avLst>
              <a:gd name="adj" fmla="val 16667"/>
            </a:avLst>
          </a:prstGeom>
          <a:solidFill>
            <a:srgbClr val="739948"/>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C4</a:t>
            </a:r>
            <a:endParaRPr sz="1400" b="0" i="0" u="none" strike="noStrike" cap="none" dirty="0">
              <a:solidFill>
                <a:srgbClr val="000000"/>
              </a:solidFill>
              <a:latin typeface="Arial"/>
              <a:ea typeface="Arial"/>
              <a:cs typeface="Arial"/>
              <a:sym typeface="Arial"/>
            </a:endParaRPr>
          </a:p>
        </p:txBody>
      </p:sp>
      <p:sp>
        <p:nvSpPr>
          <p:cNvPr id="14" name="Google Shape;434;p20">
            <a:extLst>
              <a:ext uri="{FF2B5EF4-FFF2-40B4-BE49-F238E27FC236}">
                <a16:creationId xmlns:a16="http://schemas.microsoft.com/office/drawing/2014/main" id="{01E49E06-E064-CF71-1C9C-8A796332B406}"/>
              </a:ext>
            </a:extLst>
          </p:cNvPr>
          <p:cNvSpPr/>
          <p:nvPr/>
        </p:nvSpPr>
        <p:spPr>
          <a:xfrm>
            <a:off x="1255791" y="3359451"/>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A3</a:t>
            </a:r>
            <a:endParaRPr sz="1400" b="0" i="0" u="none" strike="noStrike" cap="none" dirty="0">
              <a:solidFill>
                <a:srgbClr val="000000"/>
              </a:solidFill>
              <a:latin typeface="Arial"/>
              <a:ea typeface="Arial"/>
              <a:cs typeface="Arial"/>
              <a:sym typeface="Arial"/>
            </a:endParaRPr>
          </a:p>
        </p:txBody>
      </p:sp>
      <p:sp>
        <p:nvSpPr>
          <p:cNvPr id="18" name="Google Shape;438;p20">
            <a:extLst>
              <a:ext uri="{FF2B5EF4-FFF2-40B4-BE49-F238E27FC236}">
                <a16:creationId xmlns:a16="http://schemas.microsoft.com/office/drawing/2014/main" id="{953A47FB-60F9-7728-837B-23AEF79F5824}"/>
              </a:ext>
            </a:extLst>
          </p:cNvPr>
          <p:cNvSpPr/>
          <p:nvPr/>
        </p:nvSpPr>
        <p:spPr>
          <a:xfrm>
            <a:off x="2639940" y="3359451"/>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B3</a:t>
            </a:r>
            <a:endParaRPr sz="1400" b="0" i="0" u="none" strike="noStrike" cap="none" dirty="0">
              <a:solidFill>
                <a:srgbClr val="000000"/>
              </a:solidFill>
              <a:latin typeface="Arial"/>
              <a:ea typeface="Arial"/>
              <a:cs typeface="Arial"/>
              <a:sym typeface="Arial"/>
            </a:endParaRPr>
          </a:p>
        </p:txBody>
      </p:sp>
      <p:sp>
        <p:nvSpPr>
          <p:cNvPr id="11" name="Google Shape;431;p20">
            <a:extLst>
              <a:ext uri="{FF2B5EF4-FFF2-40B4-BE49-F238E27FC236}">
                <a16:creationId xmlns:a16="http://schemas.microsoft.com/office/drawing/2014/main" id="{CE62B393-A0D3-CB5C-2457-177E30BB2B5F}"/>
              </a:ext>
            </a:extLst>
          </p:cNvPr>
          <p:cNvSpPr/>
          <p:nvPr/>
        </p:nvSpPr>
        <p:spPr>
          <a:xfrm>
            <a:off x="1947853" y="3359451"/>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D1</a:t>
            </a:r>
            <a:endParaRPr sz="1400" b="0" i="0" u="none" strike="noStrike" cap="none" dirty="0">
              <a:solidFill>
                <a:srgbClr val="000000"/>
              </a:solidFill>
              <a:latin typeface="Arial"/>
              <a:ea typeface="Arial"/>
              <a:cs typeface="Arial"/>
              <a:sym typeface="Arial"/>
            </a:endParaRPr>
          </a:p>
        </p:txBody>
      </p:sp>
      <p:sp>
        <p:nvSpPr>
          <p:cNvPr id="7" name="Google Shape;427;p20">
            <a:extLst>
              <a:ext uri="{FF2B5EF4-FFF2-40B4-BE49-F238E27FC236}">
                <a16:creationId xmlns:a16="http://schemas.microsoft.com/office/drawing/2014/main" id="{04D65520-22A4-D5A8-EAF2-A35401631357}"/>
              </a:ext>
            </a:extLst>
          </p:cNvPr>
          <p:cNvSpPr/>
          <p:nvPr/>
        </p:nvSpPr>
        <p:spPr>
          <a:xfrm>
            <a:off x="563729" y="3359451"/>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C1</a:t>
            </a:r>
            <a:endParaRPr sz="1400" b="0" i="0" u="none" strike="noStrike" cap="none" dirty="0">
              <a:solidFill>
                <a:srgbClr val="000000"/>
              </a:solidFill>
              <a:latin typeface="Arial"/>
              <a:ea typeface="Arial"/>
              <a:cs typeface="Arial"/>
              <a:sym typeface="Arial"/>
            </a:endParaRPr>
          </a:p>
        </p:txBody>
      </p:sp>
      <p:sp>
        <p:nvSpPr>
          <p:cNvPr id="15" name="Google Shape;435;p20">
            <a:extLst>
              <a:ext uri="{FF2B5EF4-FFF2-40B4-BE49-F238E27FC236}">
                <a16:creationId xmlns:a16="http://schemas.microsoft.com/office/drawing/2014/main" id="{2C798BD3-139C-27F0-5A6E-F6423DA5D804}"/>
              </a:ext>
            </a:extLst>
          </p:cNvPr>
          <p:cNvSpPr/>
          <p:nvPr/>
        </p:nvSpPr>
        <p:spPr>
          <a:xfrm>
            <a:off x="1255791" y="4543916"/>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A4</a:t>
            </a:r>
            <a:endParaRPr sz="1400" b="0" i="0" u="none" strike="noStrike" cap="none" dirty="0">
              <a:solidFill>
                <a:srgbClr val="000000"/>
              </a:solidFill>
              <a:latin typeface="Arial"/>
              <a:ea typeface="Arial"/>
              <a:cs typeface="Arial"/>
              <a:sym typeface="Arial"/>
            </a:endParaRPr>
          </a:p>
        </p:txBody>
      </p:sp>
      <p:sp>
        <p:nvSpPr>
          <p:cNvPr id="19" name="Google Shape;439;p20">
            <a:extLst>
              <a:ext uri="{FF2B5EF4-FFF2-40B4-BE49-F238E27FC236}">
                <a16:creationId xmlns:a16="http://schemas.microsoft.com/office/drawing/2014/main" id="{C148487D-0C92-64D3-3DB3-474075AB7367}"/>
              </a:ext>
            </a:extLst>
          </p:cNvPr>
          <p:cNvSpPr/>
          <p:nvPr/>
        </p:nvSpPr>
        <p:spPr>
          <a:xfrm>
            <a:off x="2639916" y="4543889"/>
            <a:ext cx="633262" cy="330340"/>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B4</a:t>
            </a:r>
            <a:endParaRPr sz="1400" b="0" i="0" u="none" strike="noStrike" cap="none" dirty="0">
              <a:solidFill>
                <a:srgbClr val="000000"/>
              </a:solidFill>
              <a:latin typeface="Arial"/>
              <a:ea typeface="Arial"/>
              <a:cs typeface="Arial"/>
              <a:sym typeface="Arial"/>
            </a:endParaRPr>
          </a:p>
        </p:txBody>
      </p:sp>
      <p:sp>
        <p:nvSpPr>
          <p:cNvPr id="13" name="Google Shape;433;p20">
            <a:extLst>
              <a:ext uri="{FF2B5EF4-FFF2-40B4-BE49-F238E27FC236}">
                <a16:creationId xmlns:a16="http://schemas.microsoft.com/office/drawing/2014/main" id="{9D3289F1-776E-BA3B-32C3-A71906AA0A31}"/>
              </a:ext>
            </a:extLst>
          </p:cNvPr>
          <p:cNvSpPr/>
          <p:nvPr/>
        </p:nvSpPr>
        <p:spPr>
          <a:xfrm>
            <a:off x="1947853" y="4543916"/>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A2</a:t>
            </a:r>
            <a:endParaRPr sz="1400" b="0" i="0" u="none" strike="noStrike" cap="none" dirty="0">
              <a:solidFill>
                <a:srgbClr val="000000"/>
              </a:solidFill>
              <a:latin typeface="Arial"/>
              <a:ea typeface="Arial"/>
              <a:cs typeface="Arial"/>
              <a:sym typeface="Arial"/>
            </a:endParaRPr>
          </a:p>
        </p:txBody>
      </p:sp>
      <p:sp>
        <p:nvSpPr>
          <p:cNvPr id="8" name="Google Shape;428;p20">
            <a:extLst>
              <a:ext uri="{FF2B5EF4-FFF2-40B4-BE49-F238E27FC236}">
                <a16:creationId xmlns:a16="http://schemas.microsoft.com/office/drawing/2014/main" id="{855C366E-B4C1-E646-5C89-DD800AAA8891}"/>
              </a:ext>
            </a:extLst>
          </p:cNvPr>
          <p:cNvSpPr/>
          <p:nvPr/>
        </p:nvSpPr>
        <p:spPr>
          <a:xfrm>
            <a:off x="6011618" y="893762"/>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C2</a:t>
            </a:r>
            <a:endParaRPr sz="1400" b="0" i="0" u="none" strike="noStrike" cap="none" dirty="0">
              <a:solidFill>
                <a:srgbClr val="000000"/>
              </a:solidFill>
              <a:latin typeface="Arial"/>
              <a:ea typeface="Arial"/>
              <a:cs typeface="Arial"/>
              <a:sym typeface="Arial"/>
            </a:endParaRPr>
          </a:p>
        </p:txBody>
      </p:sp>
      <p:sp>
        <p:nvSpPr>
          <p:cNvPr id="9" name="Google Shape;429;p20">
            <a:extLst>
              <a:ext uri="{FF2B5EF4-FFF2-40B4-BE49-F238E27FC236}">
                <a16:creationId xmlns:a16="http://schemas.microsoft.com/office/drawing/2014/main" id="{E35F2F3A-92AA-4EBB-4205-0993B18629B9}"/>
              </a:ext>
            </a:extLst>
          </p:cNvPr>
          <p:cNvSpPr/>
          <p:nvPr/>
        </p:nvSpPr>
        <p:spPr>
          <a:xfrm>
            <a:off x="1255791" y="3754264"/>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C3</a:t>
            </a:r>
            <a:endParaRPr sz="1400" b="0" i="0" u="none" strike="noStrike" cap="none" dirty="0">
              <a:solidFill>
                <a:srgbClr val="000000"/>
              </a:solidFill>
              <a:latin typeface="Arial"/>
              <a:ea typeface="Arial"/>
              <a:cs typeface="Arial"/>
              <a:sym typeface="Arial"/>
            </a:endParaRPr>
          </a:p>
        </p:txBody>
      </p:sp>
      <p:sp>
        <p:nvSpPr>
          <p:cNvPr id="16" name="Google Shape;436;p20">
            <a:extLst>
              <a:ext uri="{FF2B5EF4-FFF2-40B4-BE49-F238E27FC236}">
                <a16:creationId xmlns:a16="http://schemas.microsoft.com/office/drawing/2014/main" id="{A0F71AF8-03F4-35C8-929C-80B668229DF0}"/>
              </a:ext>
            </a:extLst>
          </p:cNvPr>
          <p:cNvSpPr/>
          <p:nvPr/>
        </p:nvSpPr>
        <p:spPr>
          <a:xfrm>
            <a:off x="7250311" y="1921996"/>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B1</a:t>
            </a:r>
            <a:endParaRPr sz="1400" b="0" i="0" u="none" strike="noStrike" cap="none" dirty="0">
              <a:solidFill>
                <a:srgbClr val="000000"/>
              </a:solidFill>
              <a:latin typeface="Arial"/>
              <a:ea typeface="Arial"/>
              <a:cs typeface="Arial"/>
              <a:sym typeface="Arial"/>
            </a:endParaRPr>
          </a:p>
        </p:txBody>
      </p:sp>
      <p:sp>
        <p:nvSpPr>
          <p:cNvPr id="17" name="Google Shape;437;p20">
            <a:extLst>
              <a:ext uri="{FF2B5EF4-FFF2-40B4-BE49-F238E27FC236}">
                <a16:creationId xmlns:a16="http://schemas.microsoft.com/office/drawing/2014/main" id="{A411C270-244D-AE65-7159-8CF10B44BBAE}"/>
              </a:ext>
            </a:extLst>
          </p:cNvPr>
          <p:cNvSpPr/>
          <p:nvPr/>
        </p:nvSpPr>
        <p:spPr>
          <a:xfrm>
            <a:off x="1947853" y="3754264"/>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B2</a:t>
            </a:r>
            <a:endParaRPr sz="1400" b="0" i="0" u="none" strike="noStrike" cap="none" dirty="0">
              <a:solidFill>
                <a:srgbClr val="000000"/>
              </a:solidFill>
              <a:latin typeface="Arial"/>
              <a:ea typeface="Arial"/>
              <a:cs typeface="Arial"/>
              <a:sym typeface="Arial"/>
            </a:endParaRPr>
          </a:p>
        </p:txBody>
      </p:sp>
      <p:sp>
        <p:nvSpPr>
          <p:cNvPr id="21" name="Google Shape;440;p20">
            <a:extLst>
              <a:ext uri="{FF2B5EF4-FFF2-40B4-BE49-F238E27FC236}">
                <a16:creationId xmlns:a16="http://schemas.microsoft.com/office/drawing/2014/main" id="{174E3F50-A999-7FB6-E939-EEBD737A55D7}"/>
              </a:ext>
            </a:extLst>
          </p:cNvPr>
          <p:cNvSpPr/>
          <p:nvPr/>
        </p:nvSpPr>
        <p:spPr>
          <a:xfrm>
            <a:off x="563729" y="3754264"/>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D4</a:t>
            </a:r>
            <a:endParaRPr sz="1400" b="0" i="0" u="none" strike="noStrike" cap="none" dirty="0">
              <a:solidFill>
                <a:srgbClr val="000000"/>
              </a:solidFill>
              <a:latin typeface="Arial"/>
              <a:ea typeface="Arial"/>
              <a:cs typeface="Arial"/>
              <a:sym typeface="Arial"/>
            </a:endParaRPr>
          </a:p>
        </p:txBody>
      </p:sp>
      <p:sp>
        <p:nvSpPr>
          <p:cNvPr id="6" name="Google Shape;426;p20">
            <a:extLst>
              <a:ext uri="{FF2B5EF4-FFF2-40B4-BE49-F238E27FC236}">
                <a16:creationId xmlns:a16="http://schemas.microsoft.com/office/drawing/2014/main" id="{A3EDE88E-C997-5D6B-D878-D5E43D35AFA0}"/>
              </a:ext>
            </a:extLst>
          </p:cNvPr>
          <p:cNvSpPr/>
          <p:nvPr/>
        </p:nvSpPr>
        <p:spPr>
          <a:xfrm>
            <a:off x="1255791" y="4149077"/>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A1</a:t>
            </a:r>
            <a:endParaRPr sz="1400" b="0" i="0" u="none" strike="noStrike" cap="none" dirty="0">
              <a:solidFill>
                <a:srgbClr val="000000"/>
              </a:solidFill>
              <a:latin typeface="Arial"/>
              <a:ea typeface="Arial"/>
              <a:cs typeface="Arial"/>
              <a:sym typeface="Arial"/>
            </a:endParaRPr>
          </a:p>
        </p:txBody>
      </p:sp>
      <p:sp>
        <p:nvSpPr>
          <p:cNvPr id="12" name="Google Shape;432;p20">
            <a:extLst>
              <a:ext uri="{FF2B5EF4-FFF2-40B4-BE49-F238E27FC236}">
                <a16:creationId xmlns:a16="http://schemas.microsoft.com/office/drawing/2014/main" id="{79F13469-2A46-FBC8-9481-ECF9E6727E72}"/>
              </a:ext>
            </a:extLst>
          </p:cNvPr>
          <p:cNvSpPr/>
          <p:nvPr/>
        </p:nvSpPr>
        <p:spPr>
          <a:xfrm>
            <a:off x="2639940" y="4149077"/>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D3</a:t>
            </a:r>
            <a:endParaRPr sz="1400" b="0" i="0" u="none" strike="noStrike" cap="none" dirty="0">
              <a:solidFill>
                <a:srgbClr val="000000"/>
              </a:solidFill>
              <a:latin typeface="Arial"/>
              <a:ea typeface="Arial"/>
              <a:cs typeface="Arial"/>
              <a:sym typeface="Arial"/>
            </a:endParaRPr>
          </a:p>
        </p:txBody>
      </p:sp>
      <p:sp>
        <p:nvSpPr>
          <p:cNvPr id="20" name="Google Shape;440;p20">
            <a:extLst>
              <a:ext uri="{FF2B5EF4-FFF2-40B4-BE49-F238E27FC236}">
                <a16:creationId xmlns:a16="http://schemas.microsoft.com/office/drawing/2014/main" id="{1C25A995-9D56-35B7-90AB-1639C41ECE3E}"/>
              </a:ext>
            </a:extLst>
          </p:cNvPr>
          <p:cNvSpPr/>
          <p:nvPr/>
        </p:nvSpPr>
        <p:spPr>
          <a:xfrm>
            <a:off x="1947853" y="4149077"/>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D2</a:t>
            </a:r>
            <a:endParaRPr sz="1400" b="0" i="0" u="none" strike="noStrike" cap="none" dirty="0">
              <a:solidFill>
                <a:srgbClr val="000000"/>
              </a:solidFill>
              <a:latin typeface="Arial"/>
              <a:ea typeface="Arial"/>
              <a:cs typeface="Arial"/>
              <a:sym typeface="Arial"/>
            </a:endParaRPr>
          </a:p>
        </p:txBody>
      </p:sp>
      <p:sp>
        <p:nvSpPr>
          <p:cNvPr id="22" name="Google Shape;440;p20">
            <a:extLst>
              <a:ext uri="{FF2B5EF4-FFF2-40B4-BE49-F238E27FC236}">
                <a16:creationId xmlns:a16="http://schemas.microsoft.com/office/drawing/2014/main" id="{DCF5EC93-0F76-9F35-905A-E6F0FBD89BD5}"/>
              </a:ext>
            </a:extLst>
          </p:cNvPr>
          <p:cNvSpPr/>
          <p:nvPr/>
        </p:nvSpPr>
        <p:spPr>
          <a:xfrm>
            <a:off x="563729" y="4149077"/>
            <a:ext cx="633214" cy="330286"/>
          </a:xfrm>
          <a:prstGeom prst="roundRect">
            <a:avLst>
              <a:gd name="adj" fmla="val 16667"/>
            </a:avLst>
          </a:prstGeom>
          <a:solidFill>
            <a:srgbClr val="00B0F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Calibri"/>
                <a:ea typeface="Calibri"/>
                <a:cs typeface="Calibri"/>
                <a:sym typeface="Calibri"/>
              </a:rPr>
              <a:t>D4</a:t>
            </a:r>
            <a:endParaRPr sz="1400" b="0" i="0" u="none" strike="noStrike" cap="none" dirty="0">
              <a:solidFill>
                <a:srgbClr val="000000"/>
              </a:solidFill>
              <a:latin typeface="Arial"/>
              <a:ea typeface="Arial"/>
              <a:cs typeface="Arial"/>
              <a:sym typeface="Arial"/>
            </a:endParaRPr>
          </a:p>
        </p:txBody>
      </p:sp>
      <p:sp>
        <p:nvSpPr>
          <p:cNvPr id="23" name="Drag these tags to the correct spot">
            <a:extLst>
              <a:ext uri="{FF2B5EF4-FFF2-40B4-BE49-F238E27FC236}">
                <a16:creationId xmlns:a16="http://schemas.microsoft.com/office/drawing/2014/main" id="{52C3D3A5-0496-F72D-8F6A-94D5CC0740B9}"/>
              </a:ext>
            </a:extLst>
          </p:cNvPr>
          <p:cNvSpPr txBox="1"/>
          <p:nvPr/>
        </p:nvSpPr>
        <p:spPr>
          <a:xfrm>
            <a:off x="4401295" y="4272879"/>
            <a:ext cx="3484275" cy="1738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2749" tIns="32749" rIns="32749" bIns="32749">
            <a:spAutoFit/>
          </a:bodyPr>
          <a:lstStyle>
            <a:lvl1pPr>
              <a:defRPr sz="700" b="1">
                <a:solidFill>
                  <a:srgbClr val="929292"/>
                </a:solidFill>
                <a:latin typeface="+mj-lt"/>
                <a:ea typeface="+mj-ea"/>
                <a:cs typeface="+mj-cs"/>
                <a:sym typeface="Helvetica"/>
              </a:defRPr>
            </a:lvl1pPr>
          </a:lstStyle>
          <a:p>
            <a:r>
              <a:rPr lang="en-CA" dirty="0"/>
              <a:t>Define two games you will design and what data you hope to collect from them.</a:t>
            </a:r>
            <a:endParaRPr dirty="0"/>
          </a:p>
        </p:txBody>
      </p:sp>
      <p:sp>
        <p:nvSpPr>
          <p:cNvPr id="25" name="Shape">
            <a:extLst>
              <a:ext uri="{FF2B5EF4-FFF2-40B4-BE49-F238E27FC236}">
                <a16:creationId xmlns:a16="http://schemas.microsoft.com/office/drawing/2014/main" id="{B93F74E6-3335-F94A-A459-31A4BD3D80FF}"/>
              </a:ext>
            </a:extLst>
          </p:cNvPr>
          <p:cNvSpPr/>
          <p:nvPr/>
        </p:nvSpPr>
        <p:spPr>
          <a:xfrm>
            <a:off x="6371745" y="4538026"/>
            <a:ext cx="2733356" cy="512419"/>
          </a:xfrm>
          <a:custGeom>
            <a:avLst/>
            <a:gdLst/>
            <a:ahLst/>
            <a:cxnLst>
              <a:cxn ang="0">
                <a:pos x="wd2" y="hd2"/>
              </a:cxn>
              <a:cxn ang="5400000">
                <a:pos x="wd2" y="hd2"/>
              </a:cxn>
              <a:cxn ang="10800000">
                <a:pos x="wd2" y="hd2"/>
              </a:cxn>
              <a:cxn ang="16200000">
                <a:pos x="wd2" y="hd2"/>
              </a:cxn>
            </a:cxnLst>
            <a:rect l="0" t="0" r="r" b="b"/>
            <a:pathLst>
              <a:path w="21600" h="21600" extrusionOk="0">
                <a:moveTo>
                  <a:pt x="1125" y="21600"/>
                </a:moveTo>
                <a:lnTo>
                  <a:pt x="20475" y="21600"/>
                </a:lnTo>
                <a:cubicBezTo>
                  <a:pt x="20681" y="21600"/>
                  <a:pt x="20857" y="21600"/>
                  <a:pt x="21017" y="21211"/>
                </a:cubicBezTo>
                <a:cubicBezTo>
                  <a:pt x="21281" y="20509"/>
                  <a:pt x="21486" y="18534"/>
                  <a:pt x="21559" y="16006"/>
                </a:cubicBezTo>
                <a:cubicBezTo>
                  <a:pt x="21600" y="14468"/>
                  <a:pt x="21600" y="12778"/>
                  <a:pt x="21600" y="10800"/>
                </a:cubicBezTo>
                <a:cubicBezTo>
                  <a:pt x="21600" y="8822"/>
                  <a:pt x="21600" y="7132"/>
                  <a:pt x="21559" y="5594"/>
                </a:cubicBezTo>
                <a:cubicBezTo>
                  <a:pt x="21486" y="3066"/>
                  <a:pt x="21281" y="1091"/>
                  <a:pt x="21017" y="389"/>
                </a:cubicBezTo>
                <a:cubicBezTo>
                  <a:pt x="20857" y="0"/>
                  <a:pt x="20681" y="0"/>
                  <a:pt x="20475" y="0"/>
                </a:cubicBezTo>
                <a:lnTo>
                  <a:pt x="1125" y="0"/>
                </a:lnTo>
                <a:cubicBezTo>
                  <a:pt x="919" y="0"/>
                  <a:pt x="743" y="0"/>
                  <a:pt x="583" y="389"/>
                </a:cubicBezTo>
                <a:cubicBezTo>
                  <a:pt x="319" y="1091"/>
                  <a:pt x="114" y="3066"/>
                  <a:pt x="41" y="5594"/>
                </a:cubicBezTo>
                <a:cubicBezTo>
                  <a:pt x="0" y="7132"/>
                  <a:pt x="0" y="8822"/>
                  <a:pt x="0" y="10800"/>
                </a:cubicBezTo>
                <a:cubicBezTo>
                  <a:pt x="0" y="12778"/>
                  <a:pt x="0" y="14468"/>
                  <a:pt x="41" y="16006"/>
                </a:cubicBezTo>
                <a:cubicBezTo>
                  <a:pt x="114" y="18534"/>
                  <a:pt x="319" y="20509"/>
                  <a:pt x="583" y="21211"/>
                </a:cubicBezTo>
                <a:cubicBezTo>
                  <a:pt x="743" y="21600"/>
                  <a:pt x="919" y="21600"/>
                  <a:pt x="1125" y="21600"/>
                </a:cubicBezTo>
                <a:close/>
              </a:path>
            </a:pathLst>
          </a:custGeom>
          <a:solidFill>
            <a:srgbClr val="FFFF00"/>
          </a:solidFill>
          <a:ln w="12700" cap="flat">
            <a:solidFill>
              <a:srgbClr val="000000"/>
            </a:solidFill>
            <a:prstDash val="solid"/>
            <a:round/>
          </a:ln>
          <a:effectLst/>
        </p:spPr>
        <p:txBody>
          <a:bodyPr wrap="square" lIns="45719" tIns="45719" rIns="45719" bIns="45719" numCol="1" anchor="ctr">
            <a:noAutofit/>
          </a:bodyPr>
          <a:lstStyle/>
          <a:p>
            <a:pPr algn="ctr">
              <a:defRPr sz="900"/>
            </a:pPr>
            <a:r>
              <a:rPr lang="en-CA" dirty="0"/>
              <a:t>(Prototype 2)</a:t>
            </a:r>
          </a:p>
          <a:p>
            <a:pPr algn="ctr">
              <a:defRPr sz="900"/>
            </a:pPr>
            <a:r>
              <a:rPr lang="en-CA" dirty="0"/>
              <a:t>C2: Dedicated PT and Patient Comms</a:t>
            </a:r>
            <a:endParaRPr dirty="0"/>
          </a:p>
        </p:txBody>
      </p:sp>
      <p:grpSp>
        <p:nvGrpSpPr>
          <p:cNvPr id="27" name="Group 26">
            <a:extLst>
              <a:ext uri="{FF2B5EF4-FFF2-40B4-BE49-F238E27FC236}">
                <a16:creationId xmlns:a16="http://schemas.microsoft.com/office/drawing/2014/main" id="{AD4D03E6-393C-0377-D147-4A8E2413C3CE}"/>
              </a:ext>
            </a:extLst>
          </p:cNvPr>
          <p:cNvGrpSpPr/>
          <p:nvPr/>
        </p:nvGrpSpPr>
        <p:grpSpPr>
          <a:xfrm>
            <a:off x="4139676" y="261261"/>
            <a:ext cx="4007509" cy="4036843"/>
            <a:chOff x="3741926" y="425788"/>
            <a:chExt cx="4007509" cy="4036843"/>
          </a:xfrm>
        </p:grpSpPr>
        <p:pic>
          <p:nvPicPr>
            <p:cNvPr id="288" name="Image" descr="Image"/>
            <p:cNvPicPr>
              <a:picLocks noChangeAspect="1"/>
            </p:cNvPicPr>
            <p:nvPr/>
          </p:nvPicPr>
          <p:blipFill rotWithShape="1">
            <a:blip r:embed="rId3"/>
            <a:srcRect t="4827" r="6732"/>
            <a:stretch/>
          </p:blipFill>
          <p:spPr>
            <a:xfrm>
              <a:off x="3899636" y="425788"/>
              <a:ext cx="3715711" cy="3712393"/>
            </a:xfrm>
            <a:prstGeom prst="rect">
              <a:avLst/>
            </a:prstGeom>
            <a:ln w="12700">
              <a:miter lim="400000"/>
            </a:ln>
          </p:spPr>
        </p:pic>
        <p:pic>
          <p:nvPicPr>
            <p:cNvPr id="2" name="Image" descr="Image">
              <a:extLst>
                <a:ext uri="{FF2B5EF4-FFF2-40B4-BE49-F238E27FC236}">
                  <a16:creationId xmlns:a16="http://schemas.microsoft.com/office/drawing/2014/main" id="{64C2D132-1798-2987-F3B3-E5E1FE9285DD}"/>
                </a:ext>
              </a:extLst>
            </p:cNvPr>
            <p:cNvPicPr>
              <a:picLocks noChangeAspect="1"/>
            </p:cNvPicPr>
            <p:nvPr/>
          </p:nvPicPr>
          <p:blipFill rotWithShape="1">
            <a:blip r:embed="rId3"/>
            <a:srcRect b="93325"/>
            <a:stretch/>
          </p:blipFill>
          <p:spPr>
            <a:xfrm>
              <a:off x="3765546" y="4073865"/>
              <a:ext cx="3983889" cy="260351"/>
            </a:xfrm>
            <a:prstGeom prst="rect">
              <a:avLst/>
            </a:prstGeom>
            <a:ln w="12700">
              <a:miter lim="400000"/>
            </a:ln>
          </p:spPr>
        </p:pic>
        <p:pic>
          <p:nvPicPr>
            <p:cNvPr id="24" name="Image" descr="Image">
              <a:extLst>
                <a:ext uri="{FF2B5EF4-FFF2-40B4-BE49-F238E27FC236}">
                  <a16:creationId xmlns:a16="http://schemas.microsoft.com/office/drawing/2014/main" id="{ED7AB554-E2C1-BFD9-BAFB-34972B281CAD}"/>
                </a:ext>
              </a:extLst>
            </p:cNvPr>
            <p:cNvPicPr>
              <a:picLocks noChangeAspect="1"/>
            </p:cNvPicPr>
            <p:nvPr/>
          </p:nvPicPr>
          <p:blipFill rotWithShape="1">
            <a:blip r:embed="rId3"/>
            <a:srcRect l="95001"/>
            <a:stretch/>
          </p:blipFill>
          <p:spPr>
            <a:xfrm>
              <a:off x="3741926" y="561951"/>
              <a:ext cx="199156" cy="3900680"/>
            </a:xfrm>
            <a:prstGeom prst="rect">
              <a:avLst/>
            </a:prstGeom>
            <a:ln w="12700">
              <a:miter lim="400000"/>
            </a:ln>
          </p:spPr>
        </p:pic>
      </p:grpSp>
      <p:sp>
        <p:nvSpPr>
          <p:cNvPr id="26" name="Rectangle 25">
            <a:extLst>
              <a:ext uri="{FF2B5EF4-FFF2-40B4-BE49-F238E27FC236}">
                <a16:creationId xmlns:a16="http://schemas.microsoft.com/office/drawing/2014/main" id="{9787224A-7E42-853D-A462-BDA307008E57}"/>
              </a:ext>
            </a:extLst>
          </p:cNvPr>
          <p:cNvSpPr/>
          <p:nvPr/>
        </p:nvSpPr>
        <p:spPr>
          <a:xfrm>
            <a:off x="5431456" y="170239"/>
            <a:ext cx="1423951" cy="355988"/>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CA" sz="1400" b="0" i="0" u="none" strike="noStrike" cap="none" spc="0" normalizeH="0" baseline="0" dirty="0">
              <a:ln>
                <a:noFill/>
              </a:ln>
              <a:solidFill>
                <a:srgbClr val="000000"/>
              </a:solidFill>
              <a:effectLst/>
              <a:uFillTx/>
              <a:latin typeface="+mn-lt"/>
              <a:ea typeface="+mn-ea"/>
              <a:cs typeface="+mn-cs"/>
              <a:sym typeface="Arial"/>
            </a:endParaRPr>
          </a:p>
        </p:txBody>
      </p:sp>
      <p:sp>
        <p:nvSpPr>
          <p:cNvPr id="39" name="Problem Definition">
            <a:extLst>
              <a:ext uri="{FF2B5EF4-FFF2-40B4-BE49-F238E27FC236}">
                <a16:creationId xmlns:a16="http://schemas.microsoft.com/office/drawing/2014/main" id="{19967124-ACF8-DD67-3D83-5D2D38BC5EF7}"/>
              </a:ext>
            </a:extLst>
          </p:cNvPr>
          <p:cNvSpPr txBox="1"/>
          <p:nvPr/>
        </p:nvSpPr>
        <p:spPr>
          <a:xfrm>
            <a:off x="5744733" y="3947554"/>
            <a:ext cx="1166984" cy="353911"/>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lvl1pPr>
              <a:defRPr b="1">
                <a:latin typeface="+mj-lt"/>
                <a:ea typeface="+mj-ea"/>
                <a:cs typeface="+mj-cs"/>
                <a:sym typeface="Helvetica"/>
              </a:defRPr>
            </a:lvl1pPr>
          </a:lstStyle>
          <a:p>
            <a:r>
              <a:rPr lang="en-US" sz="1100" b="0" dirty="0"/>
              <a:t>Desirability</a:t>
            </a:r>
            <a:endParaRPr sz="1100" b="0" dirty="0"/>
          </a:p>
        </p:txBody>
      </p:sp>
      <p:sp>
        <p:nvSpPr>
          <p:cNvPr id="40" name="Problem Definition">
            <a:extLst>
              <a:ext uri="{FF2B5EF4-FFF2-40B4-BE49-F238E27FC236}">
                <a16:creationId xmlns:a16="http://schemas.microsoft.com/office/drawing/2014/main" id="{498A24BB-9A14-C657-D677-4F13827E60D6}"/>
              </a:ext>
            </a:extLst>
          </p:cNvPr>
          <p:cNvSpPr txBox="1"/>
          <p:nvPr/>
        </p:nvSpPr>
        <p:spPr>
          <a:xfrm rot="5400000">
            <a:off x="3556183" y="2058034"/>
            <a:ext cx="1166984" cy="353911"/>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lvl1pPr>
              <a:defRPr b="1">
                <a:latin typeface="+mj-lt"/>
                <a:ea typeface="+mj-ea"/>
                <a:cs typeface="+mj-cs"/>
                <a:sym typeface="Helvetica"/>
              </a:defRPr>
            </a:lvl1pPr>
          </a:lstStyle>
          <a:p>
            <a:r>
              <a:rPr lang="en-US" sz="1100" b="0" dirty="0"/>
              <a:t>Feasibility</a:t>
            </a:r>
            <a:endParaRPr sz="1100" b="0"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Q&amp;A"/>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lang="en-CA" dirty="0"/>
              <a:t>Discussion Points</a:t>
            </a:r>
            <a:endParaRPr dirty="0"/>
          </a:p>
        </p:txBody>
      </p:sp>
      <p:sp>
        <p:nvSpPr>
          <p:cNvPr id="355" name="Write down questions raised by the HMW process.  For example, if you identified fraction arithmetic as an area your users find confusing, what grade is it covered in in Ontario’s math curriculum?  If PDEs cause your users trouble, what are they?"/>
          <p:cNvSpPr txBox="1">
            <a:spLocks noGrp="1"/>
          </p:cNvSpPr>
          <p:nvPr>
            <p:ph type="body" idx="4294967295"/>
          </p:nvPr>
        </p:nvSpPr>
        <p:spPr>
          <a:xfrm>
            <a:off x="669925" y="874712"/>
            <a:ext cx="8116888" cy="3732213"/>
          </a:xfrm>
          <a:prstGeom prst="rect">
            <a:avLst/>
          </a:prstGeom>
        </p:spPr>
        <p:txBody>
          <a:bodyPr lIns="32749" tIns="32749" rIns="32749" bIns="32749">
            <a:normAutofit/>
          </a:bodyPr>
          <a:lstStyle/>
          <a:p>
            <a:pPr marL="800100" indent="-342900">
              <a:spcBef>
                <a:spcPts val="2700"/>
              </a:spcBef>
              <a:buClr>
                <a:srgbClr val="000000"/>
              </a:buClr>
              <a:buSzPts val="1400"/>
              <a:buAutoNum type="arabicPeriod"/>
              <a:defRPr b="1">
                <a:latin typeface="+mj-lt"/>
                <a:ea typeface="+mj-ea"/>
                <a:cs typeface="+mj-cs"/>
                <a:sym typeface="Helvetica"/>
              </a:defRPr>
            </a:pPr>
            <a:endParaRPr dirty="0"/>
          </a:p>
          <a:p>
            <a:pPr>
              <a:buClr>
                <a:srgbClr val="000000"/>
              </a:buClr>
              <a:buSzPts val="1400"/>
              <a:buAutoNum type="arabicPeriod"/>
              <a:defRPr b="1">
                <a:latin typeface="+mj-lt"/>
                <a:ea typeface="+mj-ea"/>
                <a:cs typeface="+mj-cs"/>
                <a:sym typeface="Helvetica"/>
              </a:defRPr>
            </a:pPr>
            <a:r>
              <a:rPr dirty="0"/>
              <a:t>Write down questions raised by </a:t>
            </a:r>
            <a:r>
              <a:rPr lang="en-CA" dirty="0"/>
              <a:t>this process which you should not think about now, but may be useful later.</a:t>
            </a:r>
            <a:r>
              <a:rPr dirty="0"/>
              <a:t> </a:t>
            </a:r>
            <a:r>
              <a:rPr lang="en-CA" dirty="0"/>
              <a:t>For example, are there parts of what you learned in your interview that you do not know how to implement yet?</a:t>
            </a:r>
          </a:p>
          <a:p>
            <a:pPr>
              <a:buClr>
                <a:srgbClr val="000000"/>
              </a:buClr>
              <a:buSzPts val="1400"/>
              <a:buAutoNum type="arabicPeriod"/>
              <a:defRPr b="1">
                <a:latin typeface="+mj-lt"/>
                <a:ea typeface="+mj-ea"/>
                <a:cs typeface="+mj-cs"/>
                <a:sym typeface="Helvetica"/>
              </a:defRPr>
            </a:pPr>
            <a:endParaRPr lang="en-CA" dirty="0"/>
          </a:p>
          <a:p>
            <a:pPr lvl="1">
              <a:buClr>
                <a:srgbClr val="000000"/>
              </a:buClr>
              <a:buSzPts val="1400"/>
              <a:defRPr b="1">
                <a:latin typeface="+mj-lt"/>
                <a:ea typeface="+mj-ea"/>
                <a:cs typeface="+mj-cs"/>
                <a:sym typeface="Helvetica"/>
              </a:defRPr>
            </a:pPr>
            <a:r>
              <a:rPr lang="en-CA" dirty="0">
                <a:latin typeface="Helvetica Light"/>
              </a:rPr>
              <a:t>Linking patients and physiotherapists together, such that physios can see patients progress is going to become very important. Synchronous modification/feedback might be required. Need to learn this.</a:t>
            </a:r>
          </a:p>
          <a:p>
            <a:pPr lvl="1">
              <a:buClr>
                <a:srgbClr val="000000"/>
              </a:buClr>
              <a:buSzPts val="1400"/>
              <a:defRPr b="1">
                <a:latin typeface="+mj-lt"/>
                <a:ea typeface="+mj-ea"/>
                <a:cs typeface="+mj-cs"/>
                <a:sym typeface="Helvetica"/>
              </a:defRPr>
            </a:pPr>
            <a:endParaRPr lang="en-CA" dirty="0">
              <a:latin typeface="Helvetica Light"/>
            </a:endParaRPr>
          </a:p>
          <a:p>
            <a:pPr lvl="1">
              <a:buClr>
                <a:srgbClr val="000000"/>
              </a:buClr>
              <a:buSzPts val="1400"/>
              <a:defRPr b="1">
                <a:latin typeface="+mj-lt"/>
                <a:ea typeface="+mj-ea"/>
                <a:cs typeface="+mj-cs"/>
                <a:sym typeface="Helvetica"/>
              </a:defRPr>
            </a:pPr>
            <a:r>
              <a:rPr lang="en-CA" dirty="0">
                <a:latin typeface="Helvetica Light"/>
              </a:rPr>
              <a:t>Health concerns; our system might not be able to modify plans or suggest edits/gamify based on health regulations.</a:t>
            </a:r>
          </a:p>
          <a:p>
            <a:pPr lvl="1">
              <a:buClr>
                <a:srgbClr val="000000"/>
              </a:buClr>
              <a:buSzPts val="1400"/>
              <a:defRPr b="1">
                <a:latin typeface="+mj-lt"/>
                <a:ea typeface="+mj-ea"/>
                <a:cs typeface="+mj-cs"/>
                <a:sym typeface="Helvetica"/>
              </a:defRPr>
            </a:pPr>
            <a:endParaRPr lang="en-CA" dirty="0">
              <a:latin typeface="Helvetica Light"/>
            </a:endParaRPr>
          </a:p>
          <a:p>
            <a:pPr lvl="1">
              <a:buClr>
                <a:srgbClr val="000000"/>
              </a:buClr>
              <a:buSzPts val="1400"/>
              <a:defRPr b="1">
                <a:latin typeface="+mj-lt"/>
                <a:ea typeface="+mj-ea"/>
                <a:cs typeface="+mj-cs"/>
                <a:sym typeface="Helvetica"/>
              </a:defRPr>
            </a:pPr>
            <a:r>
              <a:rPr lang="en-US" dirty="0">
                <a:latin typeface="Helvetica Light"/>
              </a:rPr>
              <a:t>Health data; what kind of privacy is required for patients? For physios? Can we ensure this?</a:t>
            </a:r>
          </a:p>
          <a:p>
            <a:pPr lvl="1">
              <a:buClr>
                <a:srgbClr val="000000"/>
              </a:buClr>
              <a:buSzPts val="1400"/>
              <a:defRPr b="1">
                <a:latin typeface="+mj-lt"/>
                <a:ea typeface="+mj-ea"/>
                <a:cs typeface="+mj-cs"/>
                <a:sym typeface="Helvetica"/>
              </a:defRPr>
            </a:pPr>
            <a:endParaRPr lang="en-US" dirty="0">
              <a:latin typeface="Helvetica Light"/>
            </a:endParaRPr>
          </a:p>
          <a:p>
            <a:pPr lvl="1">
              <a:buClr>
                <a:srgbClr val="000000"/>
              </a:buClr>
              <a:buSzPts val="1400"/>
              <a:defRPr b="1">
                <a:latin typeface="+mj-lt"/>
                <a:ea typeface="+mj-ea"/>
                <a:cs typeface="+mj-cs"/>
                <a:sym typeface="Helvetica"/>
              </a:defRPr>
            </a:pPr>
            <a:r>
              <a:rPr lang="en-US" dirty="0">
                <a:latin typeface="Helvetica Light"/>
              </a:rPr>
              <a:t>Video storage; do we keep patient exercise recordings (if we take them)? Can we store all that data?</a:t>
            </a:r>
            <a:endParaRPr dirty="0">
              <a:latin typeface="Helvetica Light"/>
            </a:endParaRPr>
          </a:p>
        </p:txBody>
      </p:sp>
      <p:pic>
        <p:nvPicPr>
          <p:cNvPr id="356" name="image.png" descr="image.png"/>
          <p:cNvPicPr>
            <a:picLocks noChangeAspect="1"/>
          </p:cNvPicPr>
          <p:nvPr/>
        </p:nvPicPr>
        <p:blipFill>
          <a:blip r:embed="rId3"/>
          <a:stretch>
            <a:fillRect/>
          </a:stretch>
        </p:blipFill>
        <p:spPr>
          <a:xfrm>
            <a:off x="8045450" y="0"/>
            <a:ext cx="1098550" cy="796925"/>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Idea 1)…"/>
          <p:cNvSpPr txBox="1"/>
          <p:nvPr/>
        </p:nvSpPr>
        <p:spPr>
          <a:xfrm>
            <a:off x="512762" y="347662"/>
            <a:ext cx="7808913" cy="1569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000" b="1">
                <a:latin typeface="+mj-lt"/>
                <a:ea typeface="+mj-ea"/>
                <a:cs typeface="+mj-cs"/>
                <a:sym typeface="Helvetica"/>
              </a:defRPr>
            </a:pPr>
            <a:r>
              <a:rPr dirty="0"/>
              <a:t>         </a:t>
            </a:r>
            <a:r>
              <a:rPr lang="en-US" dirty="0"/>
              <a:t>Exercise Recorder</a:t>
            </a:r>
            <a:endParaRPr dirty="0"/>
          </a:p>
          <a:p>
            <a:pPr>
              <a:defRPr b="1">
                <a:latin typeface="+mj-lt"/>
                <a:ea typeface="+mj-ea"/>
                <a:cs typeface="+mj-cs"/>
                <a:sym typeface="Helvetica"/>
              </a:defRPr>
            </a:pPr>
            <a:endParaRPr dirty="0"/>
          </a:p>
          <a:p>
            <a:pPr>
              <a:defRPr b="1">
                <a:latin typeface="+mj-lt"/>
                <a:ea typeface="+mj-ea"/>
                <a:cs typeface="+mj-cs"/>
                <a:sym typeface="Helvetica"/>
              </a:defRPr>
            </a:pPr>
            <a:r>
              <a:rPr lang="en-CA" dirty="0"/>
              <a:t>Use any drawing tool you want (including actual paper or a tablet!) to create a paper prototype. You will need to duplicate this slide for different pages/actions in your app.</a:t>
            </a:r>
          </a:p>
          <a:p>
            <a:pPr>
              <a:defRPr b="1">
                <a:latin typeface="+mj-lt"/>
                <a:ea typeface="+mj-ea"/>
                <a:cs typeface="+mj-cs"/>
                <a:sym typeface="Helvetica"/>
              </a:defRPr>
            </a:pPr>
            <a:r>
              <a:rPr lang="en-CA" dirty="0"/>
              <a:t>Do not worry about making your prototype look good; for now focus on functionality. You want to give your user/supervisor enough information to get good feedback.</a:t>
            </a:r>
          </a:p>
        </p:txBody>
      </p:sp>
      <p:pic>
        <p:nvPicPr>
          <p:cNvPr id="414" name="image.png" descr="image.png"/>
          <p:cNvPicPr>
            <a:picLocks noChangeAspect="1"/>
          </p:cNvPicPr>
          <p:nvPr/>
        </p:nvPicPr>
        <p:blipFill>
          <a:blip r:embed="rId2"/>
          <a:stretch>
            <a:fillRect/>
          </a:stretch>
        </p:blipFill>
        <p:spPr>
          <a:xfrm>
            <a:off x="7753350" y="0"/>
            <a:ext cx="1390650" cy="966788"/>
          </a:xfrm>
          <a:prstGeom prst="rect">
            <a:avLst/>
          </a:prstGeom>
          <a:ln w="12700">
            <a:miter lim="400000"/>
          </a:ln>
        </p:spPr>
      </p:pic>
      <p:sp>
        <p:nvSpPr>
          <p:cNvPr id="415" name="Prototype…"/>
          <p:cNvSpPr txBox="1"/>
          <p:nvPr/>
        </p:nvSpPr>
        <p:spPr>
          <a:xfrm>
            <a:off x="1587" y="0"/>
            <a:ext cx="1022351" cy="849521"/>
          </a:xfrm>
          <a:prstGeom prst="rect">
            <a:avLst/>
          </a:prstGeom>
          <a:solidFill>
            <a:srgbClr val="FAE23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t>Prototype</a:t>
            </a:r>
            <a:endParaRPr sz="4000" dirty="0"/>
          </a:p>
          <a:p>
            <a:pPr>
              <a:defRPr sz="4000"/>
            </a:pPr>
            <a:r>
              <a:rPr dirty="0"/>
              <a:t>1</a:t>
            </a:r>
          </a:p>
        </p:txBody>
      </p:sp>
      <p:pic>
        <p:nvPicPr>
          <p:cNvPr id="3" name="Picture 2">
            <a:extLst>
              <a:ext uri="{FF2B5EF4-FFF2-40B4-BE49-F238E27FC236}">
                <a16:creationId xmlns:a16="http://schemas.microsoft.com/office/drawing/2014/main" id="{967B1BCC-4D14-21EA-6F9D-8DE4E29523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5784" y="1917290"/>
            <a:ext cx="2289517" cy="3052689"/>
          </a:xfrm>
          <a:prstGeom prst="rect">
            <a:avLst/>
          </a:prstGeom>
        </p:spPr>
      </p:pic>
      <p:pic>
        <p:nvPicPr>
          <p:cNvPr id="5" name="Picture 4">
            <a:extLst>
              <a:ext uri="{FF2B5EF4-FFF2-40B4-BE49-F238E27FC236}">
                <a16:creationId xmlns:a16="http://schemas.microsoft.com/office/drawing/2014/main" id="{47C3E751-EEDB-B2D0-C5FF-22630A384A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04809" y="1917290"/>
            <a:ext cx="2289517" cy="3052689"/>
          </a:xfrm>
          <a:prstGeom prst="rect">
            <a:avLst/>
          </a:prstGeom>
        </p:spPr>
      </p:pic>
      <p:pic>
        <p:nvPicPr>
          <p:cNvPr id="7" name="Picture 6">
            <a:extLst>
              <a:ext uri="{FF2B5EF4-FFF2-40B4-BE49-F238E27FC236}">
                <a16:creationId xmlns:a16="http://schemas.microsoft.com/office/drawing/2014/main" id="{B6775F68-D4E3-5304-2163-B91791E902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63833" y="1917289"/>
            <a:ext cx="2289517" cy="3052689"/>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Idea 2)…"/>
          <p:cNvSpPr txBox="1"/>
          <p:nvPr/>
        </p:nvSpPr>
        <p:spPr>
          <a:xfrm>
            <a:off x="512762" y="347662"/>
            <a:ext cx="7808913" cy="20005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000" b="1">
                <a:latin typeface="+mj-lt"/>
                <a:ea typeface="+mj-ea"/>
                <a:cs typeface="+mj-cs"/>
                <a:sym typeface="Helvetica"/>
              </a:defRPr>
            </a:pPr>
            <a:r>
              <a:rPr lang="en-CA" dirty="0"/>
              <a:t>         Patient &amp; Physio Dedicated Communication</a:t>
            </a:r>
          </a:p>
          <a:p>
            <a:pPr>
              <a:defRPr b="1">
                <a:latin typeface="+mj-lt"/>
                <a:ea typeface="+mj-ea"/>
                <a:cs typeface="+mj-cs"/>
                <a:sym typeface="Helvetica"/>
              </a:defRPr>
            </a:pPr>
            <a:endParaRPr lang="en-CA" dirty="0"/>
          </a:p>
          <a:p>
            <a:pPr>
              <a:defRPr b="1">
                <a:latin typeface="+mj-lt"/>
                <a:ea typeface="+mj-ea"/>
                <a:cs typeface="+mj-cs"/>
                <a:sym typeface="Helvetica"/>
              </a:defRPr>
            </a:pPr>
            <a:r>
              <a:rPr lang="en-CA" dirty="0"/>
              <a:t>Use any drawing tool you want (including actual paper or a tablet!) to create a paper prototype. You will need to duplicate this slide for different pages/actions in your app.</a:t>
            </a:r>
          </a:p>
          <a:p>
            <a:pPr>
              <a:defRPr b="1">
                <a:latin typeface="+mj-lt"/>
                <a:ea typeface="+mj-ea"/>
                <a:cs typeface="+mj-cs"/>
                <a:sym typeface="Helvetica"/>
              </a:defRPr>
            </a:pPr>
            <a:r>
              <a:rPr lang="en-CA" dirty="0"/>
              <a:t>Do not worry about making your prototype look good; for now focus on functionality. You want to give your user/supervisor enough information to get good feedback.</a:t>
            </a:r>
            <a:br>
              <a:rPr lang="en-CA" dirty="0"/>
            </a:br>
            <a:br>
              <a:rPr lang="en-CA" dirty="0"/>
            </a:br>
            <a:endParaRPr dirty="0"/>
          </a:p>
        </p:txBody>
      </p:sp>
      <p:pic>
        <p:nvPicPr>
          <p:cNvPr id="418" name="image.png" descr="image.png"/>
          <p:cNvPicPr>
            <a:picLocks noChangeAspect="1"/>
          </p:cNvPicPr>
          <p:nvPr/>
        </p:nvPicPr>
        <p:blipFill>
          <a:blip r:embed="rId3"/>
          <a:stretch>
            <a:fillRect/>
          </a:stretch>
        </p:blipFill>
        <p:spPr>
          <a:xfrm>
            <a:off x="7753350" y="0"/>
            <a:ext cx="1390650" cy="966788"/>
          </a:xfrm>
          <a:prstGeom prst="rect">
            <a:avLst/>
          </a:prstGeom>
          <a:ln w="12700">
            <a:miter lim="400000"/>
          </a:ln>
        </p:spPr>
      </p:pic>
      <p:sp>
        <p:nvSpPr>
          <p:cNvPr id="419" name="Prototype…"/>
          <p:cNvSpPr txBox="1"/>
          <p:nvPr/>
        </p:nvSpPr>
        <p:spPr>
          <a:xfrm>
            <a:off x="1587" y="0"/>
            <a:ext cx="1022351" cy="849521"/>
          </a:xfrm>
          <a:prstGeom prst="rect">
            <a:avLst/>
          </a:prstGeom>
          <a:solidFill>
            <a:srgbClr val="FAE23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t>Prototype</a:t>
            </a:r>
            <a:endParaRPr sz="4000" dirty="0"/>
          </a:p>
          <a:p>
            <a:pPr>
              <a:defRPr sz="4000"/>
            </a:pPr>
            <a:r>
              <a:rPr dirty="0"/>
              <a:t>2</a:t>
            </a:r>
          </a:p>
        </p:txBody>
      </p:sp>
      <p:pic>
        <p:nvPicPr>
          <p:cNvPr id="3" name="Picture 2">
            <a:extLst>
              <a:ext uri="{FF2B5EF4-FFF2-40B4-BE49-F238E27FC236}">
                <a16:creationId xmlns:a16="http://schemas.microsoft.com/office/drawing/2014/main" id="{39A9A7FB-0DF8-84EE-A0DC-3BFAC6F5B110}"/>
              </a:ext>
            </a:extLst>
          </p:cNvPr>
          <p:cNvPicPr>
            <a:picLocks noChangeAspect="1"/>
          </p:cNvPicPr>
          <p:nvPr/>
        </p:nvPicPr>
        <p:blipFill>
          <a:blip r:embed="rId4"/>
          <a:stretch>
            <a:fillRect/>
          </a:stretch>
        </p:blipFill>
        <p:spPr>
          <a:xfrm>
            <a:off x="600769" y="1856729"/>
            <a:ext cx="2121330" cy="1599483"/>
          </a:xfrm>
          <a:prstGeom prst="rect">
            <a:avLst/>
          </a:prstGeom>
        </p:spPr>
      </p:pic>
      <p:pic>
        <p:nvPicPr>
          <p:cNvPr id="5" name="Picture 4">
            <a:extLst>
              <a:ext uri="{FF2B5EF4-FFF2-40B4-BE49-F238E27FC236}">
                <a16:creationId xmlns:a16="http://schemas.microsoft.com/office/drawing/2014/main" id="{1ED8FD7C-2AA1-D100-59FB-5B1BEF413DAF}"/>
              </a:ext>
            </a:extLst>
          </p:cNvPr>
          <p:cNvPicPr>
            <a:picLocks noChangeAspect="1"/>
          </p:cNvPicPr>
          <p:nvPr/>
        </p:nvPicPr>
        <p:blipFill>
          <a:blip r:embed="rId5"/>
          <a:stretch>
            <a:fillRect/>
          </a:stretch>
        </p:blipFill>
        <p:spPr>
          <a:xfrm>
            <a:off x="600770" y="3521376"/>
            <a:ext cx="2121330" cy="1528223"/>
          </a:xfrm>
          <a:prstGeom prst="rect">
            <a:avLst/>
          </a:prstGeom>
        </p:spPr>
      </p:pic>
      <p:pic>
        <p:nvPicPr>
          <p:cNvPr id="7" name="Picture 6">
            <a:extLst>
              <a:ext uri="{FF2B5EF4-FFF2-40B4-BE49-F238E27FC236}">
                <a16:creationId xmlns:a16="http://schemas.microsoft.com/office/drawing/2014/main" id="{CE347651-6C30-1154-0CD4-9F90949B198F}"/>
              </a:ext>
            </a:extLst>
          </p:cNvPr>
          <p:cNvPicPr>
            <a:picLocks noChangeAspect="1"/>
          </p:cNvPicPr>
          <p:nvPr/>
        </p:nvPicPr>
        <p:blipFill>
          <a:blip r:embed="rId6"/>
          <a:stretch>
            <a:fillRect/>
          </a:stretch>
        </p:blipFill>
        <p:spPr>
          <a:xfrm>
            <a:off x="2882449" y="1856729"/>
            <a:ext cx="2188953" cy="1600810"/>
          </a:xfrm>
          <a:prstGeom prst="rect">
            <a:avLst/>
          </a:prstGeom>
        </p:spPr>
      </p:pic>
      <p:pic>
        <p:nvPicPr>
          <p:cNvPr id="9" name="Picture 8">
            <a:extLst>
              <a:ext uri="{FF2B5EF4-FFF2-40B4-BE49-F238E27FC236}">
                <a16:creationId xmlns:a16="http://schemas.microsoft.com/office/drawing/2014/main" id="{7ECC7EE7-6524-B3AD-0AEA-59CA11391BF6}"/>
              </a:ext>
            </a:extLst>
          </p:cNvPr>
          <p:cNvPicPr>
            <a:picLocks noChangeAspect="1"/>
          </p:cNvPicPr>
          <p:nvPr/>
        </p:nvPicPr>
        <p:blipFill>
          <a:blip r:embed="rId7"/>
          <a:stretch>
            <a:fillRect/>
          </a:stretch>
        </p:blipFill>
        <p:spPr>
          <a:xfrm>
            <a:off x="2882449" y="3521376"/>
            <a:ext cx="2188953" cy="1608749"/>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 name="Image" descr="Image"/>
          <p:cNvPicPr>
            <a:picLocks noChangeAspect="1"/>
          </p:cNvPicPr>
          <p:nvPr/>
        </p:nvPicPr>
        <p:blipFill>
          <a:blip r:embed="rId2"/>
          <a:stretch>
            <a:fillRect/>
          </a:stretch>
        </p:blipFill>
        <p:spPr>
          <a:xfrm>
            <a:off x="404812" y="-41275"/>
            <a:ext cx="4959351" cy="5108575"/>
          </a:xfrm>
          <a:prstGeom prst="rect">
            <a:avLst/>
          </a:prstGeom>
          <a:ln w="12700">
            <a:miter lim="400000"/>
          </a:ln>
        </p:spPr>
      </p:pic>
      <p:grpSp>
        <p:nvGrpSpPr>
          <p:cNvPr id="443" name="Group"/>
          <p:cNvGrpSpPr/>
          <p:nvPr/>
        </p:nvGrpSpPr>
        <p:grpSpPr>
          <a:xfrm>
            <a:off x="8094662" y="4056062"/>
            <a:ext cx="498477" cy="367920"/>
            <a:chOff x="0" y="0"/>
            <a:chExt cx="498476" cy="367919"/>
          </a:xfrm>
        </p:grpSpPr>
        <p:pic>
          <p:nvPicPr>
            <p:cNvPr id="441" name="Image" descr="Image"/>
            <p:cNvPicPr>
              <a:picLocks noChangeAspect="1"/>
            </p:cNvPicPr>
            <p:nvPr/>
          </p:nvPicPr>
          <p:blipFill>
            <a:blip r:embed="rId3"/>
            <a:stretch>
              <a:fillRect/>
            </a:stretch>
          </p:blipFill>
          <p:spPr>
            <a:xfrm>
              <a:off x="0" y="0"/>
              <a:ext cx="418131" cy="350838"/>
            </a:xfrm>
            <a:prstGeom prst="rect">
              <a:avLst/>
            </a:prstGeom>
            <a:ln w="12700" cap="flat">
              <a:noFill/>
              <a:miter lim="400000"/>
            </a:ln>
            <a:effectLst/>
          </p:spPr>
        </p:pic>
        <p:sp>
          <p:nvSpPr>
            <p:cNvPr id="442" name="5"/>
            <p:cNvSpPr txBox="1"/>
            <p:nvPr/>
          </p:nvSpPr>
          <p:spPr>
            <a:xfrm>
              <a:off x="337782" y="175418"/>
              <a:ext cx="160694" cy="192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2749" tIns="32749" rIns="32749" bIns="32749" numCol="1" anchor="t">
              <a:spAutoFit/>
            </a:bodyPr>
            <a:lstStyle>
              <a:lvl1pPr>
                <a:defRPr sz="800" b="1">
                  <a:latin typeface="+mj-lt"/>
                  <a:ea typeface="+mj-ea"/>
                  <a:cs typeface="+mj-cs"/>
                  <a:sym typeface="Helvetica"/>
                </a:defRPr>
              </a:lvl1pPr>
            </a:lstStyle>
            <a:p>
              <a:r>
                <a:rPr dirty="0"/>
                <a:t>5</a:t>
              </a:r>
            </a:p>
          </p:txBody>
        </p:sp>
      </p:grpSp>
      <p:sp>
        <p:nvSpPr>
          <p:cNvPr id="444" name="Feedback Grid:…"/>
          <p:cNvSpPr txBox="1"/>
          <p:nvPr/>
        </p:nvSpPr>
        <p:spPr>
          <a:xfrm>
            <a:off x="6034087" y="1298368"/>
            <a:ext cx="2906713" cy="122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100" b="1">
                <a:latin typeface="+mj-lt"/>
                <a:ea typeface="+mj-ea"/>
                <a:cs typeface="+mj-cs"/>
                <a:sym typeface="Helvetica"/>
              </a:defRPr>
            </a:pPr>
            <a:r>
              <a:rPr dirty="0"/>
              <a:t>Feedback Grid:</a:t>
            </a:r>
          </a:p>
          <a:p>
            <a:pPr>
              <a:defRPr sz="1100" b="1">
                <a:latin typeface="+mj-lt"/>
                <a:ea typeface="+mj-ea"/>
                <a:cs typeface="+mj-cs"/>
                <a:sym typeface="Helvetica"/>
              </a:defRPr>
            </a:pPr>
            <a:endParaRPr dirty="0"/>
          </a:p>
          <a:p>
            <a:pPr>
              <a:defRPr sz="1100" b="1">
                <a:latin typeface="+mj-lt"/>
                <a:ea typeface="+mj-ea"/>
                <a:cs typeface="+mj-cs"/>
                <a:sym typeface="Helvetica"/>
              </a:defRPr>
            </a:pPr>
            <a:r>
              <a:rPr dirty="0"/>
              <a:t>Use to take notes when getting feedback from individual users.  Have one person do the talking, and a second take notes, but steer the conversation to cover all 4 areas.</a:t>
            </a:r>
          </a:p>
        </p:txBody>
      </p:sp>
      <p:graphicFrame>
        <p:nvGraphicFramePr>
          <p:cNvPr id="445" name="Table 1"/>
          <p:cNvGraphicFramePr/>
          <p:nvPr/>
        </p:nvGraphicFramePr>
        <p:xfrm>
          <a:off x="5951537" y="2722562"/>
          <a:ext cx="2965449" cy="919161"/>
        </p:xfrm>
        <a:graphic>
          <a:graphicData uri="http://schemas.openxmlformats.org/drawingml/2006/table">
            <a:tbl>
              <a:tblPr>
                <a:tableStyleId>{4C3C2611-4C71-4FC5-86AE-919BDF0F9419}</a:tableStyleId>
              </a:tblPr>
              <a:tblGrid>
                <a:gridCol w="280987">
                  <a:extLst>
                    <a:ext uri="{9D8B030D-6E8A-4147-A177-3AD203B41FA5}">
                      <a16:colId xmlns:a16="http://schemas.microsoft.com/office/drawing/2014/main" val="20000"/>
                    </a:ext>
                  </a:extLst>
                </a:gridCol>
                <a:gridCol w="2684462">
                  <a:extLst>
                    <a:ext uri="{9D8B030D-6E8A-4147-A177-3AD203B41FA5}">
                      <a16:colId xmlns:a16="http://schemas.microsoft.com/office/drawing/2014/main" val="20001"/>
                    </a:ext>
                  </a:extLst>
                </a:gridCol>
              </a:tblGrid>
              <a:tr h="228600">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did they like about it?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would they like changed?</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questions did they ask?</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30187">
                <a:tc>
                  <a:txBody>
                    <a:bodyPr/>
                    <a:lstStyle/>
                    <a:p>
                      <a:pPr algn="l">
                        <a:defRPr sz="9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new ideas came out of the discussion?</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graphicFrame>
        <p:nvGraphicFramePr>
          <p:cNvPr id="446" name="Table 1"/>
          <p:cNvGraphicFramePr/>
          <p:nvPr>
            <p:extLst>
              <p:ext uri="{D42A27DB-BD31-4B8C-83A1-F6EECF244321}">
                <p14:modId xmlns:p14="http://schemas.microsoft.com/office/powerpoint/2010/main" val="1339079315"/>
              </p:ext>
            </p:extLst>
          </p:nvPr>
        </p:nvGraphicFramePr>
        <p:xfrm>
          <a:off x="319087" y="658812"/>
          <a:ext cx="2178050" cy="1206067"/>
        </p:xfrm>
        <a:graphic>
          <a:graphicData uri="http://schemas.openxmlformats.org/drawingml/2006/table">
            <a:tbl>
              <a:tblPr>
                <a:tableStyleId>{4C3C2611-4C71-4FC5-86AE-919BDF0F9419}</a:tableStyleId>
              </a:tblPr>
              <a:tblGrid>
                <a:gridCol w="21780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Information is presented clearly in dedicated areas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Functionality seems clearly understandable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Looks good with example data, wondering what a new patient looks like with no data</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b="0" dirty="0"/>
                        <a:t>Clean display doesn’t crowd the eye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47" name="Table 1"/>
          <p:cNvGraphicFramePr/>
          <p:nvPr>
            <p:extLst>
              <p:ext uri="{D42A27DB-BD31-4B8C-83A1-F6EECF244321}">
                <p14:modId xmlns:p14="http://schemas.microsoft.com/office/powerpoint/2010/main" val="3090920953"/>
              </p:ext>
            </p:extLst>
          </p:nvPr>
        </p:nvGraphicFramePr>
        <p:xfrm>
          <a:off x="3482975" y="658812"/>
          <a:ext cx="2254250" cy="1544147"/>
        </p:xfrm>
        <a:graphic>
          <a:graphicData uri="http://schemas.openxmlformats.org/drawingml/2006/table">
            <a:tbl>
              <a:tblPr>
                <a:tableStyleId>{4C3C2611-4C71-4FC5-86AE-919BDF0F9419}</a:tableStyleId>
              </a:tblPr>
              <a:tblGrid>
                <a:gridCol w="22542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There could be even more information presented at once; possibly going to end up with too many menus to maneuver</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Color theme is professional but not ‘fun’.</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Perhaps a bottom ribbon with possible pages to access, a lot of apps have this.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b="0" dirty="0"/>
                        <a:t>More general information/dialogue on the camera, these specific numbers might not mean a lot to some people.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48" name="Table 1"/>
          <p:cNvGraphicFramePr/>
          <p:nvPr>
            <p:extLst>
              <p:ext uri="{D42A27DB-BD31-4B8C-83A1-F6EECF244321}">
                <p14:modId xmlns:p14="http://schemas.microsoft.com/office/powerpoint/2010/main" val="3094101174"/>
              </p:ext>
            </p:extLst>
          </p:nvPr>
        </p:nvGraphicFramePr>
        <p:xfrm>
          <a:off x="319087" y="2951162"/>
          <a:ext cx="2092325" cy="1487200"/>
        </p:xfrm>
        <a:graphic>
          <a:graphicData uri="http://schemas.openxmlformats.org/drawingml/2006/table">
            <a:tbl>
              <a:tblPr>
                <a:tableStyleId>{4C3C2611-4C71-4FC5-86AE-919BDF0F9419}</a:tableStyleId>
              </a:tblPr>
              <a:tblGrid>
                <a:gridCol w="20923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How will this display show me how I am doing with my exercises?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Will my physiotherapist be able to see the video when I am done recording it?</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What kinds of health data will this collect from me?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r>
                        <a:rPr lang="en-US" b="0" dirty="0"/>
                        <a:t>How will the numbers displayed on the screen actually assist my exercising?</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96850">
                <a:tc>
                  <a:txBody>
                    <a:bodyPr/>
                    <a:lstStyle/>
                    <a:p>
                      <a:pPr algn="l">
                        <a:defRPr sz="800" b="1">
                          <a:latin typeface="+mj-lt"/>
                          <a:ea typeface="+mj-ea"/>
                          <a:cs typeface="+mj-cs"/>
                          <a:sym typeface="Helvetica"/>
                        </a:defRPr>
                      </a:pPr>
                      <a:r>
                        <a:rPr lang="en-US" b="0" dirty="0"/>
                        <a:t>Will I be able to see those small numbers while I’m recording an exercise?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49" name="Table 1"/>
          <p:cNvGraphicFramePr/>
          <p:nvPr>
            <p:extLst>
              <p:ext uri="{D42A27DB-BD31-4B8C-83A1-F6EECF244321}">
                <p14:modId xmlns:p14="http://schemas.microsoft.com/office/powerpoint/2010/main" val="1054936485"/>
              </p:ext>
            </p:extLst>
          </p:nvPr>
        </p:nvGraphicFramePr>
        <p:xfrm>
          <a:off x="3568700" y="2951162"/>
          <a:ext cx="2168525" cy="1555520"/>
        </p:xfrm>
        <a:graphic>
          <a:graphicData uri="http://schemas.openxmlformats.org/drawingml/2006/table">
            <a:tbl>
              <a:tblPr>
                <a:tableStyleId>{4C3C2611-4C71-4FC5-86AE-919BDF0F9419}</a:tableStyleId>
              </a:tblPr>
              <a:tblGrid>
                <a:gridCol w="21685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Much more helper text, a lot of things need explaining!</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With good position and understandable presentation of data we can put a lot more on the screen. Don’t overload, but don’t treat them like they can’t understand it all.</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More general feedback on exercise screen such as ‘do this now’, or possibly include encouraging colors.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r>
                        <a:rPr lang="en-US" b="0" dirty="0"/>
                        <a:t>If users can’t see the screen, can they hear feedback through the speakers?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pic>
        <p:nvPicPr>
          <p:cNvPr id="450" name="image.png" descr="image.png"/>
          <p:cNvPicPr>
            <a:picLocks noChangeAspect="1"/>
          </p:cNvPicPr>
          <p:nvPr/>
        </p:nvPicPr>
        <p:blipFill>
          <a:blip r:embed="rId4"/>
          <a:stretch>
            <a:fillRect/>
          </a:stretch>
        </p:blipFill>
        <p:spPr>
          <a:xfrm>
            <a:off x="6005512" y="3411537"/>
            <a:ext cx="187326" cy="209551"/>
          </a:xfrm>
          <a:prstGeom prst="rect">
            <a:avLst/>
          </a:prstGeom>
          <a:ln w="12700">
            <a:miter lim="400000"/>
          </a:ln>
        </p:spPr>
      </p:pic>
      <p:sp>
        <p:nvSpPr>
          <p:cNvPr id="451" name="https://www.svgrepo.com/svg/120932/light-bulb"/>
          <p:cNvSpPr txBox="1"/>
          <p:nvPr/>
        </p:nvSpPr>
        <p:spPr>
          <a:xfrm rot="214836">
            <a:off x="5364842" y="4776659"/>
            <a:ext cx="2008189" cy="35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700"/>
            </a:lvl1pPr>
          </a:lstStyle>
          <a:p>
            <a:r>
              <a:rPr dirty="0"/>
              <a:t>https://www.svgrepo.com/svg/120932/light-bulb</a:t>
            </a:r>
          </a:p>
        </p:txBody>
      </p:sp>
      <p:pic>
        <p:nvPicPr>
          <p:cNvPr id="452" name="image.png" descr="image.png"/>
          <p:cNvPicPr>
            <a:picLocks noChangeAspect="1"/>
          </p:cNvPicPr>
          <p:nvPr/>
        </p:nvPicPr>
        <p:blipFill>
          <a:blip r:embed="rId5"/>
          <a:stretch>
            <a:fillRect/>
          </a:stretch>
        </p:blipFill>
        <p:spPr>
          <a:xfrm>
            <a:off x="7762875" y="0"/>
            <a:ext cx="1381125" cy="1000125"/>
          </a:xfrm>
          <a:prstGeom prst="rect">
            <a:avLst/>
          </a:prstGeom>
          <a:ln w="12700">
            <a:miter lim="400000"/>
          </a:ln>
        </p:spPr>
      </p:pic>
      <p:sp>
        <p:nvSpPr>
          <p:cNvPr id="453" name="Prototype…"/>
          <p:cNvSpPr txBox="1"/>
          <p:nvPr/>
        </p:nvSpPr>
        <p:spPr>
          <a:xfrm>
            <a:off x="6192837" y="176212"/>
            <a:ext cx="1022351" cy="849522"/>
          </a:xfrm>
          <a:prstGeom prst="rect">
            <a:avLst/>
          </a:prstGeom>
          <a:solidFill>
            <a:srgbClr val="FAE23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t>Prototype</a:t>
            </a:r>
            <a:endParaRPr sz="4000" dirty="0"/>
          </a:p>
          <a:p>
            <a:pPr>
              <a:defRPr sz="4000"/>
            </a:pPr>
            <a:r>
              <a:rPr dirty="0"/>
              <a:t>1</a:t>
            </a:r>
          </a:p>
        </p:txBody>
      </p:sp>
      <p:sp>
        <p:nvSpPr>
          <p:cNvPr id="2" name="TextBox 1">
            <a:extLst>
              <a:ext uri="{FF2B5EF4-FFF2-40B4-BE49-F238E27FC236}">
                <a16:creationId xmlns:a16="http://schemas.microsoft.com/office/drawing/2014/main" id="{D357C574-C50A-722A-6B75-B4440E224EBC}"/>
              </a:ext>
            </a:extLst>
          </p:cNvPr>
          <p:cNvSpPr txBox="1"/>
          <p:nvPr/>
        </p:nvSpPr>
        <p:spPr>
          <a:xfrm>
            <a:off x="2633529" y="2874367"/>
            <a:ext cx="69559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Arial"/>
              </a:rPr>
              <a:t>Patient</a:t>
            </a:r>
            <a:endParaRPr kumimoji="0" lang="en-CA" sz="1400" b="0" i="0" u="none" strike="noStrike" cap="none" spc="0" normalizeH="0" baseline="0" dirty="0">
              <a:ln>
                <a:noFill/>
              </a:ln>
              <a:solidFill>
                <a:srgbClr val="000000"/>
              </a:solidFill>
              <a:effectLst/>
              <a:uFillTx/>
              <a:latin typeface="+mn-lt"/>
              <a:ea typeface="+mn-ea"/>
              <a:cs typeface="+mn-cs"/>
              <a:sym typeface="Aria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5" name="Image" descr="Image"/>
          <p:cNvPicPr>
            <a:picLocks noChangeAspect="1"/>
          </p:cNvPicPr>
          <p:nvPr/>
        </p:nvPicPr>
        <p:blipFill>
          <a:blip r:embed="rId2"/>
          <a:stretch>
            <a:fillRect/>
          </a:stretch>
        </p:blipFill>
        <p:spPr>
          <a:xfrm>
            <a:off x="404812" y="-41275"/>
            <a:ext cx="4959351" cy="5108575"/>
          </a:xfrm>
          <a:prstGeom prst="rect">
            <a:avLst/>
          </a:prstGeom>
          <a:ln w="12700">
            <a:miter lim="400000"/>
          </a:ln>
        </p:spPr>
      </p:pic>
      <p:grpSp>
        <p:nvGrpSpPr>
          <p:cNvPr id="458" name="Group"/>
          <p:cNvGrpSpPr/>
          <p:nvPr/>
        </p:nvGrpSpPr>
        <p:grpSpPr>
          <a:xfrm>
            <a:off x="8094662" y="4056062"/>
            <a:ext cx="498477" cy="367920"/>
            <a:chOff x="0" y="0"/>
            <a:chExt cx="498476" cy="367919"/>
          </a:xfrm>
        </p:grpSpPr>
        <p:pic>
          <p:nvPicPr>
            <p:cNvPr id="456" name="Image" descr="Image"/>
            <p:cNvPicPr>
              <a:picLocks noChangeAspect="1"/>
            </p:cNvPicPr>
            <p:nvPr/>
          </p:nvPicPr>
          <p:blipFill>
            <a:blip r:embed="rId3"/>
            <a:stretch>
              <a:fillRect/>
            </a:stretch>
          </p:blipFill>
          <p:spPr>
            <a:xfrm>
              <a:off x="0" y="0"/>
              <a:ext cx="418131" cy="350838"/>
            </a:xfrm>
            <a:prstGeom prst="rect">
              <a:avLst/>
            </a:prstGeom>
            <a:ln w="12700" cap="flat">
              <a:noFill/>
              <a:miter lim="400000"/>
            </a:ln>
            <a:effectLst/>
          </p:spPr>
        </p:pic>
        <p:sp>
          <p:nvSpPr>
            <p:cNvPr id="457" name="5"/>
            <p:cNvSpPr txBox="1"/>
            <p:nvPr/>
          </p:nvSpPr>
          <p:spPr>
            <a:xfrm>
              <a:off x="337782" y="175418"/>
              <a:ext cx="160694" cy="192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2749" tIns="32749" rIns="32749" bIns="32749" numCol="1" anchor="t">
              <a:spAutoFit/>
            </a:bodyPr>
            <a:lstStyle>
              <a:lvl1pPr>
                <a:defRPr sz="800" b="1">
                  <a:latin typeface="+mj-lt"/>
                  <a:ea typeface="+mj-ea"/>
                  <a:cs typeface="+mj-cs"/>
                  <a:sym typeface="Helvetica"/>
                </a:defRPr>
              </a:lvl1pPr>
            </a:lstStyle>
            <a:p>
              <a:r>
                <a:rPr dirty="0"/>
                <a:t>5</a:t>
              </a:r>
            </a:p>
          </p:txBody>
        </p:sp>
      </p:grpSp>
      <p:sp>
        <p:nvSpPr>
          <p:cNvPr id="459" name="Feedback Grid:…"/>
          <p:cNvSpPr txBox="1"/>
          <p:nvPr/>
        </p:nvSpPr>
        <p:spPr>
          <a:xfrm>
            <a:off x="6034087" y="1298368"/>
            <a:ext cx="2906713" cy="122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100" b="1">
                <a:latin typeface="+mj-lt"/>
                <a:ea typeface="+mj-ea"/>
                <a:cs typeface="+mj-cs"/>
                <a:sym typeface="Helvetica"/>
              </a:defRPr>
            </a:pPr>
            <a:r>
              <a:rPr dirty="0"/>
              <a:t>Feedback Grid:</a:t>
            </a:r>
          </a:p>
          <a:p>
            <a:pPr>
              <a:defRPr sz="1100" b="1">
                <a:latin typeface="+mj-lt"/>
                <a:ea typeface="+mj-ea"/>
                <a:cs typeface="+mj-cs"/>
                <a:sym typeface="Helvetica"/>
              </a:defRPr>
            </a:pPr>
            <a:endParaRPr dirty="0"/>
          </a:p>
          <a:p>
            <a:pPr>
              <a:defRPr sz="1100" b="1">
                <a:latin typeface="+mj-lt"/>
                <a:ea typeface="+mj-ea"/>
                <a:cs typeface="+mj-cs"/>
                <a:sym typeface="Helvetica"/>
              </a:defRPr>
            </a:pPr>
            <a:r>
              <a:rPr dirty="0"/>
              <a:t>Use to take notes when getting feedback from individual users.  Have one person do the talking, and a second take notes, but steer the conversation to cover all 4 areas.</a:t>
            </a:r>
          </a:p>
        </p:txBody>
      </p:sp>
      <p:graphicFrame>
        <p:nvGraphicFramePr>
          <p:cNvPr id="460" name="Table 1"/>
          <p:cNvGraphicFramePr/>
          <p:nvPr/>
        </p:nvGraphicFramePr>
        <p:xfrm>
          <a:off x="5951537" y="2722562"/>
          <a:ext cx="2965449" cy="919161"/>
        </p:xfrm>
        <a:graphic>
          <a:graphicData uri="http://schemas.openxmlformats.org/drawingml/2006/table">
            <a:tbl>
              <a:tblPr>
                <a:tableStyleId>{4C3C2611-4C71-4FC5-86AE-919BDF0F9419}</a:tableStyleId>
              </a:tblPr>
              <a:tblGrid>
                <a:gridCol w="280987">
                  <a:extLst>
                    <a:ext uri="{9D8B030D-6E8A-4147-A177-3AD203B41FA5}">
                      <a16:colId xmlns:a16="http://schemas.microsoft.com/office/drawing/2014/main" val="20000"/>
                    </a:ext>
                  </a:extLst>
                </a:gridCol>
                <a:gridCol w="2684462">
                  <a:extLst>
                    <a:ext uri="{9D8B030D-6E8A-4147-A177-3AD203B41FA5}">
                      <a16:colId xmlns:a16="http://schemas.microsoft.com/office/drawing/2014/main" val="20001"/>
                    </a:ext>
                  </a:extLst>
                </a:gridCol>
              </a:tblGrid>
              <a:tr h="228600">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did they like about it?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would they like changed?</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questions did they ask?</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30187">
                <a:tc>
                  <a:txBody>
                    <a:bodyPr/>
                    <a:lstStyle/>
                    <a:p>
                      <a:pPr algn="l">
                        <a:defRPr sz="9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new ideas came out of the discussion?</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graphicFrame>
        <p:nvGraphicFramePr>
          <p:cNvPr id="461" name="Table 1"/>
          <p:cNvGraphicFramePr/>
          <p:nvPr>
            <p:extLst>
              <p:ext uri="{D42A27DB-BD31-4B8C-83A1-F6EECF244321}">
                <p14:modId xmlns:p14="http://schemas.microsoft.com/office/powerpoint/2010/main" val="639730070"/>
              </p:ext>
            </p:extLst>
          </p:nvPr>
        </p:nvGraphicFramePr>
        <p:xfrm>
          <a:off x="319087" y="658812"/>
          <a:ext cx="2178050" cy="1516467"/>
        </p:xfrm>
        <a:graphic>
          <a:graphicData uri="http://schemas.openxmlformats.org/drawingml/2006/table">
            <a:tbl>
              <a:tblPr>
                <a:tableStyleId>{4C3C2611-4C71-4FC5-86AE-919BDF0F9419}</a:tableStyleId>
              </a:tblPr>
              <a:tblGrid>
                <a:gridCol w="21780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Presentation of exercises and patients seems clear enough.</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Menus are clear, data displayed makes logical sense.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Information captured by the video should help in assessing patient progress and current status.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b="0" dirty="0"/>
                        <a:t>Patient list seems efficient in allowing selection of individuals.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62" name="Table 1"/>
          <p:cNvGraphicFramePr/>
          <p:nvPr>
            <p:extLst>
              <p:ext uri="{D42A27DB-BD31-4B8C-83A1-F6EECF244321}">
                <p14:modId xmlns:p14="http://schemas.microsoft.com/office/powerpoint/2010/main" val="3255985036"/>
              </p:ext>
            </p:extLst>
          </p:nvPr>
        </p:nvGraphicFramePr>
        <p:xfrm>
          <a:off x="3482975" y="658812"/>
          <a:ext cx="2254250" cy="1422227"/>
        </p:xfrm>
        <a:graphic>
          <a:graphicData uri="http://schemas.openxmlformats.org/drawingml/2006/table">
            <a:tbl>
              <a:tblPr>
                <a:tableStyleId>{4C3C2611-4C71-4FC5-86AE-919BDF0F9419}</a:tableStyleId>
              </a:tblPr>
              <a:tblGrid>
                <a:gridCol w="22542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More information in each menu/display</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Create a place for me to give the patient feedback, or even where I can reach out to them about their exercises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More information captured/capturable from the exercise videos by patients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b="0" dirty="0"/>
                        <a:t>More explanations of certain displays. Eg what goes in the pie chart on the home page?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63" name="Table 1"/>
          <p:cNvGraphicFramePr/>
          <p:nvPr>
            <p:extLst>
              <p:ext uri="{D42A27DB-BD31-4B8C-83A1-F6EECF244321}">
                <p14:modId xmlns:p14="http://schemas.microsoft.com/office/powerpoint/2010/main" val="1616441558"/>
              </p:ext>
            </p:extLst>
          </p:nvPr>
        </p:nvGraphicFramePr>
        <p:xfrm>
          <a:off x="319087" y="2951162"/>
          <a:ext cx="2092325" cy="1284432"/>
        </p:xfrm>
        <a:graphic>
          <a:graphicData uri="http://schemas.openxmlformats.org/drawingml/2006/table">
            <a:tbl>
              <a:tblPr>
                <a:tableStyleId>{4C3C2611-4C71-4FC5-86AE-919BDF0F9419}</a:tableStyleId>
              </a:tblPr>
              <a:tblGrid>
                <a:gridCol w="20923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How will the menus change based on different patients?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Can I view all patient data at once?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How will I provide patients with feedback based on their exercises?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r>
                        <a:rPr lang="en-US" b="0" dirty="0"/>
                        <a:t>Will I have to watch the videos of patients exercising to get the information?</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96850">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64" name="Table 1"/>
          <p:cNvGraphicFramePr/>
          <p:nvPr>
            <p:extLst>
              <p:ext uri="{D42A27DB-BD31-4B8C-83A1-F6EECF244321}">
                <p14:modId xmlns:p14="http://schemas.microsoft.com/office/powerpoint/2010/main" val="1720456824"/>
              </p:ext>
            </p:extLst>
          </p:nvPr>
        </p:nvGraphicFramePr>
        <p:xfrm>
          <a:off x="3568700" y="2951162"/>
          <a:ext cx="2168525" cy="1209502"/>
        </p:xfrm>
        <a:graphic>
          <a:graphicData uri="http://schemas.openxmlformats.org/drawingml/2006/table">
            <a:tbl>
              <a:tblPr>
                <a:tableStyleId>{4C3C2611-4C71-4FC5-86AE-919BDF0F9419}</a:tableStyleId>
              </a:tblPr>
              <a:tblGrid>
                <a:gridCol w="21685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Overall patient display when no user is selected?</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Maintain constant user data of all exercises, or limited time range? (Week, month, last 3 days, etc.)</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What extra data can we gather from the video apart from angles and time?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pic>
        <p:nvPicPr>
          <p:cNvPr id="465" name="image.png" descr="image.png"/>
          <p:cNvPicPr>
            <a:picLocks noChangeAspect="1"/>
          </p:cNvPicPr>
          <p:nvPr/>
        </p:nvPicPr>
        <p:blipFill>
          <a:blip r:embed="rId4"/>
          <a:stretch>
            <a:fillRect/>
          </a:stretch>
        </p:blipFill>
        <p:spPr>
          <a:xfrm>
            <a:off x="6005512" y="3411537"/>
            <a:ext cx="187326" cy="209551"/>
          </a:xfrm>
          <a:prstGeom prst="rect">
            <a:avLst/>
          </a:prstGeom>
          <a:ln w="12700">
            <a:miter lim="400000"/>
          </a:ln>
        </p:spPr>
      </p:pic>
      <p:sp>
        <p:nvSpPr>
          <p:cNvPr id="466" name="https://www.svgrepo.com/svg/120932/light-bulb"/>
          <p:cNvSpPr txBox="1"/>
          <p:nvPr/>
        </p:nvSpPr>
        <p:spPr>
          <a:xfrm rot="214836">
            <a:off x="5364842" y="4776659"/>
            <a:ext cx="2008189" cy="35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700"/>
            </a:lvl1pPr>
          </a:lstStyle>
          <a:p>
            <a:r>
              <a:rPr dirty="0"/>
              <a:t>https://www.svgrepo.com/svg/120932/light-bulb</a:t>
            </a:r>
          </a:p>
        </p:txBody>
      </p:sp>
      <p:pic>
        <p:nvPicPr>
          <p:cNvPr id="467" name="image.png" descr="image.png"/>
          <p:cNvPicPr>
            <a:picLocks noChangeAspect="1"/>
          </p:cNvPicPr>
          <p:nvPr/>
        </p:nvPicPr>
        <p:blipFill>
          <a:blip r:embed="rId5"/>
          <a:stretch>
            <a:fillRect/>
          </a:stretch>
        </p:blipFill>
        <p:spPr>
          <a:xfrm>
            <a:off x="7762875" y="0"/>
            <a:ext cx="1381125" cy="1000125"/>
          </a:xfrm>
          <a:prstGeom prst="rect">
            <a:avLst/>
          </a:prstGeom>
          <a:ln w="12700">
            <a:miter lim="400000"/>
          </a:ln>
        </p:spPr>
      </p:pic>
      <p:sp>
        <p:nvSpPr>
          <p:cNvPr id="468" name="Prototype…"/>
          <p:cNvSpPr txBox="1"/>
          <p:nvPr/>
        </p:nvSpPr>
        <p:spPr>
          <a:xfrm>
            <a:off x="6192837" y="176212"/>
            <a:ext cx="1022351" cy="849522"/>
          </a:xfrm>
          <a:prstGeom prst="rect">
            <a:avLst/>
          </a:prstGeom>
          <a:solidFill>
            <a:srgbClr val="FAE23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t>Prototype</a:t>
            </a:r>
            <a:endParaRPr sz="4000" dirty="0"/>
          </a:p>
          <a:p>
            <a:pPr>
              <a:defRPr sz="4000"/>
            </a:pPr>
            <a:r>
              <a:rPr dirty="0"/>
              <a:t>1</a:t>
            </a:r>
          </a:p>
        </p:txBody>
      </p:sp>
      <p:sp>
        <p:nvSpPr>
          <p:cNvPr id="2" name="TextBox 1">
            <a:extLst>
              <a:ext uri="{FF2B5EF4-FFF2-40B4-BE49-F238E27FC236}">
                <a16:creationId xmlns:a16="http://schemas.microsoft.com/office/drawing/2014/main" id="{B84C0211-52DE-D4EB-370F-7D755E8DCD1E}"/>
              </a:ext>
            </a:extLst>
          </p:cNvPr>
          <p:cNvSpPr txBox="1"/>
          <p:nvPr/>
        </p:nvSpPr>
        <p:spPr>
          <a:xfrm>
            <a:off x="2674180" y="2855742"/>
            <a:ext cx="730763"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Arial"/>
              </a:rPr>
              <a:t>Physio</a:t>
            </a:r>
            <a:endParaRPr kumimoji="0" lang="en-CA" sz="1400" b="0" i="0" u="none" strike="noStrike" cap="none" spc="0" normalizeH="0" baseline="0" dirty="0">
              <a:ln>
                <a:noFill/>
              </a:ln>
              <a:solidFill>
                <a:srgbClr val="000000"/>
              </a:solidFill>
              <a:effectLst/>
              <a:uFillTx/>
              <a:latin typeface="+mn-lt"/>
              <a:ea typeface="+mn-ea"/>
              <a:cs typeface="+mn-cs"/>
              <a:sym typeface="Arial"/>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0" name="Image" descr="Image"/>
          <p:cNvPicPr>
            <a:picLocks noChangeAspect="1"/>
          </p:cNvPicPr>
          <p:nvPr/>
        </p:nvPicPr>
        <p:blipFill>
          <a:blip r:embed="rId2"/>
          <a:stretch>
            <a:fillRect/>
          </a:stretch>
        </p:blipFill>
        <p:spPr>
          <a:xfrm>
            <a:off x="404812" y="-41275"/>
            <a:ext cx="4959351" cy="5108575"/>
          </a:xfrm>
          <a:prstGeom prst="rect">
            <a:avLst/>
          </a:prstGeom>
          <a:ln w="12700">
            <a:miter lim="400000"/>
          </a:ln>
        </p:spPr>
      </p:pic>
      <p:grpSp>
        <p:nvGrpSpPr>
          <p:cNvPr id="473" name="Group"/>
          <p:cNvGrpSpPr/>
          <p:nvPr/>
        </p:nvGrpSpPr>
        <p:grpSpPr>
          <a:xfrm>
            <a:off x="8094662" y="4056062"/>
            <a:ext cx="498477" cy="367920"/>
            <a:chOff x="0" y="0"/>
            <a:chExt cx="498476" cy="367919"/>
          </a:xfrm>
        </p:grpSpPr>
        <p:pic>
          <p:nvPicPr>
            <p:cNvPr id="471" name="Image" descr="Image"/>
            <p:cNvPicPr>
              <a:picLocks noChangeAspect="1"/>
            </p:cNvPicPr>
            <p:nvPr/>
          </p:nvPicPr>
          <p:blipFill>
            <a:blip r:embed="rId3"/>
            <a:stretch>
              <a:fillRect/>
            </a:stretch>
          </p:blipFill>
          <p:spPr>
            <a:xfrm>
              <a:off x="0" y="0"/>
              <a:ext cx="418131" cy="350838"/>
            </a:xfrm>
            <a:prstGeom prst="rect">
              <a:avLst/>
            </a:prstGeom>
            <a:ln w="12700" cap="flat">
              <a:noFill/>
              <a:miter lim="400000"/>
            </a:ln>
            <a:effectLst/>
          </p:spPr>
        </p:pic>
        <p:sp>
          <p:nvSpPr>
            <p:cNvPr id="472" name="5"/>
            <p:cNvSpPr txBox="1"/>
            <p:nvPr/>
          </p:nvSpPr>
          <p:spPr>
            <a:xfrm>
              <a:off x="337782" y="175418"/>
              <a:ext cx="160694" cy="192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2749" tIns="32749" rIns="32749" bIns="32749" numCol="1" anchor="t">
              <a:spAutoFit/>
            </a:bodyPr>
            <a:lstStyle>
              <a:lvl1pPr>
                <a:defRPr sz="800" b="1">
                  <a:latin typeface="+mj-lt"/>
                  <a:ea typeface="+mj-ea"/>
                  <a:cs typeface="+mj-cs"/>
                  <a:sym typeface="Helvetica"/>
                </a:defRPr>
              </a:lvl1pPr>
            </a:lstStyle>
            <a:p>
              <a:r>
                <a:rPr dirty="0"/>
                <a:t>5</a:t>
              </a:r>
            </a:p>
          </p:txBody>
        </p:sp>
      </p:grpSp>
      <p:sp>
        <p:nvSpPr>
          <p:cNvPr id="474" name="Feedback Grid:…"/>
          <p:cNvSpPr txBox="1"/>
          <p:nvPr/>
        </p:nvSpPr>
        <p:spPr>
          <a:xfrm>
            <a:off x="6034087" y="1298368"/>
            <a:ext cx="2906713" cy="122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100" b="1">
                <a:latin typeface="+mj-lt"/>
                <a:ea typeface="+mj-ea"/>
                <a:cs typeface="+mj-cs"/>
                <a:sym typeface="Helvetica"/>
              </a:defRPr>
            </a:pPr>
            <a:r>
              <a:rPr dirty="0"/>
              <a:t>Feedback Grid:</a:t>
            </a:r>
          </a:p>
          <a:p>
            <a:pPr>
              <a:defRPr sz="1100" b="1">
                <a:latin typeface="+mj-lt"/>
                <a:ea typeface="+mj-ea"/>
                <a:cs typeface="+mj-cs"/>
                <a:sym typeface="Helvetica"/>
              </a:defRPr>
            </a:pPr>
            <a:endParaRPr dirty="0"/>
          </a:p>
          <a:p>
            <a:pPr>
              <a:defRPr sz="1100" b="1">
                <a:latin typeface="+mj-lt"/>
                <a:ea typeface="+mj-ea"/>
                <a:cs typeface="+mj-cs"/>
                <a:sym typeface="Helvetica"/>
              </a:defRPr>
            </a:pPr>
            <a:r>
              <a:rPr dirty="0"/>
              <a:t>Use to take notes when getting feedback from individual users.  Have one person do the talking, and a second take notes, but steer the conversation to cover all 4 areas.</a:t>
            </a:r>
          </a:p>
        </p:txBody>
      </p:sp>
      <p:graphicFrame>
        <p:nvGraphicFramePr>
          <p:cNvPr id="475" name="Table 1"/>
          <p:cNvGraphicFramePr/>
          <p:nvPr/>
        </p:nvGraphicFramePr>
        <p:xfrm>
          <a:off x="5951537" y="2722562"/>
          <a:ext cx="2965449" cy="919161"/>
        </p:xfrm>
        <a:graphic>
          <a:graphicData uri="http://schemas.openxmlformats.org/drawingml/2006/table">
            <a:tbl>
              <a:tblPr>
                <a:tableStyleId>{4C3C2611-4C71-4FC5-86AE-919BDF0F9419}</a:tableStyleId>
              </a:tblPr>
              <a:tblGrid>
                <a:gridCol w="280987">
                  <a:extLst>
                    <a:ext uri="{9D8B030D-6E8A-4147-A177-3AD203B41FA5}">
                      <a16:colId xmlns:a16="http://schemas.microsoft.com/office/drawing/2014/main" val="20000"/>
                    </a:ext>
                  </a:extLst>
                </a:gridCol>
                <a:gridCol w="2684462">
                  <a:extLst>
                    <a:ext uri="{9D8B030D-6E8A-4147-A177-3AD203B41FA5}">
                      <a16:colId xmlns:a16="http://schemas.microsoft.com/office/drawing/2014/main" val="20001"/>
                    </a:ext>
                  </a:extLst>
                </a:gridCol>
              </a:tblGrid>
              <a:tr h="228600">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did they like about it?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would they like changed?</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questions did they ask?</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30187">
                <a:tc>
                  <a:txBody>
                    <a:bodyPr/>
                    <a:lstStyle/>
                    <a:p>
                      <a:pPr algn="l">
                        <a:defRPr sz="9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new ideas came out of the discussion?</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graphicFrame>
        <p:nvGraphicFramePr>
          <p:cNvPr id="476" name="Table 1"/>
          <p:cNvGraphicFramePr/>
          <p:nvPr>
            <p:extLst>
              <p:ext uri="{D42A27DB-BD31-4B8C-83A1-F6EECF244321}">
                <p14:modId xmlns:p14="http://schemas.microsoft.com/office/powerpoint/2010/main" val="2688012069"/>
              </p:ext>
            </p:extLst>
          </p:nvPr>
        </p:nvGraphicFramePr>
        <p:xfrm>
          <a:off x="319087" y="658812"/>
          <a:ext cx="2178050" cy="1394547"/>
        </p:xfrm>
        <a:graphic>
          <a:graphicData uri="http://schemas.openxmlformats.org/drawingml/2006/table">
            <a:tbl>
              <a:tblPr>
                <a:tableStyleId>{4C3C2611-4C71-4FC5-86AE-919BDF0F9419}</a:tableStyleId>
              </a:tblPr>
              <a:tblGrid>
                <a:gridCol w="21780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Constant interaction with the physiotherapist would really help.</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Being able to present questions or comments along with data would be great.</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Modifiable instructions that can be personalized to me is a great idea.</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b="0" dirty="0"/>
                        <a:t>Overall data display of my entered exercises and physio feedback is easy to access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77" name="Table 1"/>
          <p:cNvGraphicFramePr/>
          <p:nvPr>
            <p:extLst>
              <p:ext uri="{D42A27DB-BD31-4B8C-83A1-F6EECF244321}">
                <p14:modId xmlns:p14="http://schemas.microsoft.com/office/powerpoint/2010/main" val="2179599121"/>
              </p:ext>
            </p:extLst>
          </p:nvPr>
        </p:nvGraphicFramePr>
        <p:xfrm>
          <a:off x="3482975" y="658812"/>
          <a:ext cx="2254250" cy="1327987"/>
        </p:xfrm>
        <a:graphic>
          <a:graphicData uri="http://schemas.openxmlformats.org/drawingml/2006/table">
            <a:tbl>
              <a:tblPr>
                <a:tableStyleId>{4C3C2611-4C71-4FC5-86AE-919BDF0F9419}</a:tableStyleId>
              </a:tblPr>
              <a:tblGrid>
                <a:gridCol w="22542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Could the data be changed to something more general and easy to obtain? Sets, reps, time, etc. rather than angles and average rep time?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Can there be a notification feature for physiotherapist comments?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78" name="Table 1"/>
          <p:cNvGraphicFramePr/>
          <p:nvPr>
            <p:extLst>
              <p:ext uri="{D42A27DB-BD31-4B8C-83A1-F6EECF244321}">
                <p14:modId xmlns:p14="http://schemas.microsoft.com/office/powerpoint/2010/main" val="1191301746"/>
              </p:ext>
            </p:extLst>
          </p:nvPr>
        </p:nvGraphicFramePr>
        <p:xfrm>
          <a:off x="319087" y="2951162"/>
          <a:ext cx="2092325" cy="1311680"/>
        </p:xfrm>
        <a:graphic>
          <a:graphicData uri="http://schemas.openxmlformats.org/drawingml/2006/table">
            <a:tbl>
              <a:tblPr>
                <a:tableStyleId>{4C3C2611-4C71-4FC5-86AE-919BDF0F9419}</a:tableStyleId>
              </a:tblPr>
              <a:tblGrid>
                <a:gridCol w="20923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How accurately can I collect that data on my own?</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Will the physiotherapist be able to provide relevant and effective feedback on my exercises based on this data?</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Will this improve the efficacy of my exercises, or does it still rely on the physio?</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r>
                        <a:rPr lang="en-US" b="0" dirty="0"/>
                        <a:t>How long will I expect this to take? How long do I expect for a response from my physio?</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graphicFrame>
        <p:nvGraphicFramePr>
          <p:cNvPr id="479" name="Table 1"/>
          <p:cNvGraphicFramePr/>
          <p:nvPr>
            <p:extLst>
              <p:ext uri="{D42A27DB-BD31-4B8C-83A1-F6EECF244321}">
                <p14:modId xmlns:p14="http://schemas.microsoft.com/office/powerpoint/2010/main" val="3048248242"/>
              </p:ext>
            </p:extLst>
          </p:nvPr>
        </p:nvGraphicFramePr>
        <p:xfrm>
          <a:off x="3568700" y="2951162"/>
          <a:ext cx="2168525" cy="1427682"/>
        </p:xfrm>
        <a:graphic>
          <a:graphicData uri="http://schemas.openxmlformats.org/drawingml/2006/table">
            <a:tbl>
              <a:tblPr>
                <a:tableStyleId>{4C3C2611-4C71-4FC5-86AE-919BDF0F9419}</a:tableStyleId>
              </a:tblPr>
              <a:tblGrid>
                <a:gridCol w="21685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Notification system?</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Should data be less specific for users, more information available to physios but less to patients? Does this create a lack of clarity between the two parties?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Similar pages between the two parties, varied information based on patient or physio?</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r>
                        <a:rPr lang="en-US" b="0" dirty="0"/>
                        <a:t>Can we trust users for input data?</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96850">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pic>
        <p:nvPicPr>
          <p:cNvPr id="480" name="image.png" descr="image.png"/>
          <p:cNvPicPr>
            <a:picLocks noChangeAspect="1"/>
          </p:cNvPicPr>
          <p:nvPr/>
        </p:nvPicPr>
        <p:blipFill>
          <a:blip r:embed="rId4"/>
          <a:stretch>
            <a:fillRect/>
          </a:stretch>
        </p:blipFill>
        <p:spPr>
          <a:xfrm>
            <a:off x="6005512" y="3411537"/>
            <a:ext cx="187326" cy="209551"/>
          </a:xfrm>
          <a:prstGeom prst="rect">
            <a:avLst/>
          </a:prstGeom>
          <a:ln w="12700">
            <a:miter lim="400000"/>
          </a:ln>
        </p:spPr>
      </p:pic>
      <p:sp>
        <p:nvSpPr>
          <p:cNvPr id="481" name="https://www.svgrepo.com/svg/120932/light-bulb"/>
          <p:cNvSpPr txBox="1"/>
          <p:nvPr/>
        </p:nvSpPr>
        <p:spPr>
          <a:xfrm rot="214836">
            <a:off x="5364842" y="4776659"/>
            <a:ext cx="2008189" cy="35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700"/>
            </a:lvl1pPr>
          </a:lstStyle>
          <a:p>
            <a:r>
              <a:rPr dirty="0"/>
              <a:t>https://www.svgrepo.com/svg/120932/light-bulb</a:t>
            </a:r>
          </a:p>
        </p:txBody>
      </p:sp>
      <p:pic>
        <p:nvPicPr>
          <p:cNvPr id="482" name="image.png" descr="image.png"/>
          <p:cNvPicPr>
            <a:picLocks noChangeAspect="1"/>
          </p:cNvPicPr>
          <p:nvPr/>
        </p:nvPicPr>
        <p:blipFill>
          <a:blip r:embed="rId5"/>
          <a:stretch>
            <a:fillRect/>
          </a:stretch>
        </p:blipFill>
        <p:spPr>
          <a:xfrm>
            <a:off x="7762875" y="0"/>
            <a:ext cx="1381125" cy="1000125"/>
          </a:xfrm>
          <a:prstGeom prst="rect">
            <a:avLst/>
          </a:prstGeom>
          <a:ln w="12700">
            <a:miter lim="400000"/>
          </a:ln>
        </p:spPr>
      </p:pic>
      <p:sp>
        <p:nvSpPr>
          <p:cNvPr id="483" name="Prototype…"/>
          <p:cNvSpPr txBox="1"/>
          <p:nvPr/>
        </p:nvSpPr>
        <p:spPr>
          <a:xfrm>
            <a:off x="6192837" y="176212"/>
            <a:ext cx="1022351" cy="849522"/>
          </a:xfrm>
          <a:prstGeom prst="rect">
            <a:avLst/>
          </a:prstGeom>
          <a:solidFill>
            <a:srgbClr val="FAE23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t>Prototype</a:t>
            </a:r>
            <a:endParaRPr sz="4000" dirty="0"/>
          </a:p>
          <a:p>
            <a:pPr>
              <a:defRPr sz="4000"/>
            </a:pPr>
            <a:r>
              <a:rPr dirty="0"/>
              <a:t>2</a:t>
            </a:r>
          </a:p>
        </p:txBody>
      </p:sp>
      <p:sp>
        <p:nvSpPr>
          <p:cNvPr id="2" name="TextBox 1">
            <a:extLst>
              <a:ext uri="{FF2B5EF4-FFF2-40B4-BE49-F238E27FC236}">
                <a16:creationId xmlns:a16="http://schemas.microsoft.com/office/drawing/2014/main" id="{EA04ADEE-52A2-420D-0110-F1409217E4F1}"/>
              </a:ext>
            </a:extLst>
          </p:cNvPr>
          <p:cNvSpPr txBox="1"/>
          <p:nvPr/>
        </p:nvSpPr>
        <p:spPr>
          <a:xfrm>
            <a:off x="2633529" y="2874367"/>
            <a:ext cx="69559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Arial"/>
              </a:rPr>
              <a:t>Patient</a:t>
            </a:r>
            <a:endParaRPr kumimoji="0" lang="en-CA" sz="1400" b="0" i="0" u="none" strike="noStrike" cap="none" spc="0" normalizeH="0" baseline="0" dirty="0">
              <a:ln>
                <a:noFill/>
              </a:ln>
              <a:solidFill>
                <a:srgbClr val="000000"/>
              </a:solidFill>
              <a:effectLst/>
              <a:uFillTx/>
              <a:latin typeface="+mn-lt"/>
              <a:ea typeface="+mn-ea"/>
              <a:cs typeface="+mn-cs"/>
              <a:sym typeface="Arial"/>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5" name="Image" descr="Image"/>
          <p:cNvPicPr>
            <a:picLocks noChangeAspect="1"/>
          </p:cNvPicPr>
          <p:nvPr/>
        </p:nvPicPr>
        <p:blipFill>
          <a:blip r:embed="rId2"/>
          <a:stretch>
            <a:fillRect/>
          </a:stretch>
        </p:blipFill>
        <p:spPr>
          <a:xfrm>
            <a:off x="404812" y="-41275"/>
            <a:ext cx="4959351" cy="5108575"/>
          </a:xfrm>
          <a:prstGeom prst="rect">
            <a:avLst/>
          </a:prstGeom>
          <a:ln w="12700">
            <a:miter lim="400000"/>
          </a:ln>
        </p:spPr>
      </p:pic>
      <p:grpSp>
        <p:nvGrpSpPr>
          <p:cNvPr id="488" name="Group"/>
          <p:cNvGrpSpPr/>
          <p:nvPr/>
        </p:nvGrpSpPr>
        <p:grpSpPr>
          <a:xfrm>
            <a:off x="8094662" y="4056062"/>
            <a:ext cx="498477" cy="367920"/>
            <a:chOff x="0" y="0"/>
            <a:chExt cx="498476" cy="367919"/>
          </a:xfrm>
        </p:grpSpPr>
        <p:pic>
          <p:nvPicPr>
            <p:cNvPr id="486" name="Image" descr="Image"/>
            <p:cNvPicPr>
              <a:picLocks noChangeAspect="1"/>
            </p:cNvPicPr>
            <p:nvPr/>
          </p:nvPicPr>
          <p:blipFill>
            <a:blip r:embed="rId3"/>
            <a:stretch>
              <a:fillRect/>
            </a:stretch>
          </p:blipFill>
          <p:spPr>
            <a:xfrm>
              <a:off x="0" y="0"/>
              <a:ext cx="418131" cy="350838"/>
            </a:xfrm>
            <a:prstGeom prst="rect">
              <a:avLst/>
            </a:prstGeom>
            <a:ln w="12700" cap="flat">
              <a:noFill/>
              <a:miter lim="400000"/>
            </a:ln>
            <a:effectLst/>
          </p:spPr>
        </p:pic>
        <p:sp>
          <p:nvSpPr>
            <p:cNvPr id="487" name="5"/>
            <p:cNvSpPr txBox="1"/>
            <p:nvPr/>
          </p:nvSpPr>
          <p:spPr>
            <a:xfrm>
              <a:off x="337782" y="175418"/>
              <a:ext cx="160694" cy="192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2749" tIns="32749" rIns="32749" bIns="32749" numCol="1" anchor="t">
              <a:spAutoFit/>
            </a:bodyPr>
            <a:lstStyle>
              <a:lvl1pPr>
                <a:defRPr sz="800" b="1">
                  <a:latin typeface="+mj-lt"/>
                  <a:ea typeface="+mj-ea"/>
                  <a:cs typeface="+mj-cs"/>
                  <a:sym typeface="Helvetica"/>
                </a:defRPr>
              </a:lvl1pPr>
            </a:lstStyle>
            <a:p>
              <a:r>
                <a:rPr dirty="0"/>
                <a:t>5</a:t>
              </a:r>
            </a:p>
          </p:txBody>
        </p:sp>
      </p:grpSp>
      <p:sp>
        <p:nvSpPr>
          <p:cNvPr id="489" name="Feedback Grid:…"/>
          <p:cNvSpPr txBox="1"/>
          <p:nvPr/>
        </p:nvSpPr>
        <p:spPr>
          <a:xfrm>
            <a:off x="6034087" y="1298368"/>
            <a:ext cx="2906713" cy="1221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2749" tIns="32749" rIns="32749" bIns="32749" anchor="ctr">
            <a:spAutoFit/>
          </a:bodyPr>
          <a:lstStyle/>
          <a:p>
            <a:pPr>
              <a:defRPr sz="1100" b="1">
                <a:latin typeface="+mj-lt"/>
                <a:ea typeface="+mj-ea"/>
                <a:cs typeface="+mj-cs"/>
                <a:sym typeface="Helvetica"/>
              </a:defRPr>
            </a:pPr>
            <a:r>
              <a:rPr dirty="0"/>
              <a:t>Feedback Grid:</a:t>
            </a:r>
          </a:p>
          <a:p>
            <a:pPr>
              <a:defRPr sz="1100" b="1">
                <a:latin typeface="+mj-lt"/>
                <a:ea typeface="+mj-ea"/>
                <a:cs typeface="+mj-cs"/>
                <a:sym typeface="Helvetica"/>
              </a:defRPr>
            </a:pPr>
            <a:endParaRPr dirty="0"/>
          </a:p>
          <a:p>
            <a:pPr>
              <a:defRPr sz="1100" b="1">
                <a:latin typeface="+mj-lt"/>
                <a:ea typeface="+mj-ea"/>
                <a:cs typeface="+mj-cs"/>
                <a:sym typeface="Helvetica"/>
              </a:defRPr>
            </a:pPr>
            <a:r>
              <a:rPr dirty="0"/>
              <a:t>Use to take notes when getting feedback from individual users.  Have one person do the talking, and a second take notes, but steer the conversation to cover all 4 areas.</a:t>
            </a:r>
          </a:p>
        </p:txBody>
      </p:sp>
      <p:graphicFrame>
        <p:nvGraphicFramePr>
          <p:cNvPr id="490" name="Table 1"/>
          <p:cNvGraphicFramePr/>
          <p:nvPr/>
        </p:nvGraphicFramePr>
        <p:xfrm>
          <a:off x="5951537" y="2722562"/>
          <a:ext cx="2965449" cy="919161"/>
        </p:xfrm>
        <a:graphic>
          <a:graphicData uri="http://schemas.openxmlformats.org/drawingml/2006/table">
            <a:tbl>
              <a:tblPr>
                <a:tableStyleId>{4C3C2611-4C71-4FC5-86AE-919BDF0F9419}</a:tableStyleId>
              </a:tblPr>
              <a:tblGrid>
                <a:gridCol w="280987">
                  <a:extLst>
                    <a:ext uri="{9D8B030D-6E8A-4147-A177-3AD203B41FA5}">
                      <a16:colId xmlns:a16="http://schemas.microsoft.com/office/drawing/2014/main" val="20000"/>
                    </a:ext>
                  </a:extLst>
                </a:gridCol>
                <a:gridCol w="2684462">
                  <a:extLst>
                    <a:ext uri="{9D8B030D-6E8A-4147-A177-3AD203B41FA5}">
                      <a16:colId xmlns:a16="http://schemas.microsoft.com/office/drawing/2014/main" val="20001"/>
                    </a:ext>
                  </a:extLst>
                </a:gridCol>
              </a:tblGrid>
              <a:tr h="228600">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did they like about it?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would they like changed?</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30187">
                <a:tc>
                  <a:txBody>
                    <a:bodyPr/>
                    <a:lstStyle/>
                    <a:p>
                      <a:pPr algn="ctr">
                        <a:defRPr sz="1800"/>
                      </a:pPr>
                      <a:r>
                        <a:rPr sz="900" b="1" dirty="0">
                          <a:latin typeface="+mj-lt"/>
                          <a:ea typeface="+mj-ea"/>
                          <a:cs typeface="+mj-cs"/>
                          <a:sym typeface="Helvetica"/>
                        </a:rPr>
                        <a:t>?</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tc>
                  <a:txBody>
                    <a:bodyPr/>
                    <a:lstStyle/>
                    <a:p>
                      <a:pPr algn="l">
                        <a:defRPr sz="1800"/>
                      </a:pPr>
                      <a:r>
                        <a:rPr sz="900" b="1" dirty="0">
                          <a:latin typeface="+mj-lt"/>
                          <a:ea typeface="+mj-ea"/>
                          <a:cs typeface="+mj-cs"/>
                          <a:sym typeface="Helvetica"/>
                        </a:rPr>
                        <a:t>What questions did they ask?</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30187">
                <a:tc>
                  <a:txBody>
                    <a:bodyPr/>
                    <a:lstStyle/>
                    <a:p>
                      <a:pPr algn="l">
                        <a:defRPr sz="9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tc>
                  <a:txBody>
                    <a:bodyPr/>
                    <a:lstStyle/>
                    <a:p>
                      <a:pPr algn="l">
                        <a:defRPr sz="1800"/>
                      </a:pPr>
                      <a:r>
                        <a:rPr sz="900" b="1" dirty="0">
                          <a:latin typeface="+mj-lt"/>
                          <a:ea typeface="+mj-ea"/>
                          <a:cs typeface="+mj-cs"/>
                          <a:sym typeface="Helvetica"/>
                        </a:rPr>
                        <a:t>What new ideas came out of the discussion?</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graphicFrame>
        <p:nvGraphicFramePr>
          <p:cNvPr id="491" name="Table 1"/>
          <p:cNvGraphicFramePr/>
          <p:nvPr>
            <p:extLst>
              <p:ext uri="{D42A27DB-BD31-4B8C-83A1-F6EECF244321}">
                <p14:modId xmlns:p14="http://schemas.microsoft.com/office/powerpoint/2010/main" val="708687797"/>
              </p:ext>
            </p:extLst>
          </p:nvPr>
        </p:nvGraphicFramePr>
        <p:xfrm>
          <a:off x="319087" y="658812"/>
          <a:ext cx="2178050" cy="1206067"/>
        </p:xfrm>
        <a:graphic>
          <a:graphicData uri="http://schemas.openxmlformats.org/drawingml/2006/table">
            <a:tbl>
              <a:tblPr>
                <a:tableStyleId>{4C3C2611-4C71-4FC5-86AE-919BDF0F9419}</a:tableStyleId>
              </a:tblPr>
              <a:tblGrid>
                <a:gridCol w="21780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Quick and constant connection with patients at home is great.</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Full free-range of entry is great for comments.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Modification of exercise instructions is good to personalize exercises.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b="0" dirty="0"/>
                        <a:t>Simple data entry means quick use of system.</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92" name="Table 1"/>
          <p:cNvGraphicFramePr/>
          <p:nvPr>
            <p:extLst>
              <p:ext uri="{D42A27DB-BD31-4B8C-83A1-F6EECF244321}">
                <p14:modId xmlns:p14="http://schemas.microsoft.com/office/powerpoint/2010/main" val="1033742663"/>
              </p:ext>
            </p:extLst>
          </p:nvPr>
        </p:nvGraphicFramePr>
        <p:xfrm>
          <a:off x="3482975" y="658812"/>
          <a:ext cx="2254250" cy="1666067"/>
        </p:xfrm>
        <a:graphic>
          <a:graphicData uri="http://schemas.openxmlformats.org/drawingml/2006/table">
            <a:tbl>
              <a:tblPr>
                <a:tableStyleId>{4C3C2611-4C71-4FC5-86AE-919BDF0F9419}</a:tableStyleId>
              </a:tblPr>
              <a:tblGrid>
                <a:gridCol w="2254250">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b="0" dirty="0"/>
                        <a:t>Can there be a sets and reps entry? Makes it easier for patient and physio to set expectations.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b="0" dirty="0"/>
                        <a:t>Can the coloring be made a little more contrasting? Hard to see difference between menus and background sometimes. Borders maybe.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b="0" dirty="0"/>
                        <a:t>Can there be even more data presented on the menus for forming of advice in comments and exercise instruction writing?</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w="9525" cap="flat" cmpd="sng" algn="ctr">
                      <a:solidFill>
                        <a:srgbClr val="000000"/>
                      </a:solidFill>
                      <a:prstDash val="solid"/>
                      <a:round/>
                      <a:headEnd type="none" w="med" len="med"/>
                      <a:tailEnd type="none" w="med" len="med"/>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93" name="Table 1"/>
          <p:cNvGraphicFramePr/>
          <p:nvPr>
            <p:extLst>
              <p:ext uri="{D42A27DB-BD31-4B8C-83A1-F6EECF244321}">
                <p14:modId xmlns:p14="http://schemas.microsoft.com/office/powerpoint/2010/main" val="4227629057"/>
              </p:ext>
            </p:extLst>
          </p:nvPr>
        </p:nvGraphicFramePr>
        <p:xfrm>
          <a:off x="319087" y="2951162"/>
          <a:ext cx="2092325" cy="1183842"/>
        </p:xfrm>
        <a:graphic>
          <a:graphicData uri="http://schemas.openxmlformats.org/drawingml/2006/table">
            <a:tbl>
              <a:tblPr>
                <a:tableStyleId>{4C3C2611-4C71-4FC5-86AE-919BDF0F9419}</a:tableStyleId>
              </a:tblPr>
              <a:tblGrid>
                <a:gridCol w="20923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How often will I be expected to login and leave feedback?</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Is there any way to view all of the feedback I have left at once?</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How long will this data be stored for?</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19685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494" name="Table 1"/>
          <p:cNvGraphicFramePr/>
          <p:nvPr>
            <p:extLst>
              <p:ext uri="{D42A27DB-BD31-4B8C-83A1-F6EECF244321}">
                <p14:modId xmlns:p14="http://schemas.microsoft.com/office/powerpoint/2010/main" val="1008239738"/>
              </p:ext>
            </p:extLst>
          </p:nvPr>
        </p:nvGraphicFramePr>
        <p:xfrm>
          <a:off x="3568700" y="2951162"/>
          <a:ext cx="2168525" cy="1108912"/>
        </p:xfrm>
        <a:graphic>
          <a:graphicData uri="http://schemas.openxmlformats.org/drawingml/2006/table">
            <a:tbl>
              <a:tblPr>
                <a:tableStyleId>{4C3C2611-4C71-4FC5-86AE-919BDF0F9419}</a:tableStyleId>
              </a:tblPr>
              <a:tblGrid>
                <a:gridCol w="2168525">
                  <a:extLst>
                    <a:ext uri="{9D8B030D-6E8A-4147-A177-3AD203B41FA5}">
                      <a16:colId xmlns:a16="http://schemas.microsoft.com/office/drawing/2014/main" val="20000"/>
                    </a:ext>
                  </a:extLst>
                </a:gridCol>
              </a:tblGrid>
              <a:tr h="196850">
                <a:tc>
                  <a:txBody>
                    <a:bodyPr/>
                    <a:lstStyle/>
                    <a:p>
                      <a:pPr algn="l">
                        <a:defRPr sz="800" b="1">
                          <a:latin typeface="+mj-lt"/>
                          <a:ea typeface="+mj-ea"/>
                          <a:cs typeface="+mj-cs"/>
                          <a:sym typeface="Helvetica"/>
                        </a:defRPr>
                      </a:pPr>
                      <a:r>
                        <a:rPr lang="en-US" b="0" dirty="0"/>
                        <a:t>Overall feedback screen? Comment counter?</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195262">
                <a:tc>
                  <a:txBody>
                    <a:bodyPr/>
                    <a:lstStyle/>
                    <a:p>
                      <a:pPr algn="l">
                        <a:defRPr sz="800" b="1">
                          <a:latin typeface="+mj-lt"/>
                          <a:ea typeface="+mj-ea"/>
                          <a:cs typeface="+mj-cs"/>
                          <a:sym typeface="Helvetica"/>
                        </a:defRPr>
                      </a:pPr>
                      <a:r>
                        <a:rPr lang="en-US" b="0" dirty="0"/>
                        <a:t>Feedback prompting? E.g. ‘It’s been 8 hours since this exercise was uploaded, please leave some feedback!’</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196850">
                <a:tc>
                  <a:txBody>
                    <a:bodyPr/>
                    <a:lstStyle/>
                    <a:p>
                      <a:pPr algn="l">
                        <a:defRPr sz="800" b="1">
                          <a:latin typeface="+mj-lt"/>
                          <a:ea typeface="+mj-ea"/>
                          <a:cs typeface="+mj-cs"/>
                          <a:sym typeface="Helvetica"/>
                        </a:defRPr>
                      </a:pPr>
                      <a:r>
                        <a:rPr lang="en-US" b="0" dirty="0"/>
                        <a:t>Data storage and integrity; what are the norms and conventions?</a:t>
                      </a:r>
                      <a:endParaRPr b="0"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195262">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bl>
          </a:graphicData>
        </a:graphic>
      </p:graphicFrame>
      <p:pic>
        <p:nvPicPr>
          <p:cNvPr id="495" name="image.png" descr="image.png"/>
          <p:cNvPicPr>
            <a:picLocks noChangeAspect="1"/>
          </p:cNvPicPr>
          <p:nvPr/>
        </p:nvPicPr>
        <p:blipFill>
          <a:blip r:embed="rId4"/>
          <a:stretch>
            <a:fillRect/>
          </a:stretch>
        </p:blipFill>
        <p:spPr>
          <a:xfrm>
            <a:off x="6005512" y="3411537"/>
            <a:ext cx="187326" cy="209551"/>
          </a:xfrm>
          <a:prstGeom prst="rect">
            <a:avLst/>
          </a:prstGeom>
          <a:ln w="12700">
            <a:miter lim="400000"/>
          </a:ln>
        </p:spPr>
      </p:pic>
      <p:sp>
        <p:nvSpPr>
          <p:cNvPr id="496" name="https://www.svgrepo.com/svg/120932/light-bulb"/>
          <p:cNvSpPr txBox="1"/>
          <p:nvPr/>
        </p:nvSpPr>
        <p:spPr>
          <a:xfrm rot="214836">
            <a:off x="5364842" y="4776659"/>
            <a:ext cx="2008189" cy="35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700"/>
            </a:lvl1pPr>
          </a:lstStyle>
          <a:p>
            <a:r>
              <a:rPr dirty="0"/>
              <a:t>https://www.svgrepo.com/svg/120932/light-bulb</a:t>
            </a:r>
          </a:p>
        </p:txBody>
      </p:sp>
      <p:pic>
        <p:nvPicPr>
          <p:cNvPr id="497" name="image.png" descr="image.png"/>
          <p:cNvPicPr>
            <a:picLocks noChangeAspect="1"/>
          </p:cNvPicPr>
          <p:nvPr/>
        </p:nvPicPr>
        <p:blipFill>
          <a:blip r:embed="rId5"/>
          <a:stretch>
            <a:fillRect/>
          </a:stretch>
        </p:blipFill>
        <p:spPr>
          <a:xfrm>
            <a:off x="7762875" y="0"/>
            <a:ext cx="1381125" cy="1000125"/>
          </a:xfrm>
          <a:prstGeom prst="rect">
            <a:avLst/>
          </a:prstGeom>
          <a:ln w="12700">
            <a:miter lim="400000"/>
          </a:ln>
        </p:spPr>
      </p:pic>
      <p:sp>
        <p:nvSpPr>
          <p:cNvPr id="498" name="Prototype…"/>
          <p:cNvSpPr txBox="1"/>
          <p:nvPr/>
        </p:nvSpPr>
        <p:spPr>
          <a:xfrm>
            <a:off x="6192837" y="176212"/>
            <a:ext cx="1022351" cy="849522"/>
          </a:xfrm>
          <a:prstGeom prst="rect">
            <a:avLst/>
          </a:prstGeom>
          <a:solidFill>
            <a:srgbClr val="FAE23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rPr dirty="0"/>
              <a:t>Prototype</a:t>
            </a:r>
            <a:endParaRPr sz="4000" dirty="0"/>
          </a:p>
          <a:p>
            <a:pPr>
              <a:defRPr sz="4000"/>
            </a:pPr>
            <a:r>
              <a:rPr dirty="0"/>
              <a:t>2</a:t>
            </a:r>
          </a:p>
        </p:txBody>
      </p:sp>
      <p:sp>
        <p:nvSpPr>
          <p:cNvPr id="2" name="TextBox 1">
            <a:extLst>
              <a:ext uri="{FF2B5EF4-FFF2-40B4-BE49-F238E27FC236}">
                <a16:creationId xmlns:a16="http://schemas.microsoft.com/office/drawing/2014/main" id="{AEC4C0BC-DDDF-9FBC-F71A-2321970EA633}"/>
              </a:ext>
            </a:extLst>
          </p:cNvPr>
          <p:cNvSpPr txBox="1"/>
          <p:nvPr/>
        </p:nvSpPr>
        <p:spPr>
          <a:xfrm>
            <a:off x="2674180" y="2855742"/>
            <a:ext cx="730763"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Arial"/>
              </a:rPr>
              <a:t>Physio</a:t>
            </a:r>
            <a:endParaRPr kumimoji="0" lang="en-CA" sz="1400" b="0" i="0" u="none" strike="noStrike" cap="none" spc="0" normalizeH="0" baseline="0" dirty="0">
              <a:ln>
                <a:noFill/>
              </a:ln>
              <a:solidFill>
                <a:srgbClr val="000000"/>
              </a:solidFill>
              <a:effectLst/>
              <a:uFillTx/>
              <a:latin typeface="+mn-lt"/>
              <a:ea typeface="+mn-ea"/>
              <a:cs typeface="+mn-cs"/>
              <a:sym typeface="Arial"/>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Prototype 1"/>
          <p:cNvSpPr txBox="1"/>
          <p:nvPr/>
        </p:nvSpPr>
        <p:spPr>
          <a:xfrm>
            <a:off x="2280917" y="472274"/>
            <a:ext cx="1148399" cy="269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b="1">
                <a:latin typeface="+mj-lt"/>
                <a:ea typeface="+mj-ea"/>
                <a:cs typeface="+mj-cs"/>
                <a:sym typeface="Helvetica"/>
              </a:defRPr>
            </a:lvl1pPr>
          </a:lstStyle>
          <a:p>
            <a:r>
              <a:rPr dirty="0"/>
              <a:t>Prototype 1</a:t>
            </a:r>
          </a:p>
        </p:txBody>
      </p:sp>
      <p:sp>
        <p:nvSpPr>
          <p:cNvPr id="508" name="Prototype 2"/>
          <p:cNvSpPr txBox="1"/>
          <p:nvPr/>
        </p:nvSpPr>
        <p:spPr>
          <a:xfrm>
            <a:off x="6288090" y="503159"/>
            <a:ext cx="1149986" cy="269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b="1">
                <a:latin typeface="+mj-lt"/>
                <a:ea typeface="+mj-ea"/>
                <a:cs typeface="+mj-cs"/>
                <a:sym typeface="Helvetica"/>
              </a:defRPr>
            </a:lvl1pPr>
          </a:lstStyle>
          <a:p>
            <a:r>
              <a:rPr dirty="0"/>
              <a:t>Prototype 2</a:t>
            </a:r>
          </a:p>
        </p:txBody>
      </p:sp>
      <p:sp>
        <p:nvSpPr>
          <p:cNvPr id="510" name="Pros"/>
          <p:cNvSpPr txBox="1"/>
          <p:nvPr/>
        </p:nvSpPr>
        <p:spPr>
          <a:xfrm>
            <a:off x="394969" y="1543050"/>
            <a:ext cx="1148399" cy="2692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b="1">
                <a:latin typeface="+mj-lt"/>
                <a:ea typeface="+mj-ea"/>
                <a:cs typeface="+mj-cs"/>
                <a:sym typeface="Helvetica"/>
              </a:defRPr>
            </a:lvl1pPr>
          </a:lstStyle>
          <a:p>
            <a:r>
              <a:rPr dirty="0"/>
              <a:t>Pros</a:t>
            </a:r>
          </a:p>
        </p:txBody>
      </p:sp>
      <p:sp>
        <p:nvSpPr>
          <p:cNvPr id="511" name="Cons"/>
          <p:cNvSpPr txBox="1"/>
          <p:nvPr/>
        </p:nvSpPr>
        <p:spPr>
          <a:xfrm>
            <a:off x="394969" y="3348037"/>
            <a:ext cx="1148399"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200" b="1">
                <a:latin typeface="+mj-lt"/>
                <a:ea typeface="+mj-ea"/>
                <a:cs typeface="+mj-cs"/>
                <a:sym typeface="Helvetica"/>
              </a:defRPr>
            </a:lvl1pPr>
          </a:lstStyle>
          <a:p>
            <a:r>
              <a:rPr dirty="0"/>
              <a:t>Cons</a:t>
            </a:r>
          </a:p>
        </p:txBody>
      </p:sp>
      <p:sp>
        <p:nvSpPr>
          <p:cNvPr id="512" name="What did you learn about the prototypes?  Do you refine any, synthesize them, or go in a new direction?"/>
          <p:cNvSpPr txBox="1">
            <a:spLocks noGrp="1"/>
          </p:cNvSpPr>
          <p:nvPr>
            <p:ph type="body" sz="quarter" idx="4294967295"/>
          </p:nvPr>
        </p:nvSpPr>
        <p:spPr>
          <a:xfrm>
            <a:off x="639762" y="4775200"/>
            <a:ext cx="7864476" cy="239713"/>
          </a:xfrm>
          <a:prstGeom prst="rect">
            <a:avLst/>
          </a:prstGeom>
        </p:spPr>
        <p:txBody>
          <a:bodyPr lIns="32749" tIns="32749" rIns="32749" bIns="32749" anchor="ctr">
            <a:normAutofit/>
          </a:bodyPr>
          <a:lstStyle>
            <a:lvl1pPr algn="ctr" defTabSz="365760">
              <a:spcBef>
                <a:spcPts val="1000"/>
              </a:spcBef>
              <a:defRPr sz="480" b="1">
                <a:latin typeface="+mj-lt"/>
                <a:ea typeface="+mj-ea"/>
                <a:cs typeface="+mj-cs"/>
                <a:sym typeface="Helvetica"/>
              </a:defRPr>
            </a:lvl1pPr>
          </a:lstStyle>
          <a:p>
            <a:r>
              <a:rPr dirty="0"/>
              <a:t>What did you learn about the prototypes?  Do you refine any, synthesize them, or go in a new direction?</a:t>
            </a:r>
          </a:p>
        </p:txBody>
      </p:sp>
      <p:graphicFrame>
        <p:nvGraphicFramePr>
          <p:cNvPr id="6" name="Table 1">
            <a:extLst>
              <a:ext uri="{FF2B5EF4-FFF2-40B4-BE49-F238E27FC236}">
                <a16:creationId xmlns:a16="http://schemas.microsoft.com/office/drawing/2014/main" id="{BCCC4603-6538-9A71-4A7D-B618B041F756}"/>
              </a:ext>
            </a:extLst>
          </p:cNvPr>
          <p:cNvGraphicFramePr/>
          <p:nvPr>
            <p:extLst>
              <p:ext uri="{D42A27DB-BD31-4B8C-83A1-F6EECF244321}">
                <p14:modId xmlns:p14="http://schemas.microsoft.com/office/powerpoint/2010/main" val="4087526739"/>
              </p:ext>
            </p:extLst>
          </p:nvPr>
        </p:nvGraphicFramePr>
        <p:xfrm>
          <a:off x="1138236" y="944563"/>
          <a:ext cx="3433763" cy="1627187"/>
        </p:xfrm>
        <a:graphic>
          <a:graphicData uri="http://schemas.openxmlformats.org/drawingml/2006/table">
            <a:tbl>
              <a:tblPr>
                <a:tableStyleId>{4C3C2611-4C71-4FC5-86AE-919BDF0F9419}</a:tableStyleId>
              </a:tblPr>
              <a:tblGrid>
                <a:gridCol w="3433763">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dirty="0"/>
                        <a:t>Clear representation of data and linked patients</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dirty="0"/>
                        <a:t>Video screen has clear functionality and effective data for physios</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dirty="0"/>
                        <a:t>Home page effectively displays historical exercise data</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dirty="0"/>
                        <a:t>Patients feel the usage of their data is clearly conveyed</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r>
                        <a:rPr lang="en-US" dirty="0"/>
                        <a:t>UI seems easy on the eye and easy to navigate</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6"/>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7"/>
                  </a:ext>
                </a:extLst>
              </a:tr>
            </a:tbl>
          </a:graphicData>
        </a:graphic>
      </p:graphicFrame>
      <p:graphicFrame>
        <p:nvGraphicFramePr>
          <p:cNvPr id="8" name="Table 1">
            <a:extLst>
              <a:ext uri="{FF2B5EF4-FFF2-40B4-BE49-F238E27FC236}">
                <a16:creationId xmlns:a16="http://schemas.microsoft.com/office/drawing/2014/main" id="{12BD0926-BBFE-28EC-B76D-27055D1AE644}"/>
              </a:ext>
            </a:extLst>
          </p:cNvPr>
          <p:cNvGraphicFramePr/>
          <p:nvPr>
            <p:extLst>
              <p:ext uri="{D42A27DB-BD31-4B8C-83A1-F6EECF244321}">
                <p14:modId xmlns:p14="http://schemas.microsoft.com/office/powerpoint/2010/main" val="4282122299"/>
              </p:ext>
            </p:extLst>
          </p:nvPr>
        </p:nvGraphicFramePr>
        <p:xfrm>
          <a:off x="1138236" y="2803684"/>
          <a:ext cx="3433763" cy="1596160"/>
        </p:xfrm>
        <a:graphic>
          <a:graphicData uri="http://schemas.openxmlformats.org/drawingml/2006/table">
            <a:tbl>
              <a:tblPr>
                <a:tableStyleId>{4C3C2611-4C71-4FC5-86AE-919BDF0F9419}</a:tableStyleId>
              </a:tblPr>
              <a:tblGrid>
                <a:gridCol w="3433763">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dirty="0"/>
                        <a:t>Perhaps not enough data shown to both sides; more information required from patients to present to physios.</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dirty="0"/>
                        <a:t>Data screen is capturing feels arbitrary to patients but important to physios.</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dirty="0"/>
                        <a:t>While data usage is clear, data collection is unclear from the prototype.</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dirty="0"/>
                        <a:t>Feedback is uncertain, will there be feedback, how, etc.</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r>
                        <a:rPr lang="en-US" dirty="0"/>
                        <a:t>Navigation is clear but perhaps not as easy as it could be. (Clear concept, roundabout process)</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bl>
          </a:graphicData>
        </a:graphic>
      </p:graphicFrame>
      <p:graphicFrame>
        <p:nvGraphicFramePr>
          <p:cNvPr id="9" name="Table 1">
            <a:extLst>
              <a:ext uri="{FF2B5EF4-FFF2-40B4-BE49-F238E27FC236}">
                <a16:creationId xmlns:a16="http://schemas.microsoft.com/office/drawing/2014/main" id="{7600B730-3B13-BE2F-04C3-654895F419BC}"/>
              </a:ext>
            </a:extLst>
          </p:cNvPr>
          <p:cNvGraphicFramePr/>
          <p:nvPr>
            <p:extLst>
              <p:ext uri="{D42A27DB-BD31-4B8C-83A1-F6EECF244321}">
                <p14:modId xmlns:p14="http://schemas.microsoft.com/office/powerpoint/2010/main" val="3884440407"/>
              </p:ext>
            </p:extLst>
          </p:nvPr>
        </p:nvGraphicFramePr>
        <p:xfrm>
          <a:off x="4956762" y="944563"/>
          <a:ext cx="3433763" cy="1409267"/>
        </p:xfrm>
        <a:graphic>
          <a:graphicData uri="http://schemas.openxmlformats.org/drawingml/2006/table">
            <a:tbl>
              <a:tblPr>
                <a:tableStyleId>{4C3C2611-4C71-4FC5-86AE-919BDF0F9419}</a:tableStyleId>
              </a:tblPr>
              <a:tblGrid>
                <a:gridCol w="3433763">
                  <a:extLst>
                    <a:ext uri="{9D8B030D-6E8A-4147-A177-3AD203B41FA5}">
                      <a16:colId xmlns:a16="http://schemas.microsoft.com/office/drawing/2014/main" val="20000"/>
                    </a:ext>
                  </a:extLst>
                </a:gridCol>
              </a:tblGrid>
              <a:tr h="203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800" b="1">
                          <a:latin typeface="+mj-lt"/>
                          <a:ea typeface="+mj-ea"/>
                          <a:cs typeface="+mj-cs"/>
                          <a:sym typeface="Helvetica"/>
                        </a:defRPr>
                      </a:pPr>
                      <a:r>
                        <a:rPr lang="en-US" sz="800" b="1" i="0" u="none" strike="noStrike" cap="none" spc="0" baseline="0" dirty="0">
                          <a:solidFill>
                            <a:srgbClr val="000000"/>
                          </a:solidFill>
                          <a:uFillTx/>
                          <a:latin typeface="+mn-lt"/>
                          <a:ea typeface="+mn-ea"/>
                          <a:cs typeface="+mn-cs"/>
                          <a:sym typeface="Helvetica"/>
                        </a:rPr>
                        <a:t>Clear representation of data and linked patients</a:t>
                      </a:r>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dirty="0"/>
                        <a:t>Comment usage on activities is clear and variable on entry</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dirty="0"/>
                        <a:t>Ability to modify exercise instructions to personalize to patients is excellent</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dirty="0"/>
                        <a:t>Clear visuals of all selected patient’s data for leaving feedback and reviewing previous feedback are helpful</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r>
                        <a:rPr lang="en-US" dirty="0"/>
                        <a:t>Navigation of the menus is simple.</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bl>
          </a:graphicData>
        </a:graphic>
      </p:graphicFrame>
      <p:graphicFrame>
        <p:nvGraphicFramePr>
          <p:cNvPr id="10" name="Table 1">
            <a:extLst>
              <a:ext uri="{FF2B5EF4-FFF2-40B4-BE49-F238E27FC236}">
                <a16:creationId xmlns:a16="http://schemas.microsoft.com/office/drawing/2014/main" id="{4014377A-089C-B16F-6772-CDB2A3FB8E78}"/>
              </a:ext>
            </a:extLst>
          </p:cNvPr>
          <p:cNvGraphicFramePr/>
          <p:nvPr>
            <p:extLst>
              <p:ext uri="{D42A27DB-BD31-4B8C-83A1-F6EECF244321}">
                <p14:modId xmlns:p14="http://schemas.microsoft.com/office/powerpoint/2010/main" val="2878145267"/>
              </p:ext>
            </p:extLst>
          </p:nvPr>
        </p:nvGraphicFramePr>
        <p:xfrm>
          <a:off x="4956762" y="2803684"/>
          <a:ext cx="3433763" cy="1705120"/>
        </p:xfrm>
        <a:graphic>
          <a:graphicData uri="http://schemas.openxmlformats.org/drawingml/2006/table">
            <a:tbl>
              <a:tblPr>
                <a:tableStyleId>{4C3C2611-4C71-4FC5-86AE-919BDF0F9419}</a:tableStyleId>
              </a:tblPr>
              <a:tblGrid>
                <a:gridCol w="3433763">
                  <a:extLst>
                    <a:ext uri="{9D8B030D-6E8A-4147-A177-3AD203B41FA5}">
                      <a16:colId xmlns:a16="http://schemas.microsoft.com/office/drawing/2014/main" val="20000"/>
                    </a:ext>
                  </a:extLst>
                </a:gridCol>
              </a:tblGrid>
              <a:tr h="203200">
                <a:tc>
                  <a:txBody>
                    <a:bodyPr/>
                    <a:lstStyle/>
                    <a:p>
                      <a:pPr algn="l">
                        <a:defRPr sz="800" b="1">
                          <a:latin typeface="+mj-lt"/>
                          <a:ea typeface="+mj-ea"/>
                          <a:cs typeface="+mj-cs"/>
                          <a:sym typeface="Helvetica"/>
                        </a:defRPr>
                      </a:pPr>
                      <a:r>
                        <a:rPr lang="en-US" dirty="0"/>
                        <a:t>Relies on entered data from users rather than gathered data.</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0"/>
                  </a:ext>
                </a:extLst>
              </a:tr>
              <a:tr h="203200">
                <a:tc>
                  <a:txBody>
                    <a:bodyPr/>
                    <a:lstStyle/>
                    <a:p>
                      <a:pPr algn="l">
                        <a:defRPr sz="800" b="1">
                          <a:latin typeface="+mj-lt"/>
                          <a:ea typeface="+mj-ea"/>
                          <a:cs typeface="+mj-cs"/>
                          <a:sym typeface="Helvetica"/>
                        </a:defRPr>
                      </a:pPr>
                      <a:r>
                        <a:rPr lang="en-US" dirty="0"/>
                        <a:t>Physios missing a sets/reps field(s) for setting expectations for patients.</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1"/>
                  </a:ext>
                </a:extLst>
              </a:tr>
              <a:tr h="203200">
                <a:tc>
                  <a:txBody>
                    <a:bodyPr/>
                    <a:lstStyle/>
                    <a:p>
                      <a:pPr algn="l">
                        <a:defRPr sz="800" b="1">
                          <a:latin typeface="+mj-lt"/>
                          <a:ea typeface="+mj-ea"/>
                          <a:cs typeface="+mj-cs"/>
                          <a:sym typeface="Helvetica"/>
                        </a:defRPr>
                      </a:pPr>
                      <a:r>
                        <a:rPr lang="en-US" dirty="0"/>
                        <a:t>While navigation is simple, it isn’t presented clearly.</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2"/>
                  </a:ext>
                </a:extLst>
              </a:tr>
              <a:tr h="203200">
                <a:tc>
                  <a:txBody>
                    <a:bodyPr/>
                    <a:lstStyle/>
                    <a:p>
                      <a:pPr algn="l">
                        <a:defRPr sz="800" b="1">
                          <a:latin typeface="+mj-lt"/>
                          <a:ea typeface="+mj-ea"/>
                          <a:cs typeface="+mj-cs"/>
                          <a:sym typeface="Helvetica"/>
                        </a:defRPr>
                      </a:pPr>
                      <a:r>
                        <a:rPr lang="en-US" dirty="0"/>
                        <a:t>No notifications to alert when one party or the other has left feedback.</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3"/>
                  </a:ext>
                </a:extLst>
              </a:tr>
              <a:tr h="204787">
                <a:tc>
                  <a:txBody>
                    <a:bodyPr/>
                    <a:lstStyle/>
                    <a:p>
                      <a:pPr algn="l">
                        <a:defRPr sz="800" b="1">
                          <a:latin typeface="+mj-lt"/>
                          <a:ea typeface="+mj-ea"/>
                          <a:cs typeface="+mj-cs"/>
                          <a:sym typeface="Helvetica"/>
                        </a:defRPr>
                      </a:pPr>
                      <a:r>
                        <a:rPr lang="en-US" dirty="0"/>
                        <a:t>Data that is useful for physios is hard to gather without proper tools by the patient.</a:t>
                      </a: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4"/>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EFEFEF"/>
                    </a:solidFill>
                  </a:tcPr>
                </a:tc>
                <a:extLst>
                  <a:ext uri="{0D108BD9-81ED-4DB2-BD59-A6C34878D82A}">
                    <a16:rowId xmlns:a16="http://schemas.microsoft.com/office/drawing/2014/main" val="10005"/>
                  </a:ext>
                </a:extLst>
              </a:tr>
              <a:tr h="203200">
                <a:tc>
                  <a:txBody>
                    <a:bodyPr/>
                    <a:lstStyle/>
                    <a:p>
                      <a:pPr algn="l">
                        <a:defRPr sz="800" b="1">
                          <a:latin typeface="+mj-lt"/>
                          <a:ea typeface="+mj-ea"/>
                          <a:cs typeface="+mj-cs"/>
                          <a:sym typeface="Helvetica"/>
                        </a:defRPr>
                      </a:pPr>
                      <a:endParaRPr dirty="0"/>
                    </a:p>
                  </a:txBody>
                  <a:tcPr marL="26800" marR="26800" marT="26800" marB="26800" horzOverflow="overflow">
                    <a:lnL>
                      <a:solidFill>
                        <a:srgbClr val="000000"/>
                      </a:solidFill>
                    </a:lnL>
                    <a:lnR>
                      <a:solidFill>
                        <a:srgbClr val="000000"/>
                      </a:solidFill>
                    </a:lnR>
                    <a:lnT>
                      <a:solidFill>
                        <a:srgbClr val="000000"/>
                      </a:solidFill>
                    </a:lnT>
                    <a:lnB>
                      <a:solidFill>
                        <a:srgbClr val="000000"/>
                      </a:solidFill>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Action Plan"/>
          <p:cNvSpPr txBox="1">
            <a:spLocks noGrp="1"/>
          </p:cNvSpPr>
          <p:nvPr>
            <p:ph type="title" idx="4294967295"/>
          </p:nvPr>
        </p:nvSpPr>
        <p:spPr>
          <a:xfrm>
            <a:off x="669925" y="133350"/>
            <a:ext cx="7804150" cy="1139825"/>
          </a:xfrm>
          <a:prstGeom prst="rect">
            <a:avLst/>
          </a:prstGeom>
        </p:spPr>
        <p:txBody>
          <a:bodyPr lIns="32749" tIns="32749" rIns="32749" bIns="32749" anchor="ctr">
            <a:normAutofit/>
          </a:bodyPr>
          <a:lstStyle>
            <a:lvl1pPr algn="ctr">
              <a:defRPr sz="5200" b="1">
                <a:latin typeface="+mj-lt"/>
                <a:ea typeface="+mj-ea"/>
                <a:cs typeface="+mj-cs"/>
                <a:sym typeface="Helvetica"/>
              </a:defRPr>
            </a:lvl1pPr>
          </a:lstStyle>
          <a:p>
            <a:r>
              <a:rPr dirty="0"/>
              <a:t>Action Plan</a:t>
            </a:r>
          </a:p>
        </p:txBody>
      </p:sp>
      <p:sp>
        <p:nvSpPr>
          <p:cNvPr id="517" name="Duplicate the Feedback and Action Plan slides for as many iterations as you can fit in."/>
          <p:cNvSpPr txBox="1">
            <a:spLocks noGrp="1"/>
          </p:cNvSpPr>
          <p:nvPr>
            <p:ph type="body" sz="quarter" idx="4294967295"/>
          </p:nvPr>
        </p:nvSpPr>
        <p:spPr>
          <a:xfrm>
            <a:off x="2048787" y="1054765"/>
            <a:ext cx="5361830" cy="436820"/>
          </a:xfrm>
          <a:prstGeom prst="rect">
            <a:avLst/>
          </a:prstGeom>
        </p:spPr>
        <p:txBody>
          <a:bodyPr lIns="32749" tIns="32749" rIns="32749" bIns="32749" anchor="ctr">
            <a:normAutofit fontScale="92500" lnSpcReduction="20000"/>
          </a:bodyPr>
          <a:lstStyle>
            <a:lvl1pPr>
              <a:spcBef>
                <a:spcPts val="2700"/>
              </a:spcBef>
              <a:defRPr sz="2100" b="1">
                <a:latin typeface="+mj-lt"/>
                <a:ea typeface="+mj-ea"/>
                <a:cs typeface="+mj-cs"/>
                <a:sym typeface="Helvetica"/>
              </a:defRPr>
            </a:lvl1pPr>
          </a:lstStyle>
          <a:p>
            <a:r>
              <a:rPr lang="en-CA" sz="1500" dirty="0"/>
              <a:t>How do we develop a new prototype, based on the feedback from prototypes 1 and 2 and our own pro/con analysis?</a:t>
            </a:r>
            <a:endParaRPr sz="1500" dirty="0"/>
          </a:p>
        </p:txBody>
      </p:sp>
      <p:graphicFrame>
        <p:nvGraphicFramePr>
          <p:cNvPr id="518" name="Table 1"/>
          <p:cNvGraphicFramePr/>
          <p:nvPr>
            <p:extLst>
              <p:ext uri="{D42A27DB-BD31-4B8C-83A1-F6EECF244321}">
                <p14:modId xmlns:p14="http://schemas.microsoft.com/office/powerpoint/2010/main" val="2029420741"/>
              </p:ext>
            </p:extLst>
          </p:nvPr>
        </p:nvGraphicFramePr>
        <p:xfrm>
          <a:off x="173273" y="1577610"/>
          <a:ext cx="8797454" cy="3474570"/>
        </p:xfrm>
        <a:graphic>
          <a:graphicData uri="http://schemas.openxmlformats.org/drawingml/2006/table">
            <a:tbl>
              <a:tblPr>
                <a:tableStyleId>{4C3C2611-4C71-4FC5-86AE-919BDF0F9419}</a:tableStyleId>
              </a:tblPr>
              <a:tblGrid>
                <a:gridCol w="4398727">
                  <a:extLst>
                    <a:ext uri="{9D8B030D-6E8A-4147-A177-3AD203B41FA5}">
                      <a16:colId xmlns:a16="http://schemas.microsoft.com/office/drawing/2014/main" val="20000"/>
                    </a:ext>
                  </a:extLst>
                </a:gridCol>
                <a:gridCol w="4398727">
                  <a:extLst>
                    <a:ext uri="{9D8B030D-6E8A-4147-A177-3AD203B41FA5}">
                      <a16:colId xmlns:a16="http://schemas.microsoft.com/office/drawing/2014/main" val="20001"/>
                    </a:ext>
                  </a:extLst>
                </a:gridCol>
              </a:tblGrid>
              <a:tr h="256069">
                <a:tc>
                  <a:txBody>
                    <a:bodyPr/>
                    <a:lstStyle/>
                    <a:p>
                      <a:pPr algn="l">
                        <a:defRPr sz="1800"/>
                      </a:pPr>
                      <a:r>
                        <a:rPr sz="1400" dirty="0"/>
                        <a:t>What they</a:t>
                      </a:r>
                      <a:r>
                        <a:rPr lang="en-CA" sz="1400" dirty="0"/>
                        <a:t>/we</a:t>
                      </a:r>
                      <a:r>
                        <a:rPr sz="1400" dirty="0"/>
                        <a:t> said:</a:t>
                      </a:r>
                    </a:p>
                  </a:txBody>
                  <a:tcPr marL="91425" marR="91425" marT="91425" marB="91425" horzOverflow="overflow">
                    <a:lnL>
                      <a:solidFill>
                        <a:srgbClr val="9E9E9E"/>
                      </a:solidFill>
                    </a:lnL>
                    <a:lnR>
                      <a:solidFill>
                        <a:srgbClr val="9E9E9E"/>
                      </a:solidFill>
                    </a:lnR>
                    <a:lnT>
                      <a:solidFill>
                        <a:srgbClr val="9E9E9E"/>
                      </a:solidFill>
                    </a:lnT>
                    <a:lnB>
                      <a:solidFill>
                        <a:srgbClr val="9E9E9E"/>
                      </a:solidFill>
                    </a:lnB>
                    <a:noFill/>
                  </a:tcPr>
                </a:tc>
                <a:tc>
                  <a:txBody>
                    <a:bodyPr/>
                    <a:lstStyle/>
                    <a:p>
                      <a:pPr algn="l">
                        <a:defRPr sz="1800"/>
                      </a:pPr>
                      <a:r>
                        <a:rPr sz="1400" dirty="0"/>
                        <a:t>How we will improve:</a:t>
                      </a:r>
                    </a:p>
                  </a:txBody>
                  <a:tcPr marL="91425" marR="91425" marT="91425" marB="91425" horzOverflow="overflow">
                    <a:lnL>
                      <a:solidFill>
                        <a:srgbClr val="9E9E9E"/>
                      </a:solidFill>
                    </a:lnL>
                    <a:lnR>
                      <a:solidFill>
                        <a:srgbClr val="9E9E9E"/>
                      </a:solidFill>
                    </a:lnR>
                    <a:lnT>
                      <a:solidFill>
                        <a:srgbClr val="9E9E9E"/>
                      </a:solidFill>
                    </a:lnT>
                    <a:lnB>
                      <a:solidFill>
                        <a:srgbClr val="9E9E9E"/>
                      </a:solidFill>
                    </a:lnB>
                    <a:noFill/>
                  </a:tcPr>
                </a:tc>
                <a:extLst>
                  <a:ext uri="{0D108BD9-81ED-4DB2-BD59-A6C34878D82A}">
                    <a16:rowId xmlns:a16="http://schemas.microsoft.com/office/drawing/2014/main" val="10000"/>
                  </a:ext>
                </a:extLst>
              </a:tr>
              <a:tr h="330338">
                <a:tc>
                  <a:txBody>
                    <a:bodyPr/>
                    <a:lstStyle/>
                    <a:p>
                      <a:pPr algn="l">
                        <a:defRPr sz="1400"/>
                      </a:pPr>
                      <a:r>
                        <a:rPr lang="en-US" dirty="0"/>
                        <a:t>Feedback is uncertain AND relies on entered data.</a:t>
                      </a:r>
                      <a:endParaRPr dirty="0"/>
                    </a:p>
                  </a:txBody>
                  <a:tcPr marL="91425" marR="91425" marT="91425" marB="91425" horzOverflow="overflow">
                    <a:lnL>
                      <a:solidFill>
                        <a:srgbClr val="9E9E9E"/>
                      </a:solidFill>
                    </a:lnL>
                    <a:lnR w="9525" cap="flat" cmpd="sng" algn="ctr">
                      <a:solidFill>
                        <a:srgbClr val="9E9E9E"/>
                      </a:solidFill>
                      <a:prstDash val="solid"/>
                      <a:round/>
                      <a:headEnd type="none" w="med" len="med"/>
                      <a:tailEnd type="none" w="med" len="med"/>
                    </a:lnR>
                    <a:lnT>
                      <a:solidFill>
                        <a:srgbClr val="9E9E9E"/>
                      </a:solidFill>
                    </a:lnT>
                    <a:lnB w="9525" cap="flat" cmpd="sng" algn="ctr">
                      <a:solidFill>
                        <a:srgbClr val="9E9E9E"/>
                      </a:solidFill>
                      <a:prstDash val="solid"/>
                      <a:round/>
                      <a:headEnd type="none" w="med" len="med"/>
                      <a:tailEnd type="none" w="med" len="med"/>
                    </a:lnB>
                    <a:noFill/>
                  </a:tcPr>
                </a:tc>
                <a:tc>
                  <a:txBody>
                    <a:bodyPr/>
                    <a:lstStyle/>
                    <a:p>
                      <a:pPr algn="l">
                        <a:defRPr sz="1400"/>
                      </a:pPr>
                      <a:r>
                        <a:rPr lang="en-US" dirty="0"/>
                        <a:t>Combine the approaches; make the communication system and the recording system features of the same system.</a:t>
                      </a:r>
                      <a:endParaRPr dirty="0"/>
                    </a:p>
                  </a:txBody>
                  <a:tcPr marL="91425" marR="91425" marT="91425" marB="91425" horzOverflow="overflow">
                    <a:lnL w="9525" cap="flat" cmpd="sng" algn="ctr">
                      <a:solidFill>
                        <a:srgbClr val="9E9E9E"/>
                      </a:solidFill>
                      <a:prstDash val="solid"/>
                      <a:round/>
                      <a:headEnd type="none" w="med" len="med"/>
                      <a:tailEnd type="none" w="med" len="med"/>
                    </a:lnL>
                    <a:lnR>
                      <a:solidFill>
                        <a:srgbClr val="9E9E9E"/>
                      </a:solidFill>
                    </a:lnR>
                    <a:lnT>
                      <a:solidFill>
                        <a:srgbClr val="9E9E9E"/>
                      </a:solidFill>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271266805"/>
                  </a:ext>
                </a:extLst>
              </a:tr>
              <a:tr h="330338">
                <a:tc>
                  <a:txBody>
                    <a:bodyPr/>
                    <a:lstStyle/>
                    <a:p>
                      <a:pPr algn="l">
                        <a:defRPr sz="1400"/>
                      </a:pPr>
                      <a:r>
                        <a:rPr lang="en-US" dirty="0"/>
                        <a:t>Not enough data shown AND no gathered data.</a:t>
                      </a:r>
                      <a:endParaRPr dirty="0"/>
                    </a:p>
                  </a:txBody>
                  <a:tcPr marL="91425" marR="91425" marT="91425" marB="91425" horzOverflow="overflow">
                    <a:lnL>
                      <a:solidFill>
                        <a:srgbClr val="9E9E9E"/>
                      </a:solidFill>
                    </a:lnL>
                    <a:lnR w="9525" cap="flat" cmpd="sng" algn="ctr">
                      <a:solidFill>
                        <a:srgbClr val="9E9E9E"/>
                      </a:solidFill>
                      <a:prstDash val="solid"/>
                      <a:round/>
                      <a:headEnd type="none" w="med" len="med"/>
                      <a:tailEnd type="none" w="med" len="med"/>
                    </a:lnR>
                    <a:lnT>
                      <a:solidFill>
                        <a:srgbClr val="9E9E9E"/>
                      </a:solidFill>
                    </a:lnT>
                    <a:lnB w="9525" cap="flat" cmpd="sng" algn="ctr">
                      <a:solidFill>
                        <a:srgbClr val="9E9E9E"/>
                      </a:solidFill>
                      <a:prstDash val="solid"/>
                      <a:round/>
                      <a:headEnd type="none" w="med" len="med"/>
                      <a:tailEnd type="none" w="med" len="med"/>
                    </a:lnB>
                    <a:noFill/>
                  </a:tcPr>
                </a:tc>
                <a:tc>
                  <a:txBody>
                    <a:bodyPr/>
                    <a:lstStyle/>
                    <a:p>
                      <a:pPr algn="l">
                        <a:defRPr sz="1400"/>
                      </a:pPr>
                      <a:r>
                        <a:rPr lang="en-US" dirty="0"/>
                        <a:t>Include more data derived from the recording as well as some user entered data on select fields.</a:t>
                      </a:r>
                      <a:endParaRPr dirty="0"/>
                    </a:p>
                  </a:txBody>
                  <a:tcPr marL="91425" marR="91425" marT="91425" marB="91425" horzOverflow="overflow">
                    <a:lnL w="9525" cap="flat" cmpd="sng" algn="ctr">
                      <a:solidFill>
                        <a:srgbClr val="9E9E9E"/>
                      </a:solidFill>
                      <a:prstDash val="solid"/>
                      <a:round/>
                      <a:headEnd type="none" w="med" len="med"/>
                      <a:tailEnd type="none" w="med" len="med"/>
                    </a:lnL>
                    <a:lnR>
                      <a:solidFill>
                        <a:srgbClr val="9E9E9E"/>
                      </a:solidFill>
                    </a:lnR>
                    <a:lnT>
                      <a:solidFill>
                        <a:srgbClr val="9E9E9E"/>
                      </a:solidFill>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27826322"/>
                  </a:ext>
                </a:extLst>
              </a:tr>
              <a:tr h="330338">
                <a:tc>
                  <a:txBody>
                    <a:bodyPr/>
                    <a:lstStyle/>
                    <a:p>
                      <a:pPr algn="l">
                        <a:defRPr sz="1400"/>
                      </a:pPr>
                      <a:r>
                        <a:rPr lang="en-US" dirty="0"/>
                        <a:t>Data feels arbitrary AND not enough data.</a:t>
                      </a:r>
                      <a:endParaRPr dirty="0"/>
                    </a:p>
                  </a:txBody>
                  <a:tcPr marL="91425" marR="91425" marT="91425" marB="91425" horzOverflow="overflow">
                    <a:lnL>
                      <a:solidFill>
                        <a:srgbClr val="9E9E9E"/>
                      </a:solidFill>
                    </a:lnL>
                    <a:lnR>
                      <a:solidFill>
                        <a:srgbClr val="9E9E9E"/>
                      </a:solidFill>
                    </a:lnR>
                    <a:lnT>
                      <a:solidFill>
                        <a:srgbClr val="9E9E9E"/>
                      </a:solidFill>
                    </a:lnT>
                    <a:lnB>
                      <a:solidFill>
                        <a:srgbClr val="9E9E9E"/>
                      </a:solidFill>
                    </a:lnB>
                    <a:noFill/>
                  </a:tcPr>
                </a:tc>
                <a:tc>
                  <a:txBody>
                    <a:bodyPr/>
                    <a:lstStyle/>
                    <a:p>
                      <a:pPr algn="l">
                        <a:defRPr sz="1400"/>
                      </a:pPr>
                      <a:r>
                        <a:rPr lang="en-US" dirty="0"/>
                        <a:t>Increase data available on both screens to increase clarity between parties, increase visibility of general information for patients.</a:t>
                      </a:r>
                      <a:endParaRPr dirty="0"/>
                    </a:p>
                  </a:txBody>
                  <a:tcPr marL="91425" marR="91425" marT="91425" marB="91425" horzOverflow="overflow">
                    <a:lnL>
                      <a:solidFill>
                        <a:srgbClr val="9E9E9E"/>
                      </a:solidFill>
                    </a:lnL>
                    <a:lnR>
                      <a:solidFill>
                        <a:srgbClr val="9E9E9E"/>
                      </a:solidFill>
                    </a:lnR>
                    <a:lnT>
                      <a:solidFill>
                        <a:srgbClr val="9E9E9E"/>
                      </a:solidFill>
                    </a:lnT>
                    <a:lnB>
                      <a:solidFill>
                        <a:srgbClr val="9E9E9E"/>
                      </a:solidFill>
                    </a:lnB>
                    <a:noFill/>
                  </a:tcPr>
                </a:tc>
                <a:extLst>
                  <a:ext uri="{0D108BD9-81ED-4DB2-BD59-A6C34878D82A}">
                    <a16:rowId xmlns:a16="http://schemas.microsoft.com/office/drawing/2014/main" val="10001"/>
                  </a:ext>
                </a:extLst>
              </a:tr>
              <a:tr h="330892">
                <a:tc>
                  <a:txBody>
                    <a:bodyPr/>
                    <a:lstStyle/>
                    <a:p>
                      <a:pPr algn="l">
                        <a:defRPr sz="1400"/>
                      </a:pPr>
                      <a:r>
                        <a:rPr lang="en-US" dirty="0"/>
                        <a:t>Navigation unclear.</a:t>
                      </a:r>
                      <a:endParaRPr dirty="0"/>
                    </a:p>
                  </a:txBody>
                  <a:tcPr marL="91425" marR="91425" marT="91425" marB="91425" horzOverflow="overflow">
                    <a:lnL>
                      <a:solidFill>
                        <a:srgbClr val="9E9E9E"/>
                      </a:solidFill>
                    </a:lnL>
                    <a:lnR>
                      <a:solidFill>
                        <a:srgbClr val="9E9E9E"/>
                      </a:solidFill>
                    </a:lnR>
                    <a:lnT>
                      <a:solidFill>
                        <a:srgbClr val="9E9E9E"/>
                      </a:solidFill>
                    </a:lnT>
                    <a:lnB>
                      <a:solidFill>
                        <a:srgbClr val="9E9E9E"/>
                      </a:solidFill>
                    </a:lnB>
                    <a:noFill/>
                  </a:tcPr>
                </a:tc>
                <a:tc>
                  <a:txBody>
                    <a:bodyPr/>
                    <a:lstStyle/>
                    <a:p>
                      <a:pPr algn="l">
                        <a:defRPr sz="1400"/>
                      </a:pPr>
                      <a:r>
                        <a:rPr lang="en-US" dirty="0"/>
                        <a:t>Increased helper/guider text, possibly a tutorial to introduce navigation options. Banner along the bottom with options?</a:t>
                      </a:r>
                      <a:endParaRPr dirty="0"/>
                    </a:p>
                  </a:txBody>
                  <a:tcPr marL="91425" marR="91425" marT="91425" marB="91425" horzOverflow="overflow">
                    <a:lnL>
                      <a:solidFill>
                        <a:srgbClr val="9E9E9E"/>
                      </a:solidFill>
                    </a:lnL>
                    <a:lnR>
                      <a:solidFill>
                        <a:srgbClr val="9E9E9E"/>
                      </a:solidFill>
                    </a:lnR>
                    <a:lnT>
                      <a:solidFill>
                        <a:srgbClr val="9E9E9E"/>
                      </a:solidFill>
                    </a:lnT>
                    <a:lnB>
                      <a:solidFill>
                        <a:srgbClr val="9E9E9E"/>
                      </a:solidFill>
                    </a:lnB>
                    <a:no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5DD3B-D2E5-0DFD-CE86-3ED996FBA0E7}"/>
              </a:ext>
            </a:extLst>
          </p:cNvPr>
          <p:cNvSpPr txBox="1">
            <a:spLocks/>
          </p:cNvSpPr>
          <p:nvPr/>
        </p:nvSpPr>
        <p:spPr>
          <a:xfrm>
            <a:off x="311150" y="444500"/>
            <a:ext cx="8521700" cy="573088"/>
          </a:xfrm>
          <a:prstGeom prst="rect">
            <a:avLst/>
          </a:prstGeom>
        </p:spPr>
        <p:txBody>
          <a:bodyPr>
            <a:normAutofit fontScale="97500"/>
          </a:bodyPr>
          <a:lst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9pPr>
          </a:lstStyle>
          <a:p>
            <a:pPr hangingPunct="1"/>
            <a:r>
              <a:rPr lang="en-CA" sz="3200" dirty="0"/>
              <a:t>Reflection</a:t>
            </a:r>
          </a:p>
        </p:txBody>
      </p:sp>
      <p:sp>
        <p:nvSpPr>
          <p:cNvPr id="3" name="Text Placeholder 2">
            <a:extLst>
              <a:ext uri="{FF2B5EF4-FFF2-40B4-BE49-F238E27FC236}">
                <a16:creationId xmlns:a16="http://schemas.microsoft.com/office/drawing/2014/main" id="{F3BEF651-F18A-FEF4-2C57-23A5C9FF6A99}"/>
              </a:ext>
            </a:extLst>
          </p:cNvPr>
          <p:cNvSpPr txBox="1">
            <a:spLocks/>
          </p:cNvSpPr>
          <p:nvPr/>
        </p:nvSpPr>
        <p:spPr>
          <a:xfrm>
            <a:off x="311150" y="1152525"/>
            <a:ext cx="8521700" cy="3416300"/>
          </a:xfrm>
          <a:prstGeom prst="rect">
            <a:avLst/>
          </a:prstGeom>
        </p:spPr>
        <p:txBody>
          <a:bodyPr anchor="t"/>
          <a:lst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5pPr>
            <a:lvl6pPr marL="0" marR="0" indent="4572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6pPr>
            <a:lvl7pPr marL="0" marR="0" indent="9144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7pPr>
            <a:lvl8pPr marL="0" marR="0" indent="13716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8pPr>
            <a:lvl9pPr marL="0" marR="0" indent="1828800" algn="l" defTabSz="914400" rtl="0" latinLnBrk="0">
              <a:lnSpc>
                <a:spcPct val="100000"/>
              </a:lnSpc>
              <a:spcBef>
                <a:spcPts val="0"/>
              </a:spcBef>
              <a:spcAft>
                <a:spcPts val="0"/>
              </a:spcAft>
              <a:buClrTx/>
              <a:buSzTx/>
              <a:buFontTx/>
              <a:buNone/>
              <a:tabLst/>
              <a:defRPr sz="1400" b="0" i="0" u="none" strike="noStrike" cap="none" spc="0" baseline="0">
                <a:solidFill>
                  <a:srgbClr val="000000"/>
                </a:solidFill>
                <a:uFillTx/>
                <a:latin typeface="+mn-lt"/>
                <a:ea typeface="+mn-ea"/>
                <a:cs typeface="+mn-cs"/>
                <a:sym typeface="Arial"/>
              </a:defRPr>
            </a:lvl9pPr>
          </a:lstStyle>
          <a:p>
            <a:pPr hangingPunct="1"/>
            <a:r>
              <a:rPr lang="en-CA" dirty="0"/>
              <a:t>Reflect on the following questions: </a:t>
            </a:r>
          </a:p>
          <a:p>
            <a:pPr marL="342900" indent="-342900" hangingPunct="1">
              <a:buFont typeface="+mj-lt"/>
              <a:buAutoNum type="arabicPeriod"/>
            </a:pPr>
            <a:r>
              <a:rPr lang="en-CA" sz="1200" dirty="0"/>
              <a:t>What parts of this process were difficult? How did you overcome these barriers?</a:t>
            </a:r>
          </a:p>
          <a:p>
            <a:pPr lvl="1" hangingPunct="1"/>
            <a:r>
              <a:rPr lang="en-CA" dirty="0"/>
              <a:t>	</a:t>
            </a:r>
            <a:r>
              <a:rPr lang="en-CA" sz="1000" dirty="0"/>
              <a:t>User testing/participation as well as ideation was difficult when there was already an image of the system in our minds. To overcome this, we tried to write down our approach and throw it away, completely disregard it when talking to users or thinking of alternatives. Perhaps this way we could build on their criticism to not only fix the issues they pointed out but find issues of our own.</a:t>
            </a:r>
          </a:p>
          <a:p>
            <a:pPr lvl="1" hangingPunct="1"/>
            <a:r>
              <a:rPr lang="en-CA" sz="1000" dirty="0"/>
              <a:t>	Additionally, the prototyping was difficult to make unique compared to each other with that image already made. We had an idea of what the advisors were interested in seeing and so had set on the path to making that already. It did bring out clarity that we weren’t all imagining the same system which made us communicate better as a team and even use those different mental images as alternatives and prototype differences.</a:t>
            </a:r>
          </a:p>
          <a:p>
            <a:pPr lvl="1" hangingPunct="1"/>
            <a:endParaRPr lang="en-CA" sz="1000" dirty="0"/>
          </a:p>
          <a:p>
            <a:pPr marL="342900" indent="-342900" hangingPunct="1">
              <a:buFont typeface="+mj-lt"/>
              <a:buAutoNum type="arabicPeriod"/>
            </a:pPr>
            <a:r>
              <a:rPr lang="en-CA" sz="1200" dirty="0"/>
              <a:t>How did this process help you understand your user and problem better?</a:t>
            </a:r>
          </a:p>
          <a:p>
            <a:pPr lvl="1" hangingPunct="1"/>
            <a:r>
              <a:rPr lang="en-CA" dirty="0"/>
              <a:t>	</a:t>
            </a:r>
            <a:r>
              <a:rPr lang="en-CA" sz="1000" dirty="0"/>
              <a:t>There was a clear difference between average user knowledge, expert domain knowledge, and our implied knowledge from working on and researching the problem. Not to mention the implied knowledge of operating the prototypes because we made them; of course, we understand how the navigation is supposed to work when we had the intention first.</a:t>
            </a:r>
          </a:p>
          <a:p>
            <a:pPr lvl="1" hangingPunct="1"/>
            <a:r>
              <a:rPr lang="en-CA" sz="1000" dirty="0"/>
              <a:t>	It was also interesting to see the care the physio held for improvement on the patient’s side; a real interest and care for someone’s recovery. During both prototype conversations we were able to find many different things that appealed to the pt that weren’t currently implemented in our prototypes (such as sets and reps) which they felt would increase the efficacy of their feedback and thus the rate of recovery.</a:t>
            </a:r>
          </a:p>
          <a:p>
            <a:pPr lvl="1" hangingPunct="1"/>
            <a:endParaRPr lang="en-CA" sz="1000" dirty="0"/>
          </a:p>
          <a:p>
            <a:pPr marL="342900" indent="-342900" hangingPunct="1">
              <a:buFont typeface="+mj-lt"/>
              <a:buAutoNum type="arabicPeriod"/>
            </a:pPr>
            <a:r>
              <a:rPr lang="en-CA" sz="1200" dirty="0"/>
              <a:t>How will you use what you’ve learned in your future career as a software engineer?</a:t>
            </a:r>
          </a:p>
          <a:p>
            <a:pPr lvl="1" hangingPunct="1"/>
            <a:r>
              <a:rPr lang="en-CA" sz="1000" dirty="0"/>
              <a:t>	Clearly forming interpretations of a client (or advisor’s) ideas early is dangerous for limiting ideation and misdirecting prototyping and questioning. Trying to remain neutral about any direction until the stakeholders have identified clear needs and wants, and even then, until they have viewed prototypes and made additional requests. From this exercise, it really seems the better software engineer provides the widest possible range of solutions and allows the stakeholders to narrow in on the one that best solves their problem, rather than selecting one themselves.</a:t>
            </a:r>
          </a:p>
        </p:txBody>
      </p:sp>
    </p:spTree>
    <p:extLst>
      <p:ext uri="{BB962C8B-B14F-4D97-AF65-F5344CB8AC3E}">
        <p14:creationId xmlns:p14="http://schemas.microsoft.com/office/powerpoint/2010/main" val="3079530353"/>
      </p:ext>
    </p:extLst>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9BBB59"/>
      </a:accent3>
      <a:accent4>
        <a:srgbClr val="8064A2"/>
      </a:accent4>
      <a:accent5>
        <a:srgbClr val="4BACC6"/>
      </a:accent5>
      <a:accent6>
        <a:srgbClr val="F79646"/>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9BBB59"/>
      </a:accent3>
      <a:accent4>
        <a:srgbClr val="8064A2"/>
      </a:accent4>
      <a:accent5>
        <a:srgbClr val="4BACC6"/>
      </a:accent5>
      <a:accent6>
        <a:srgbClr val="F79646"/>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{2EA7E204-F4A8-0E49-8A27-705607530FA0}tf10001121_mac</Template>
  <TotalTime>15459</TotalTime>
  <Words>5584</Words>
  <Application>Microsoft Office PowerPoint</Application>
  <PresentationFormat>On-screen Show (16:9)</PresentationFormat>
  <Paragraphs>458</Paragraphs>
  <Slides>26</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Helvetica</vt:lpstr>
      <vt:lpstr>Helvetica Light</vt:lpstr>
      <vt:lpstr>Open Sans</vt:lpstr>
      <vt:lpstr>Simple Light</vt:lpstr>
      <vt:lpstr>DT Slide Worksheets</vt:lpstr>
      <vt:lpstr>PowerPoint Presentation</vt:lpstr>
      <vt:lpstr>Prepare for Interview</vt:lpstr>
      <vt:lpstr>Understand Our User</vt:lpstr>
      <vt:lpstr>Intro Script</vt:lpstr>
      <vt:lpstr>Respect Privacy</vt:lpstr>
      <vt:lpstr>Interview Questions</vt:lpstr>
      <vt:lpstr>PowerPoint Presentation</vt:lpstr>
      <vt:lpstr>PowerPoint Presentation</vt:lpstr>
      <vt:lpstr>PowerPoint Presentation</vt:lpstr>
      <vt:lpstr>Revised Questions</vt:lpstr>
      <vt:lpstr>Interview Transcript</vt:lpstr>
      <vt:lpstr>PowerPoint Presentation</vt:lpstr>
      <vt:lpstr>PowerPoint Presentation</vt:lpstr>
      <vt:lpstr>PowerPoint Presentation</vt:lpstr>
      <vt:lpstr>PowerPoint Presentation</vt:lpstr>
      <vt:lpstr>Discussion Points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Action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 Slide Worksheets</dc:title>
  <cp:lastModifiedBy>Cieran Diebolt</cp:lastModifiedBy>
  <cp:revision>13</cp:revision>
  <dcterms:modified xsi:type="dcterms:W3CDTF">2026-04-07T00:20:15Z</dcterms:modified>
</cp:coreProperties>
</file>